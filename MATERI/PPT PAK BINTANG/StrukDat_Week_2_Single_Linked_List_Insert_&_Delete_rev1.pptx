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57" r:id="rId2"/>
  </p:sldMasterIdLst>
  <p:notesMasterIdLst>
    <p:notesMasterId r:id="rId83"/>
  </p:notesMasterIdLst>
  <p:handoutMasterIdLst>
    <p:handoutMasterId r:id="rId84"/>
  </p:handoutMasterIdLst>
  <p:sldIdLst>
    <p:sldId id="284" r:id="rId3"/>
    <p:sldId id="473" r:id="rId4"/>
    <p:sldId id="521" r:id="rId5"/>
    <p:sldId id="522" r:id="rId6"/>
    <p:sldId id="523" r:id="rId7"/>
    <p:sldId id="734" r:id="rId8"/>
    <p:sldId id="735" r:id="rId9"/>
    <p:sldId id="736" r:id="rId10"/>
    <p:sldId id="737" r:id="rId11"/>
    <p:sldId id="738" r:id="rId12"/>
    <p:sldId id="739" r:id="rId13"/>
    <p:sldId id="740" r:id="rId14"/>
    <p:sldId id="741" r:id="rId15"/>
    <p:sldId id="742" r:id="rId16"/>
    <p:sldId id="743" r:id="rId17"/>
    <p:sldId id="744" r:id="rId18"/>
    <p:sldId id="577" r:id="rId19"/>
    <p:sldId id="748" r:id="rId20"/>
    <p:sldId id="749" r:id="rId21"/>
    <p:sldId id="750" r:id="rId22"/>
    <p:sldId id="751" r:id="rId23"/>
    <p:sldId id="752" r:id="rId24"/>
    <p:sldId id="753" r:id="rId25"/>
    <p:sldId id="754" r:id="rId26"/>
    <p:sldId id="806" r:id="rId27"/>
    <p:sldId id="807" r:id="rId28"/>
    <p:sldId id="525" r:id="rId29"/>
    <p:sldId id="574" r:id="rId30"/>
    <p:sldId id="575" r:id="rId31"/>
    <p:sldId id="755" r:id="rId32"/>
    <p:sldId id="756" r:id="rId33"/>
    <p:sldId id="808" r:id="rId34"/>
    <p:sldId id="809" r:id="rId35"/>
    <p:sldId id="810" r:id="rId36"/>
    <p:sldId id="576" r:id="rId37"/>
    <p:sldId id="811" r:id="rId38"/>
    <p:sldId id="540" r:id="rId39"/>
    <p:sldId id="541" r:id="rId40"/>
    <p:sldId id="812" r:id="rId41"/>
    <p:sldId id="813" r:id="rId42"/>
    <p:sldId id="542" r:id="rId43"/>
    <p:sldId id="587" r:id="rId44"/>
    <p:sldId id="624" r:id="rId45"/>
    <p:sldId id="625" r:id="rId46"/>
    <p:sldId id="626" r:id="rId47"/>
    <p:sldId id="622" r:id="rId48"/>
    <p:sldId id="686" r:id="rId49"/>
    <p:sldId id="588" r:id="rId50"/>
    <p:sldId id="590" r:id="rId51"/>
    <p:sldId id="591" r:id="rId52"/>
    <p:sldId id="628" r:id="rId53"/>
    <p:sldId id="592" r:id="rId54"/>
    <p:sldId id="593" r:id="rId55"/>
    <p:sldId id="654" r:id="rId56"/>
    <p:sldId id="649" r:id="rId57"/>
    <p:sldId id="650" r:id="rId58"/>
    <p:sldId id="632" r:id="rId59"/>
    <p:sldId id="594" r:id="rId60"/>
    <p:sldId id="652" r:id="rId61"/>
    <p:sldId id="653" r:id="rId62"/>
    <p:sldId id="596" r:id="rId63"/>
    <p:sldId id="597" r:id="rId64"/>
    <p:sldId id="598" r:id="rId65"/>
    <p:sldId id="671" r:id="rId66"/>
    <p:sldId id="672" r:id="rId67"/>
    <p:sldId id="673" r:id="rId68"/>
    <p:sldId id="600" r:id="rId69"/>
    <p:sldId id="675" r:id="rId70"/>
    <p:sldId id="676" r:id="rId71"/>
    <p:sldId id="677" r:id="rId72"/>
    <p:sldId id="678" r:id="rId73"/>
    <p:sldId id="601" r:id="rId74"/>
    <p:sldId id="602" r:id="rId75"/>
    <p:sldId id="680" r:id="rId76"/>
    <p:sldId id="682" r:id="rId77"/>
    <p:sldId id="655" r:id="rId78"/>
    <p:sldId id="689" r:id="rId79"/>
    <p:sldId id="688" r:id="rId80"/>
    <p:sldId id="683" r:id="rId81"/>
    <p:sldId id="258" r:id="rId82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92">
          <p15:clr>
            <a:srgbClr val="A4A3A4"/>
          </p15:clr>
        </p15:guide>
        <p15:guide id="2" pos="28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3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5E5996-E019-4889-8A02-A59E26952637}" v="2" dt="2025-10-28T04:47:51.289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22" autoAdjust="0"/>
  </p:normalViewPr>
  <p:slideViewPr>
    <p:cSldViewPr snapToGrid="0" snapToObjects="1">
      <p:cViewPr varScale="1">
        <p:scale>
          <a:sx n="74" d="100"/>
          <a:sy n="74" d="100"/>
        </p:scale>
        <p:origin x="1458" y="36"/>
      </p:cViewPr>
      <p:guideLst>
        <p:guide orient="horz" pos="2192"/>
        <p:guide pos="285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56" d="100"/>
          <a:sy n="56" d="100"/>
        </p:scale>
        <p:origin x="-2886" y="-84"/>
      </p:cViewPr>
      <p:guideLst>
        <p:guide orient="horz" pos="2923"/>
        <p:guide pos="213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handoutMaster" Target="handoutMasters/handoutMaster1.xml"/><Relationship Id="rId89" Type="http://schemas.microsoft.com/office/2016/11/relationships/changesInfo" Target="changesInfos/changesInfo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microsoft.com/office/2015/10/relationships/revisionInfo" Target="revisionInfo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theme" Target="theme/theme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ren Aulia" userId="f676561e8b28f7b7" providerId="LiveId" clId="{C4C87C6A-6CCC-45E6-A36D-5A2C15E07BA0}"/>
    <pc:docChg chg="modSld delMainMaster modMainMaster">
      <pc:chgData name="Sheren Aulia" userId="f676561e8b28f7b7" providerId="LiveId" clId="{C4C87C6A-6CCC-45E6-A36D-5A2C15E07BA0}" dt="2025-10-28T04:48:00.143" v="4"/>
      <pc:docMkLst>
        <pc:docMk/>
      </pc:docMkLst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473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473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473"/>
            <ac:spMk id="4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525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25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25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25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25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540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40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40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40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40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541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41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41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41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41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542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42"/>
            <ac:spMk id="2" creationId="{00000000-0000-0000-0000-000000000000}"/>
          </ac:spMkLst>
        </pc:spChg>
        <pc:picChg chg="mod ord">
          <ac:chgData name="Sheren Aulia" userId="f676561e8b28f7b7" providerId="LiveId" clId="{C4C87C6A-6CCC-45E6-A36D-5A2C15E07BA0}" dt="2025-10-28T04:48:00.143" v="4"/>
          <ac:picMkLst>
            <pc:docMk/>
            <pc:sldMk cId="0" sldId="542"/>
            <ac:picMk id="5" creationId="{00000000-0000-0000-0000-000000000000}"/>
          </ac:picMkLst>
        </pc:pic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574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74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74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74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74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74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575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75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75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75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75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75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576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76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76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76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76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577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77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77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77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77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77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587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87"/>
            <ac:spMk id="2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588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88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88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88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88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88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590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0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0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0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0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0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591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1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1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1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1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592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2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2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2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2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2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593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3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3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3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3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594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4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4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4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4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4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596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6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6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6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6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6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597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7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7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7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7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7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598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8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8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8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598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00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00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00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00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00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01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01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01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01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01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01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02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02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02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02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02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22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22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22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22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22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22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24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24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24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24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24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24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25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25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25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25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25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25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26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26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26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26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26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26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28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28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28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28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28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32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32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32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32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32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49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49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49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49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49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50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50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50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50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50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52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52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52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52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52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53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53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53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53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53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54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54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54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54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54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55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55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55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55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55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55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71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1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1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1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1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72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2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2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2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2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73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3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3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3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3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3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75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5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5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5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5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76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6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6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6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6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77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7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7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7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7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78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8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8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8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78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80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80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80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80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80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82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82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82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82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82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83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83"/>
            <ac:spMk id="2" creationId="{00000000-0000-0000-0000-000000000000}"/>
          </ac:spMkLst>
        </pc:spChg>
        <pc:picChg chg="mod ord">
          <ac:chgData name="Sheren Aulia" userId="f676561e8b28f7b7" providerId="LiveId" clId="{C4C87C6A-6CCC-45E6-A36D-5A2C15E07BA0}" dt="2025-10-28T04:48:00.143" v="4"/>
          <ac:picMkLst>
            <pc:docMk/>
            <pc:sldMk cId="0" sldId="683"/>
            <ac:picMk id="5" creationId="{00000000-0000-0000-0000-000000000000}"/>
          </ac:picMkLst>
        </pc:pic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86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86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86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86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86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86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88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88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88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88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88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88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689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89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89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89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89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689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748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48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48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48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48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749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49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49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49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49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49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750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0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0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0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0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0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751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1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1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1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1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1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752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2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2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2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2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2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753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3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3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3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3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3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754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4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4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4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4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4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755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5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5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5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5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5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756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6"/>
            <ac:spMk id="2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6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6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6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756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806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06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06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06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06"/>
            <ac:spMk id="6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06"/>
            <ac:spMk id="13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807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07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07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07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07"/>
            <ac:spMk id="6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07"/>
            <ac:spMk id="13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808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08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08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08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08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809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09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09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09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09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810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10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10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10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10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811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11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11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11"/>
            <ac:spMk id="5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11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812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12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12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12"/>
            <ac:spMk id="6" creationId="{00000000-0000-0000-0000-000000000000}"/>
          </ac:spMkLst>
        </pc:spChg>
      </pc:sldChg>
      <pc:sldChg chg="modSp mod modClrScheme chgLayout">
        <pc:chgData name="Sheren Aulia" userId="f676561e8b28f7b7" providerId="LiveId" clId="{C4C87C6A-6CCC-45E6-A36D-5A2C15E07BA0}" dt="2025-10-28T04:48:00.143" v="4"/>
        <pc:sldMkLst>
          <pc:docMk/>
          <pc:sldMk cId="0" sldId="813"/>
        </pc:sldMkLst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13"/>
            <ac:spMk id="3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13"/>
            <ac:spMk id="4" creationId="{00000000-0000-0000-0000-000000000000}"/>
          </ac:spMkLst>
        </pc:spChg>
        <pc:spChg chg="mod ord">
          <ac:chgData name="Sheren Aulia" userId="f676561e8b28f7b7" providerId="LiveId" clId="{C4C87C6A-6CCC-45E6-A36D-5A2C15E07BA0}" dt="2025-10-28T04:48:00.143" v="4"/>
          <ac:spMkLst>
            <pc:docMk/>
            <pc:sldMk cId="0" sldId="813"/>
            <ac:spMk id="6" creationId="{00000000-0000-0000-0000-000000000000}"/>
          </ac:spMkLst>
        </pc:spChg>
      </pc:sldChg>
      <pc:sldMasterChg chg="delSldLayout modSldLayout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648"/>
        </pc:sldMasterMkLst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6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67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67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67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67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67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6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68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68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68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68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68"/>
              <ac:spMk id="21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6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69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69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69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69"/>
              <ac:spMk id="7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7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0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0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0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0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0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0"/>
              <ac:spMk id="11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71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1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1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1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1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1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1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1"/>
              <ac:spMk id="23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72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2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2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2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2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2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2"/>
              <ac:spMk id="11" creationId="{00000000-0000-0000-0000-000000000000}"/>
            </ac:spMkLst>
          </pc:spChg>
        </pc:sldLayoutChg>
        <pc:sldLayoutChg chg="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73"/>
          </pc:sldLayoutMkLst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7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4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4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4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4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4"/>
              <ac:spMk id="6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7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6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6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6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6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6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7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7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7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7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7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7"/>
              <ac:spMk id="21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7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8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8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8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8"/>
              <ac:spMk id="7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7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9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9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9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9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9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79"/>
              <ac:spMk id="11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8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0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0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0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0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0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0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0"/>
              <ac:spMk id="23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81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1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1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1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1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1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1"/>
              <ac:spMk id="11" creationId="{00000000-0000-0000-0000-000000000000}"/>
            </ac:spMkLst>
          </pc:spChg>
        </pc:sldLayoutChg>
        <pc:sldLayoutChg chg="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82"/>
          </pc:sldLayoutMkLst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83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3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3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3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3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3"/>
              <ac:spMk id="6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8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5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5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5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5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5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8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6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6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6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6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6"/>
              <ac:spMk id="21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8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7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7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7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7"/>
              <ac:spMk id="7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8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8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8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8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8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8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8"/>
              <ac:spMk id="11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8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9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9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9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9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9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9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89"/>
              <ac:spMk id="23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9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0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0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0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0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0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0"/>
              <ac:spMk id="11" creationId="{00000000-0000-0000-0000-000000000000}"/>
            </ac:spMkLst>
          </pc:spChg>
        </pc:sldLayoutChg>
        <pc:sldLayoutChg chg="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91"/>
          </pc:sldLayoutMkLst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92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2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2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2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2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2"/>
              <ac:spMk id="6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9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4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4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4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4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4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9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5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5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5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5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5"/>
              <ac:spMk id="21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9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6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6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6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6"/>
              <ac:spMk id="7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9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7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7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7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7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7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7"/>
              <ac:spMk id="11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9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8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8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8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8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8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8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8"/>
              <ac:spMk id="23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69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9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9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9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9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9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699"/>
              <ac:spMk id="11" creationId="{00000000-0000-0000-0000-000000000000}"/>
            </ac:spMkLst>
          </pc:spChg>
        </pc:sldLayoutChg>
        <pc:sldLayoutChg chg="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700"/>
          </pc:sldLayoutMkLst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701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1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1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1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1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1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03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3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3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3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3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3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70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4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4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4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4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4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0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5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5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5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5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0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6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6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6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6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6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6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0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7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7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7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7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7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7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7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0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8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8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8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8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8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08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09"/>
          </pc:sldLayoutMkLst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71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0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0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0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0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0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12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2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2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2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2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2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713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3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3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3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3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3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1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4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4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4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4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1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5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5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5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5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5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5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1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6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6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6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6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6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6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6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1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7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7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7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7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7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7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18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1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9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9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9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9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19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21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1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1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1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1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1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722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2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2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2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2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2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23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3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3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3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3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2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4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4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4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4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4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4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2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5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5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5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5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5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5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5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2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6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6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6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6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6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6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27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2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8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8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8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8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28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3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0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0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0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0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0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731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1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1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1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1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1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32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2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2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2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2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33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3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3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3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3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3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3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3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4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4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4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4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4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4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4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3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5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5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5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5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5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5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36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3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7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7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7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7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7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3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9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9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9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9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39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74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0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0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0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0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0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41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1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1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1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1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42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2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2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2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2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2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2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43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3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3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3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3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3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3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3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4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4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4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4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4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4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4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45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4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6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6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6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6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6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4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8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8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8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8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8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74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9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9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9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9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49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5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0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0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0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0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51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1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1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1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1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1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1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52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2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2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2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2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2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2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2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53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3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3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3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3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3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3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54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5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5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5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5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5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5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5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7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7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7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7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7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75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8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8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8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8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8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5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9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9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9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59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6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0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0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0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0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0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0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61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1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1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1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1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1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1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1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62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2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2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2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2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2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2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63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6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4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4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4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4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4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6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6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6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6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6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6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76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7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7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7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7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7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6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8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8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8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8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6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9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9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9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9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9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69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7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0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0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0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0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0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0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0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71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1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1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1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1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1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1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72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73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3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3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3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3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3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7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5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5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5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5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5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77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6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6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6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6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6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7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7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7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7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7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7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8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8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8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8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8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8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7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9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9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9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9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9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9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79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8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0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0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0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0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0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0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81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82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2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2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2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2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2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8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4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4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4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4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4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78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5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5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5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5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5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8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6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6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6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6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8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7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7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7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7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7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7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8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8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8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8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8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8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8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8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8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9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9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9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9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9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89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90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91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1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1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1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1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1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93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3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3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3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3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3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79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4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4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4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4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4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9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5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5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5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5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9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6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6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6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6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6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6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9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7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7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7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7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7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7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7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9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8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8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8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8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8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798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799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0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0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0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0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0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0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02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2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2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2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2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2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803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3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3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3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3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3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0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4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4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4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4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0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5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5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5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5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5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5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0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6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6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6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6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6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6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6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0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7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7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7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7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7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7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08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0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9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9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9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9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09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11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1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1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1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1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1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812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2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2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2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2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2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13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3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3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3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3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1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4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4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4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4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4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4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1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5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5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5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5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5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5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5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1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6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6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6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6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6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6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17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1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8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8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8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8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18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2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0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0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0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0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0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821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1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1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1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1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1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22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2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2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2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2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23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3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3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3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3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3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3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2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4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4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4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4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4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4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4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2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5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5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5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5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5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5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26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2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7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7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7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7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7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2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9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9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9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9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29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83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0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0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0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0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0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31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1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1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1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1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32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2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2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2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2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2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2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33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3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3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3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3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3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3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3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3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4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4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4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4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4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4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35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3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6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6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6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6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6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3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8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8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8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8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8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83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9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9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9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9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39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4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0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0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0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0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41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1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1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1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1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1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1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42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2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2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2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2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2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2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2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43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3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3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3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3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3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3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44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4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5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5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5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5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5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4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7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7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7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7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7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84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8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8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8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8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8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4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9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9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9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49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5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0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0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0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0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0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0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51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1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1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1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1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1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1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1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52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2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2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2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2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2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2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53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5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4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4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4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4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4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5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6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6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6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6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6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85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7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7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7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7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7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5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8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8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8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8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5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9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9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9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9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9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59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6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0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0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0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0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0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0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0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61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1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1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1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1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1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1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62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63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3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3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3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3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3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6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5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5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5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5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5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86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6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6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6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6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6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6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7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7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7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7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6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8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8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8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8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8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8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6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9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9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9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9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9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9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69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7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0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0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0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0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0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0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71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72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2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2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2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2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2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7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4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4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4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4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4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87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5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5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5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5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5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7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6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6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6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6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7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7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7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7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7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7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7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7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8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8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8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8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8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8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8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7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9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9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9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9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9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79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80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81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1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1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1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1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1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83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3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3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3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3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3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88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4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4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4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4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4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8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5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5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5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5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8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6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6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6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6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6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6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8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7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7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7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7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7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7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7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8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8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8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8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8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8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88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89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9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0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0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0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0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0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92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2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2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2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2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2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893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3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3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3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3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3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9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4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4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4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4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9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5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5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5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5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5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5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9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6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6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6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6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6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6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6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9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7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7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7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7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7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7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98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89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9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9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9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9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899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01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1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1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1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1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1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902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2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2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2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2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2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03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3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3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3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3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0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4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4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4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4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4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4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0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5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5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5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5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5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5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5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0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6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6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6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6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6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6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07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0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8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8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8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8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08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1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0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0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0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0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0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911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1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1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1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1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1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12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2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2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2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2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13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3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3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3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3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3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3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1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4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4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4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4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4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4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4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1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5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5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5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5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5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5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16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1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7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7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7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7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7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1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9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9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9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9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19"/>
              <ac:spMk id="12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2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0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0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0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0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0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21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1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1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1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1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22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2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2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2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2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2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2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23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3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3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3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3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3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3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3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2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4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4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4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4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4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4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25"/>
          </pc:sldLayoutMkLst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92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6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6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6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6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6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2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8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8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8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8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8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92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9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9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9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9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29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3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0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0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0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0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31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1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1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1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1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1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1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32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2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2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2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2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2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2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2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33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3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3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3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3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3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3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34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3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5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5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5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5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5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3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7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7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7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7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7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93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8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8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8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8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8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3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9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9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9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39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4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0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0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0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0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0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0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41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1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1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1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1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1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1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1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42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2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2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2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2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2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2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43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4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4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4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4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4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4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4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6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6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6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6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6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94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7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7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7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7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7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4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8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8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8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8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4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9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9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9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9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9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49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5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0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0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0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0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0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0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0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51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1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1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1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1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1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1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52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53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3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3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3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3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3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5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5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5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5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5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5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95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6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6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6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6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6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5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7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7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7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7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5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8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8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8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8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8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8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5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9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9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9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9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9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9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59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6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0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0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0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0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0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0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61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62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2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2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2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2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2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6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4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4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4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4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4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96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5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5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5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5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5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6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6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6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6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6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6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7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7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7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7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7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7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6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8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8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8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8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8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8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8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6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9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9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9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9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9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69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70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71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1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1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1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1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1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73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3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3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3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3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3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97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4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4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4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4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4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7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5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5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5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5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7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6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6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6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6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6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6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7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7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7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7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7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7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7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7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78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8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8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8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8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8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78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79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80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0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0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0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0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0"/>
              <ac:spMk id="6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82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2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2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2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2"/>
              <ac:spMk id="11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2"/>
              <ac:spMk id="12" creationId="{00000000-0000-0000-0000-000000000000}"/>
            </ac:spMkLst>
          </pc:spChg>
        </pc:sldLayoutChg>
        <pc:sldLayoutChg chg="modSp mod ord">
          <pc:chgData name="Sheren Aulia" userId="f676561e8b28f7b7" providerId="LiveId" clId="{C4C87C6A-6CCC-45E6-A36D-5A2C15E07BA0}" dt="2025-10-28T04:47:59.827" v="2"/>
          <pc:sldLayoutMkLst>
            <pc:docMk/>
            <pc:sldMasterMk cId="0" sldId="2147483648"/>
            <pc:sldLayoutMk cId="0" sldId="2147483983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3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3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3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3"/>
              <ac:spMk id="1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3"/>
              <ac:spMk id="2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84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4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4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4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4"/>
              <ac:spMk id="7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85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5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5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5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5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5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5"/>
              <ac:spMk id="11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86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6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6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6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6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6"/>
              <ac:spMk id="9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6"/>
              <ac:spMk id="10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6"/>
              <ac:spMk id="23" creationId="{00000000-0000-0000-0000-000000000000}"/>
            </ac:spMkLst>
          </pc:spChg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87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7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7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7"/>
              <ac:spMk id="6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7"/>
              <ac:spMk id="7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7"/>
              <ac:spMk id="8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7"/>
              <ac:spMk id="11" creationId="{00000000-0000-0000-0000-000000000000}"/>
            </ac:spMkLst>
          </pc:spChg>
        </pc:sldLayoutChg>
        <pc:sldLayoutChg chg="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88"/>
          </pc:sldLayoutMkLst>
        </pc:sldLayoutChg>
        <pc:sldLayoutChg chg="modSp del mod ord">
          <pc:chgData name="Sheren Aulia" userId="f676561e8b28f7b7" providerId="LiveId" clId="{C4C87C6A-6CCC-45E6-A36D-5A2C15E07BA0}" dt="2025-10-28T04:48:00.062" v="3"/>
          <pc:sldLayoutMkLst>
            <pc:docMk/>
            <pc:sldMasterMk cId="0" sldId="2147483648"/>
            <pc:sldLayoutMk cId="0" sldId="2147483989"/>
          </pc:sldLayoutMkLst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9"/>
              <ac:spMk id="2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9"/>
              <ac:spMk id="3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9"/>
              <ac:spMk id="4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9"/>
              <ac:spMk id="5" creationId="{00000000-0000-0000-0000-000000000000}"/>
            </ac:spMkLst>
          </pc:spChg>
          <pc:spChg chg="mod">
            <ac:chgData name="Sheren Aulia" userId="f676561e8b28f7b7" providerId="LiveId" clId="{C4C87C6A-6CCC-45E6-A36D-5A2C15E07BA0}" dt="2025-10-28T04:47:59.827" v="2"/>
            <ac:spMkLst>
              <pc:docMk/>
              <pc:sldMasterMk cId="0" sldId="2147483648"/>
              <pc:sldLayoutMk cId="0" sldId="2147483989"/>
              <ac:spMk id="6" creationId="{00000000-0000-0000-0000-000000000000}"/>
            </ac:spMkLst>
          </pc:spChg>
        </pc:sldLayoutChg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666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675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684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693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702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711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720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729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738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747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756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765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774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783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792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801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810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819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828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837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846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855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864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873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882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891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900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909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918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927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936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945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954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963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972"/>
        </pc:sldMasterMkLst>
      </pc:sldMasterChg>
      <pc:sldMasterChg chg="del sldLayoutOrd">
        <pc:chgData name="Sheren Aulia" userId="f676561e8b28f7b7" providerId="LiveId" clId="{C4C87C6A-6CCC-45E6-A36D-5A2C15E07BA0}" dt="2025-10-28T04:48:00.062" v="3"/>
        <pc:sldMasterMkLst>
          <pc:docMk/>
          <pc:sldMasterMk cId="0" sldId="2147483981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B9219-4A66-4B41-AFAD-B4DCC55121D3}" type="datetimeFigureOut">
              <a:rPr lang="en-US" smtClean="0"/>
              <a:t>10/28/2025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99D96-90C2-44B4-8DCF-3216EB4C362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796F5A-DA36-4202-8F3F-DA89D0431918}" type="datetimeFigureOut">
              <a:rPr lang="en-US" smtClean="0"/>
              <a:t>10/28/2025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BABC4-D3F8-4FEC-A081-17F891AA9F9F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BABC4-D3F8-4FEC-A081-17F891AA9F9F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628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28/10/2025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28/10/2025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28/10/2025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28/10/2025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28/10/2025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28/10/2025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28/10/2025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28/10/2025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image" Target="../media/image3.pn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image" Target="../media/image2.jpeg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76.xml"/><Relationship Id="rId7" Type="http://schemas.openxmlformats.org/officeDocument/2006/relationships/slideLayout" Target="../slideLayouts/slideLayout80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78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77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7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4" r:id="rId41"/>
    <p:sldLayoutId id="2147483710" r:id="rId42"/>
    <p:sldLayoutId id="2147483713" r:id="rId43"/>
    <p:sldLayoutId id="2147483722" r:id="rId44"/>
    <p:sldLayoutId id="2147483731" r:id="rId45"/>
    <p:sldLayoutId id="2147483740" r:id="rId46"/>
    <p:sldLayoutId id="2147483749" r:id="rId47"/>
    <p:sldLayoutId id="2147483758" r:id="rId48"/>
    <p:sldLayoutId id="2147483767" r:id="rId49"/>
    <p:sldLayoutId id="2147483776" r:id="rId50"/>
    <p:sldLayoutId id="2147483785" r:id="rId51"/>
    <p:sldLayoutId id="2147483794" r:id="rId52"/>
    <p:sldLayoutId id="2147483803" r:id="rId53"/>
    <p:sldLayoutId id="2147483812" r:id="rId54"/>
    <p:sldLayoutId id="2147483821" r:id="rId55"/>
    <p:sldLayoutId id="2147483830" r:id="rId56"/>
    <p:sldLayoutId id="2147483839" r:id="rId57"/>
    <p:sldLayoutId id="2147483848" r:id="rId58"/>
    <p:sldLayoutId id="2147483857" r:id="rId59"/>
    <p:sldLayoutId id="2147483866" r:id="rId60"/>
    <p:sldLayoutId id="2147483875" r:id="rId61"/>
    <p:sldLayoutId id="2147483884" r:id="rId62"/>
    <p:sldLayoutId id="2147483893" r:id="rId63"/>
    <p:sldLayoutId id="2147483902" r:id="rId64"/>
    <p:sldLayoutId id="2147483911" r:id="rId65"/>
    <p:sldLayoutId id="2147483926" r:id="rId66"/>
    <p:sldLayoutId id="2147483929" r:id="rId67"/>
    <p:sldLayoutId id="2147483938" r:id="rId68"/>
    <p:sldLayoutId id="2147483947" r:id="rId69"/>
    <p:sldLayoutId id="2147483956" r:id="rId70"/>
    <p:sldLayoutId id="2147483965" r:id="rId71"/>
    <p:sldLayoutId id="2147483974" r:id="rId72"/>
    <p:sldLayoutId id="2147483983" r:id="rId73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78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>
          <a:xfrm>
            <a:off x="1234440" y="1269365"/>
            <a:ext cx="6535420" cy="765175"/>
          </a:xfrm>
        </p:spPr>
        <p:txBody>
          <a:bodyPr/>
          <a:lstStyle/>
          <a:p>
            <a:r>
              <a:rPr lang="en-US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CDK2AAB4</a:t>
            </a:r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- </a:t>
            </a:r>
            <a:r>
              <a:rPr lang="en-US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</a:t>
            </a:r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truktur Data</a:t>
            </a:r>
            <a:br>
              <a:rPr lang="en-US" dirty="0">
                <a:latin typeface="Arial" panose="02080604020202020204" pitchFamily="34" charset="0"/>
                <a:cs typeface="Arial" panose="02080604020202020204" pitchFamily="34" charset="0"/>
              </a:rPr>
            </a:br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</a:rPr>
              <a:t>Single Linked List</a:t>
            </a:r>
          </a:p>
        </p:txBody>
      </p:sp>
    </p:spTree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80604020202020204" pitchFamily="34" charset="0"/>
                <a:cs typeface="Arial" panose="02080604020202020204" pitchFamily="34" charset="0"/>
              </a:rPr>
              <a:t>Single Linked List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/>
              <a:t>10/28/2025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29335" y="2837180"/>
            <a:ext cx="6998335" cy="1183640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415" y="2112587"/>
            <a:ext cx="122268" cy="222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3865" y="1434465"/>
            <a:ext cx="274320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dirty="0">
                <a:solidFill>
                  <a:srgbClr val="404040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Pop Quiz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73961" y="4046728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</a:t>
                      </a: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</a:t>
                      </a: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7</a:t>
                      </a: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12</a:t>
                      </a: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tc>
                  <a:txBody>
                    <a:bodyPr/>
                    <a:lstStyle/>
                    <a:p>
                      <a:pPr marL="2178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20</a:t>
                      </a: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2389377" y="3415538"/>
            <a:ext cx="812800" cy="408940"/>
            <a:chOff x="2389377" y="3415538"/>
            <a:chExt cx="812800" cy="408940"/>
          </a:xfrm>
        </p:grpSpPr>
        <p:sp>
          <p:nvSpPr>
            <p:cNvPr id="6" name="object 6"/>
            <p:cNvSpPr/>
            <p:nvPr/>
          </p:nvSpPr>
          <p:spPr>
            <a:xfrm>
              <a:off x="2414777" y="3428238"/>
              <a:ext cx="762000" cy="370840"/>
            </a:xfrm>
            <a:custGeom>
              <a:avLst/>
              <a:gdLst/>
              <a:ahLst/>
              <a:cxnLst/>
              <a:rect l="l" t="t" r="r" b="b"/>
              <a:pathLst>
                <a:path w="762000" h="370839">
                  <a:moveTo>
                    <a:pt x="762000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762000" y="370839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0066A0"/>
            </a:solidFill>
          </p:spPr>
          <p:txBody>
            <a:bodyPr wrap="square" lIns="0" tIns="0" rIns="0" bIns="0" rtlCol="0"/>
            <a:lstStyle/>
            <a:p>
              <a:endParaRPr>
                <a:latin typeface="Arial" panose="02080604020202020204" pitchFamily="34" charset="0"/>
                <a:cs typeface="Arial" panose="02080604020202020204" pitchFamily="34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414777" y="3421888"/>
              <a:ext cx="762000" cy="396240"/>
            </a:xfrm>
            <a:custGeom>
              <a:avLst/>
              <a:gdLst/>
              <a:ahLst/>
              <a:cxnLst/>
              <a:rect l="l" t="t" r="r" b="b"/>
              <a:pathLst>
                <a:path w="762000" h="396239">
                  <a:moveTo>
                    <a:pt x="0" y="0"/>
                  </a:moveTo>
                  <a:lnTo>
                    <a:pt x="0" y="396239"/>
                  </a:lnTo>
                </a:path>
                <a:path w="762000" h="396239">
                  <a:moveTo>
                    <a:pt x="762000" y="0"/>
                  </a:moveTo>
                  <a:lnTo>
                    <a:pt x="762000" y="3962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" panose="02080604020202020204" pitchFamily="34" charset="0"/>
                <a:cs typeface="Arial" panose="02080604020202020204" pitchFamily="34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408427" y="3421888"/>
              <a:ext cx="774700" cy="12700"/>
            </a:xfrm>
            <a:custGeom>
              <a:avLst/>
              <a:gdLst/>
              <a:ahLst/>
              <a:cxnLst/>
              <a:rect l="l" t="t" r="r" b="b"/>
              <a:pathLst>
                <a:path w="774700" h="12700">
                  <a:moveTo>
                    <a:pt x="0" y="12700"/>
                  </a:moveTo>
                  <a:lnTo>
                    <a:pt x="774700" y="12700"/>
                  </a:lnTo>
                  <a:lnTo>
                    <a:pt x="77470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Arial" panose="02080604020202020204" pitchFamily="34" charset="0"/>
                <a:cs typeface="Arial" panose="02080604020202020204" pitchFamily="34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408427" y="3799078"/>
              <a:ext cx="774700" cy="0"/>
            </a:xfrm>
            <a:custGeom>
              <a:avLst/>
              <a:gdLst/>
              <a:ahLst/>
              <a:cxnLst/>
              <a:rect l="l" t="t" r="r" b="b"/>
              <a:pathLst>
                <a:path w="774700">
                  <a:moveTo>
                    <a:pt x="0" y="0"/>
                  </a:moveTo>
                  <a:lnTo>
                    <a:pt x="77470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" panose="02080604020202020204" pitchFamily="34" charset="0"/>
                <a:cs typeface="Arial" panose="02080604020202020204" pitchFamily="34" charset="0"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90448" y="2041652"/>
            <a:ext cx="7362190" cy="172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spc="-5" dirty="0">
                <a:latin typeface="Arial" panose="02080604020202020204" pitchFamily="34" charset="0"/>
                <a:cs typeface="Arial" panose="02080604020202020204" pitchFamily="34" charset="0"/>
              </a:rPr>
              <a:t>Buatlah algoritma untuk menyisipkan angka ke dalam array namun urutan nilai dalam array tetap terjaga</a:t>
            </a:r>
            <a:endParaRPr sz="24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841500">
              <a:lnSpc>
                <a:spcPct val="100000"/>
              </a:lnSpc>
              <a:spcBef>
                <a:spcPts val="2530"/>
              </a:spcBef>
            </a:pPr>
            <a:r>
              <a:rPr sz="1800" b="1" dirty="0">
                <a:solidFill>
                  <a:srgbClr val="FFFFFF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10</a:t>
            </a:r>
            <a:endParaRPr sz="18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473961" y="5156453"/>
          <a:ext cx="6096000" cy="370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</a:t>
                      </a: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</a:t>
                      </a: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</a:t>
                      </a: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10</a:t>
                      </a: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12</a:t>
                      </a: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tc>
                  <a:txBody>
                    <a:bodyPr/>
                    <a:lstStyle/>
                    <a:p>
                      <a:pPr marL="2178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tc>
                  <a:txBody>
                    <a:bodyPr/>
                    <a:lstStyle/>
                    <a:p>
                      <a:pPr marL="2178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20</a:t>
                      </a: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13888" y="3512820"/>
            <a:ext cx="1095755" cy="571500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4242628" y="4562711"/>
            <a:ext cx="608965" cy="550545"/>
            <a:chOff x="4242628" y="4562711"/>
            <a:chExt cx="608965" cy="55054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2628" y="4562711"/>
              <a:ext cx="608451" cy="55054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270248" y="4578095"/>
              <a:ext cx="558165" cy="486409"/>
            </a:xfrm>
            <a:custGeom>
              <a:avLst/>
              <a:gdLst/>
              <a:ahLst/>
              <a:cxnLst/>
              <a:rect l="l" t="t" r="r" b="b"/>
              <a:pathLst>
                <a:path w="558164" h="486410">
                  <a:moveTo>
                    <a:pt x="418338" y="0"/>
                  </a:moveTo>
                  <a:lnTo>
                    <a:pt x="139446" y="0"/>
                  </a:lnTo>
                  <a:lnTo>
                    <a:pt x="139446" y="243077"/>
                  </a:lnTo>
                  <a:lnTo>
                    <a:pt x="0" y="243077"/>
                  </a:lnTo>
                  <a:lnTo>
                    <a:pt x="278891" y="486155"/>
                  </a:lnTo>
                  <a:lnTo>
                    <a:pt x="557784" y="243077"/>
                  </a:lnTo>
                  <a:lnTo>
                    <a:pt x="418338" y="243077"/>
                  </a:lnTo>
                  <a:lnTo>
                    <a:pt x="418338" y="0"/>
                  </a:lnTo>
                  <a:close/>
                </a:path>
              </a:pathLst>
            </a:custGeom>
            <a:solidFill>
              <a:srgbClr val="EDAA79"/>
            </a:solidFill>
          </p:spPr>
          <p:txBody>
            <a:bodyPr wrap="square" lIns="0" tIns="0" rIns="0" bIns="0" rtlCol="0"/>
            <a:lstStyle/>
            <a:p>
              <a:endParaRPr>
                <a:latin typeface="Arial" panose="02080604020202020204" pitchFamily="34" charset="0"/>
                <a:cs typeface="Arial" panose="02080604020202020204" pitchFamily="34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270248" y="4578095"/>
              <a:ext cx="558165" cy="486409"/>
            </a:xfrm>
            <a:custGeom>
              <a:avLst/>
              <a:gdLst/>
              <a:ahLst/>
              <a:cxnLst/>
              <a:rect l="l" t="t" r="r" b="b"/>
              <a:pathLst>
                <a:path w="558164" h="486410">
                  <a:moveTo>
                    <a:pt x="0" y="243077"/>
                  </a:moveTo>
                  <a:lnTo>
                    <a:pt x="139446" y="243077"/>
                  </a:lnTo>
                  <a:lnTo>
                    <a:pt x="139446" y="0"/>
                  </a:lnTo>
                  <a:lnTo>
                    <a:pt x="418338" y="0"/>
                  </a:lnTo>
                  <a:lnTo>
                    <a:pt x="418338" y="243077"/>
                  </a:lnTo>
                  <a:lnTo>
                    <a:pt x="557784" y="243077"/>
                  </a:lnTo>
                  <a:lnTo>
                    <a:pt x="278891" y="486155"/>
                  </a:lnTo>
                  <a:lnTo>
                    <a:pt x="0" y="243077"/>
                  </a:lnTo>
                  <a:close/>
                </a:path>
              </a:pathLst>
            </a:custGeom>
            <a:ln w="9144">
              <a:solidFill>
                <a:srgbClr val="0064A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" panose="02080604020202020204" pitchFamily="34" charset="0"/>
                <a:cs typeface="Arial" panose="02080604020202020204" pitchFamily="34" charset="0"/>
              </a:endParaRPr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>
                <a:latin typeface="Arial" panose="02080604020202020204" pitchFamily="34" charset="0"/>
                <a:cs typeface="Arial" panose="02080604020202020204" pitchFamily="34" charset="0"/>
              </a:rPr>
              <a:t>3</a:t>
            </a:fld>
            <a:endParaRPr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21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735" y="5064760"/>
            <a:ext cx="1156970" cy="114871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Date Placeholder 18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/>
              <a:t>10/28/2025</a:t>
            </a:fld>
            <a:endParaRPr lang="en-US" dirty="0"/>
          </a:p>
        </p:txBody>
      </p:sp>
    </p:spTree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6522" y="2010917"/>
            <a:ext cx="8327390" cy="2884805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40"/>
              </a:spcBef>
            </a:pPr>
            <a:r>
              <a:rPr sz="1800" u="sng">
                <a:latin typeface="Arial" panose="02080604020202020204" pitchFamily="34" charset="0"/>
                <a:cs typeface="Arial" panose="02080604020202020204" pitchFamily="34" charset="0"/>
              </a:rPr>
              <a:t>Algorithm</a:t>
            </a:r>
            <a:endParaRPr sz="18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90170">
              <a:lnSpc>
                <a:spcPct val="100000"/>
              </a:lnSpc>
              <a:spcBef>
                <a:spcPts val="340"/>
              </a:spcBef>
            </a:pPr>
            <a:r>
              <a:rPr lang="en-US" sz="1800">
                <a:latin typeface="Arial" panose="02080604020202020204" pitchFamily="34" charset="0"/>
                <a:cs typeface="Arial" panose="02080604020202020204" pitchFamily="34" charset="0"/>
              </a:rPr>
              <a:t>	</a:t>
            </a:r>
            <a:r>
              <a:rPr sz="1800">
                <a:latin typeface="Arial" panose="02080604020202020204" pitchFamily="34" charset="0"/>
                <a:cs typeface="Arial" panose="02080604020202020204" pitchFamily="34" charset="0"/>
              </a:rPr>
              <a:t>while ( i &lt; n ) and ( tab[i] &lt; x ) do</a:t>
            </a:r>
          </a:p>
          <a:p>
            <a:pPr marL="90170">
              <a:lnSpc>
                <a:spcPct val="100000"/>
              </a:lnSpc>
              <a:spcBef>
                <a:spcPts val="340"/>
              </a:spcBef>
            </a:pPr>
            <a:r>
              <a:rPr lang="en-US" sz="1800">
                <a:latin typeface="Arial" panose="02080604020202020204" pitchFamily="34" charset="0"/>
                <a:cs typeface="Arial" panose="02080604020202020204" pitchFamily="34" charset="0"/>
              </a:rPr>
              <a:t>		</a:t>
            </a:r>
            <a:r>
              <a:rPr sz="1800">
                <a:latin typeface="Arial" panose="02080604020202020204" pitchFamily="34" charset="0"/>
                <a:cs typeface="Arial" panose="02080604020202020204" pitchFamily="34" charset="0"/>
              </a:rPr>
              <a:t>i++</a:t>
            </a:r>
          </a:p>
          <a:p>
            <a:pPr marL="90170">
              <a:lnSpc>
                <a:spcPct val="100000"/>
              </a:lnSpc>
              <a:spcBef>
                <a:spcPts val="340"/>
              </a:spcBef>
            </a:pPr>
            <a:r>
              <a:rPr lang="en-US" sz="1800">
                <a:latin typeface="Arial" panose="02080604020202020204" pitchFamily="34" charset="0"/>
                <a:cs typeface="Arial" panose="02080604020202020204" pitchFamily="34" charset="0"/>
              </a:rPr>
              <a:t>	</a:t>
            </a:r>
            <a:r>
              <a:rPr sz="1800">
                <a:latin typeface="Arial" panose="02080604020202020204" pitchFamily="34" charset="0"/>
                <a:cs typeface="Arial" panose="02080604020202020204" pitchFamily="34" charset="0"/>
              </a:rPr>
              <a:t>temp1 </a:t>
            </a:r>
            <a:r>
              <a:rPr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</a:rPr>
              <a:t>←</a:t>
            </a:r>
            <a:r>
              <a:rPr sz="1800">
                <a:latin typeface="Arial" panose="02080604020202020204" pitchFamily="34" charset="0"/>
                <a:cs typeface="Arial" panose="02080604020202020204" pitchFamily="34" charset="0"/>
              </a:rPr>
              <a:t> tab[i]</a:t>
            </a:r>
          </a:p>
          <a:p>
            <a:pPr marL="90170">
              <a:lnSpc>
                <a:spcPct val="100000"/>
              </a:lnSpc>
              <a:spcBef>
                <a:spcPts val="340"/>
              </a:spcBef>
            </a:pPr>
            <a:r>
              <a:rPr lang="en-US" sz="1800">
                <a:latin typeface="Arial" panose="02080604020202020204" pitchFamily="34" charset="0"/>
                <a:cs typeface="Arial" panose="02080604020202020204" pitchFamily="34" charset="0"/>
              </a:rPr>
              <a:t>	</a:t>
            </a:r>
            <a:r>
              <a:rPr sz="1800">
                <a:latin typeface="Arial" panose="02080604020202020204" pitchFamily="34" charset="0"/>
                <a:cs typeface="Arial" panose="02080604020202020204" pitchFamily="34" charset="0"/>
              </a:rPr>
              <a:t>tab[i] </a:t>
            </a:r>
            <a:r>
              <a:rPr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</a:rPr>
              <a:t>←</a:t>
            </a:r>
            <a:r>
              <a:rPr sz="1800">
                <a:latin typeface="Arial" panose="02080604020202020204" pitchFamily="34" charset="0"/>
                <a:cs typeface="Arial" panose="02080604020202020204" pitchFamily="34" charset="0"/>
              </a:rPr>
              <a:t> x</a:t>
            </a:r>
          </a:p>
          <a:p>
            <a:pPr marL="90170">
              <a:lnSpc>
                <a:spcPct val="100000"/>
              </a:lnSpc>
              <a:spcBef>
                <a:spcPts val="340"/>
              </a:spcBef>
            </a:pPr>
            <a:r>
              <a:rPr lang="en-US" sz="1800">
                <a:latin typeface="Arial" panose="02080604020202020204" pitchFamily="34" charset="0"/>
                <a:cs typeface="Arial" panose="02080604020202020204" pitchFamily="34" charset="0"/>
              </a:rPr>
              <a:t>	</a:t>
            </a:r>
            <a:r>
              <a:rPr sz="1800">
                <a:latin typeface="Arial" panose="02080604020202020204" pitchFamily="34" charset="0"/>
                <a:cs typeface="Arial" panose="02080604020202020204" pitchFamily="34" charset="0"/>
              </a:rPr>
              <a:t>j </a:t>
            </a:r>
            <a:r>
              <a:rPr sz="1800" u="sng">
                <a:latin typeface="Arial" panose="02080604020202020204" pitchFamily="34" charset="0"/>
                <a:cs typeface="Arial" panose="02080604020202020204" pitchFamily="34" charset="0"/>
              </a:rPr>
              <a:t>traversal</a:t>
            </a:r>
            <a:r>
              <a:rPr sz="1800">
                <a:latin typeface="Arial" panose="02080604020202020204" pitchFamily="34" charset="0"/>
                <a:cs typeface="Arial" panose="02080604020202020204" pitchFamily="34" charset="0"/>
              </a:rPr>
              <a:t> [i+1..n]</a:t>
            </a:r>
          </a:p>
          <a:p>
            <a:pPr marL="1004570" lvl="2">
              <a:lnSpc>
                <a:spcPct val="100000"/>
              </a:lnSpc>
              <a:spcBef>
                <a:spcPts val="340"/>
              </a:spcBef>
            </a:pPr>
            <a:r>
              <a:rPr sz="1800">
                <a:latin typeface="Arial" panose="02080604020202020204" pitchFamily="34" charset="0"/>
                <a:cs typeface="Arial" panose="02080604020202020204" pitchFamily="34" charset="0"/>
              </a:rPr>
              <a:t>temp2 </a:t>
            </a:r>
            <a:r>
              <a:rPr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←</a:t>
            </a:r>
            <a:r>
              <a:rPr sz="1800">
                <a:latin typeface="Arial" panose="02080604020202020204" pitchFamily="34" charset="0"/>
                <a:cs typeface="Arial" panose="02080604020202020204" pitchFamily="34" charset="0"/>
              </a:rPr>
              <a:t> tab[j]</a:t>
            </a:r>
          </a:p>
          <a:p>
            <a:pPr marL="1004570" lvl="2">
              <a:lnSpc>
                <a:spcPct val="100000"/>
              </a:lnSpc>
              <a:spcBef>
                <a:spcPts val="340"/>
              </a:spcBef>
            </a:pPr>
            <a:r>
              <a:rPr sz="1800">
                <a:latin typeface="Arial" panose="02080604020202020204" pitchFamily="34" charset="0"/>
                <a:cs typeface="Arial" panose="02080604020202020204" pitchFamily="34" charset="0"/>
              </a:rPr>
              <a:t>tab[j] </a:t>
            </a:r>
            <a:r>
              <a:rPr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←</a:t>
            </a:r>
            <a:r>
              <a:rPr sz="1800">
                <a:latin typeface="Arial" panose="02080604020202020204" pitchFamily="34" charset="0"/>
                <a:cs typeface="Arial" panose="02080604020202020204" pitchFamily="34" charset="0"/>
              </a:rPr>
              <a:t> temp1</a:t>
            </a:r>
          </a:p>
          <a:p>
            <a:pPr marL="1004570" lvl="2">
              <a:lnSpc>
                <a:spcPct val="100000"/>
              </a:lnSpc>
              <a:spcBef>
                <a:spcPts val="340"/>
              </a:spcBef>
            </a:pPr>
            <a:r>
              <a:rPr sz="1800">
                <a:latin typeface="Arial" panose="02080604020202020204" pitchFamily="34" charset="0"/>
                <a:cs typeface="Arial" panose="02080604020202020204" pitchFamily="34" charset="0"/>
              </a:rPr>
              <a:t>temp1 </a:t>
            </a:r>
            <a:r>
              <a:rPr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←</a:t>
            </a:r>
            <a:r>
              <a:rPr sz="1800">
                <a:latin typeface="Arial" panose="02080604020202020204" pitchFamily="34" charset="0"/>
                <a:cs typeface="Arial" panose="02080604020202020204" pitchFamily="34" charset="0"/>
              </a:rPr>
              <a:t> temp2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>
                <a:latin typeface="Arial" panose="02080604020202020204" pitchFamily="34" charset="0"/>
                <a:cs typeface="Arial" panose="02080604020202020204" pitchFamily="34" charset="0"/>
              </a:rPr>
              <a:t>4</a:t>
            </a:fld>
            <a:endParaRPr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3865" y="1434783"/>
            <a:ext cx="821245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>
                <a:solidFill>
                  <a:srgbClr val="404040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Penyisipan ke dalam array berurut</a:t>
            </a:r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735" y="4980940"/>
            <a:ext cx="1251585" cy="12477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3890" y="1434655"/>
            <a:ext cx="42322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>
                <a:solidFill>
                  <a:srgbClr val="404040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Sulit bukan?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>
                <a:latin typeface="Arial" panose="02080604020202020204" pitchFamily="34" charset="0"/>
                <a:cs typeface="Arial" panose="02080604020202020204" pitchFamily="34" charset="0"/>
              </a:rPr>
              <a:t>5</a:t>
            </a:fld>
            <a:endParaRPr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2" name="Picture 1" descr="5a23f12766edc4d3925ace929d1ecf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380" y="1977390"/>
            <a:ext cx="4245610" cy="4245610"/>
          </a:xfrm>
          <a:prstGeom prst="rect">
            <a:avLst/>
          </a:prstGeom>
        </p:spPr>
      </p:pic>
      <p:sp>
        <p:nvSpPr>
          <p:cNvPr id="11" name="Content Placeholder 1"/>
          <p:cNvSpPr>
            <a:spLocks noGrp="1"/>
          </p:cNvSpPr>
          <p:nvPr/>
        </p:nvSpPr>
        <p:spPr>
          <a:xfrm>
            <a:off x="4826635" y="2472055"/>
            <a:ext cx="2928620" cy="1224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id-ID" sz="2800" dirty="0">
                <a:latin typeface="Arial" panose="02080604020202020204" pitchFamily="34" charset="0"/>
                <a:cs typeface="Arial" panose="02080604020202020204" pitchFamily="34" charset="0"/>
              </a:rPr>
              <a:t>Sorted array</a:t>
            </a:r>
          </a:p>
        </p:txBody>
      </p:sp>
      <p:sp>
        <p:nvSpPr>
          <p:cNvPr id="12" name="Content Placeholder 1"/>
          <p:cNvSpPr>
            <a:spLocks noGrp="1"/>
          </p:cNvSpPr>
          <p:nvPr/>
        </p:nvSpPr>
        <p:spPr>
          <a:xfrm>
            <a:off x="4826635" y="4462145"/>
            <a:ext cx="2928620" cy="1224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id-ID" sz="2800" dirty="0">
                <a:latin typeface="Arial" panose="02080604020202020204" pitchFamily="34" charset="0"/>
                <a:cs typeface="Arial" panose="02080604020202020204" pitchFamily="34" charset="0"/>
              </a:rPr>
              <a:t>Linked list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CDK2AAB4 – STRUKTUR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489169"/>
            <a:ext cx="615874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0x1</a:t>
            </a:r>
            <a:endParaRPr lang="en-ID" dirty="0"/>
          </a:p>
        </p:txBody>
      </p:sp>
      <p:sp>
        <p:nvSpPr>
          <p:cNvPr id="13" name="TextBox 12"/>
          <p:cNvSpPr txBox="1"/>
          <p:nvPr/>
        </p:nvSpPr>
        <p:spPr>
          <a:xfrm>
            <a:off x="3312160" y="1489169"/>
            <a:ext cx="615874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0x2</a:t>
            </a:r>
            <a:endParaRPr lang="en-ID" dirty="0"/>
          </a:p>
        </p:txBody>
      </p:sp>
      <p:sp>
        <p:nvSpPr>
          <p:cNvPr id="14" name="TextBox 13"/>
          <p:cNvSpPr txBox="1"/>
          <p:nvPr/>
        </p:nvSpPr>
        <p:spPr>
          <a:xfrm>
            <a:off x="5215968" y="1489169"/>
            <a:ext cx="615874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0x3</a:t>
            </a:r>
            <a:endParaRPr lang="en-ID" dirty="0"/>
          </a:p>
        </p:txBody>
      </p:sp>
      <p:sp>
        <p:nvSpPr>
          <p:cNvPr id="15" name="TextBox 14"/>
          <p:cNvSpPr txBox="1"/>
          <p:nvPr/>
        </p:nvSpPr>
        <p:spPr>
          <a:xfrm>
            <a:off x="5215968" y="2433269"/>
            <a:ext cx="615874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0x7</a:t>
            </a:r>
            <a:endParaRPr lang="en-ID" dirty="0"/>
          </a:p>
        </p:txBody>
      </p:sp>
      <p:sp>
        <p:nvSpPr>
          <p:cNvPr id="16" name="TextBox 15"/>
          <p:cNvSpPr txBox="1"/>
          <p:nvPr/>
        </p:nvSpPr>
        <p:spPr>
          <a:xfrm>
            <a:off x="7004128" y="3256229"/>
            <a:ext cx="763351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0x12</a:t>
            </a:r>
            <a:endParaRPr lang="en-ID" dirty="0"/>
          </a:p>
        </p:txBody>
      </p:sp>
      <p:sp>
        <p:nvSpPr>
          <p:cNvPr id="17" name="TextBox 16"/>
          <p:cNvSpPr txBox="1"/>
          <p:nvPr/>
        </p:nvSpPr>
        <p:spPr>
          <a:xfrm>
            <a:off x="3312160" y="5879068"/>
            <a:ext cx="763351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0x18</a:t>
            </a:r>
            <a:endParaRPr lang="en-ID" dirty="0"/>
          </a:p>
        </p:txBody>
      </p:sp>
      <p:sp>
        <p:nvSpPr>
          <p:cNvPr id="18" name="TextBox 17"/>
          <p:cNvSpPr txBox="1"/>
          <p:nvPr/>
        </p:nvSpPr>
        <p:spPr>
          <a:xfrm>
            <a:off x="5215968" y="5872481"/>
            <a:ext cx="763351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0x19</a:t>
            </a:r>
            <a:endParaRPr lang="en-ID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934720" y="1787381"/>
          <a:ext cx="7400520" cy="4176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0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0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0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0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5308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5308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308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5308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5308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6696191" y="3702818"/>
            <a:ext cx="615874" cy="4419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75</a:t>
            </a:r>
            <a:endParaRPr lang="en-ID" dirty="0"/>
          </a:p>
        </p:txBody>
      </p:sp>
      <p:sp>
        <p:nvSpPr>
          <p:cNvPr id="26" name="Rectangle 25"/>
          <p:cNvSpPr/>
          <p:nvPr/>
        </p:nvSpPr>
        <p:spPr>
          <a:xfrm>
            <a:off x="7385802" y="3707509"/>
            <a:ext cx="763351" cy="4419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0x19</a:t>
            </a:r>
            <a:endParaRPr lang="en-ID" dirty="0"/>
          </a:p>
        </p:txBody>
      </p:sp>
      <p:sp>
        <p:nvSpPr>
          <p:cNvPr id="27" name="Rectangle 26"/>
          <p:cNvSpPr/>
          <p:nvPr/>
        </p:nvSpPr>
        <p:spPr>
          <a:xfrm>
            <a:off x="4836911" y="5318642"/>
            <a:ext cx="615874" cy="4419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50</a:t>
            </a:r>
            <a:endParaRPr lang="en-ID" dirty="0"/>
          </a:p>
        </p:txBody>
      </p:sp>
      <p:sp>
        <p:nvSpPr>
          <p:cNvPr id="28" name="Rectangle 27"/>
          <p:cNvSpPr/>
          <p:nvPr/>
        </p:nvSpPr>
        <p:spPr>
          <a:xfrm>
            <a:off x="5526522" y="5323333"/>
            <a:ext cx="763351" cy="4419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0x1</a:t>
            </a:r>
            <a:endParaRPr lang="en-ID" dirty="0"/>
          </a:p>
        </p:txBody>
      </p:sp>
      <p:sp>
        <p:nvSpPr>
          <p:cNvPr id="31" name="Rectangle 30"/>
          <p:cNvSpPr/>
          <p:nvPr/>
        </p:nvSpPr>
        <p:spPr>
          <a:xfrm>
            <a:off x="1118351" y="1986669"/>
            <a:ext cx="615874" cy="4419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81</a:t>
            </a:r>
            <a:endParaRPr lang="en-ID" dirty="0"/>
          </a:p>
        </p:txBody>
      </p:sp>
      <p:sp>
        <p:nvSpPr>
          <p:cNvPr id="32" name="Rectangle 31"/>
          <p:cNvSpPr/>
          <p:nvPr/>
        </p:nvSpPr>
        <p:spPr>
          <a:xfrm>
            <a:off x="1807962" y="1991360"/>
            <a:ext cx="763351" cy="4419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0x7</a:t>
            </a:r>
            <a:endParaRPr lang="en-ID" dirty="0"/>
          </a:p>
        </p:txBody>
      </p:sp>
      <p:sp>
        <p:nvSpPr>
          <p:cNvPr id="33" name="Rectangle 32"/>
          <p:cNvSpPr/>
          <p:nvPr/>
        </p:nvSpPr>
        <p:spPr>
          <a:xfrm>
            <a:off x="4714991" y="2855853"/>
            <a:ext cx="615874" cy="4419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49</a:t>
            </a:r>
            <a:endParaRPr lang="en-ID" dirty="0"/>
          </a:p>
        </p:txBody>
      </p:sp>
      <p:sp>
        <p:nvSpPr>
          <p:cNvPr id="34" name="Rectangle 33"/>
          <p:cNvSpPr/>
          <p:nvPr/>
        </p:nvSpPr>
        <p:spPr>
          <a:xfrm>
            <a:off x="5404602" y="2860544"/>
            <a:ext cx="763351" cy="4419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0x18</a:t>
            </a:r>
            <a:endParaRPr lang="en-ID" dirty="0"/>
          </a:p>
        </p:txBody>
      </p:sp>
      <p:sp>
        <p:nvSpPr>
          <p:cNvPr id="35" name="Rectangle 34"/>
          <p:cNvSpPr/>
          <p:nvPr/>
        </p:nvSpPr>
        <p:spPr>
          <a:xfrm>
            <a:off x="3002275" y="5318642"/>
            <a:ext cx="615874" cy="4419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33</a:t>
            </a:r>
            <a:endParaRPr lang="en-ID" dirty="0"/>
          </a:p>
        </p:txBody>
      </p:sp>
      <p:sp>
        <p:nvSpPr>
          <p:cNvPr id="36" name="Rectangle 35"/>
          <p:cNvSpPr/>
          <p:nvPr/>
        </p:nvSpPr>
        <p:spPr>
          <a:xfrm>
            <a:off x="3691886" y="5323333"/>
            <a:ext cx="763351" cy="4419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0x2</a:t>
            </a:r>
            <a:endParaRPr lang="en-ID" dirty="0"/>
          </a:p>
        </p:txBody>
      </p:sp>
      <p:sp>
        <p:nvSpPr>
          <p:cNvPr id="37" name="Rectangle 36"/>
          <p:cNvSpPr/>
          <p:nvPr/>
        </p:nvSpPr>
        <p:spPr>
          <a:xfrm>
            <a:off x="2918265" y="1986669"/>
            <a:ext cx="615874" cy="4419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99</a:t>
            </a:r>
            <a:endParaRPr lang="en-ID" dirty="0"/>
          </a:p>
        </p:txBody>
      </p:sp>
      <p:sp>
        <p:nvSpPr>
          <p:cNvPr id="38" name="Rectangle 37"/>
          <p:cNvSpPr/>
          <p:nvPr/>
        </p:nvSpPr>
        <p:spPr>
          <a:xfrm>
            <a:off x="3607876" y="1991360"/>
            <a:ext cx="763351" cy="4419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0x3</a:t>
            </a:r>
            <a:endParaRPr lang="en-ID" dirty="0"/>
          </a:p>
        </p:txBody>
      </p:sp>
      <p:sp>
        <p:nvSpPr>
          <p:cNvPr id="39" name="Rectangle 38"/>
          <p:cNvSpPr/>
          <p:nvPr/>
        </p:nvSpPr>
        <p:spPr>
          <a:xfrm>
            <a:off x="4800120" y="1991360"/>
            <a:ext cx="615874" cy="4419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50</a:t>
            </a:r>
            <a:endParaRPr lang="en-ID" dirty="0"/>
          </a:p>
        </p:txBody>
      </p:sp>
      <p:sp>
        <p:nvSpPr>
          <p:cNvPr id="40" name="Rectangle 39"/>
          <p:cNvSpPr/>
          <p:nvPr/>
        </p:nvSpPr>
        <p:spPr>
          <a:xfrm>
            <a:off x="5489731" y="1996051"/>
            <a:ext cx="763351" cy="4419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NIL</a:t>
            </a:r>
            <a:endParaRPr lang="en-ID" dirty="0"/>
          </a:p>
        </p:txBody>
      </p:sp>
      <p:sp>
        <p:nvSpPr>
          <p:cNvPr id="2" name="TextBox 1"/>
          <p:cNvSpPr txBox="1"/>
          <p:nvPr/>
        </p:nvSpPr>
        <p:spPr>
          <a:xfrm>
            <a:off x="1159814" y="2372595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80874" y="2366175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93247" y="2363016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14307" y="2356596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88803" y="1782959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09863" y="1776539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12694" y="3223976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33754" y="3217556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4413" y="4079744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85473" y="4073324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91398" y="5098252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812458" y="5091832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900467" y="5104672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21527" y="5098252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CDK2AAB4 – STRUKTUR DATA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8423"/>
            <a:ext cx="5818083" cy="345289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3362960" y="3271520"/>
            <a:ext cx="1747520" cy="72136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807720" y="2194560"/>
            <a:ext cx="2975081" cy="191008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1046480" y="2042160"/>
            <a:ext cx="1788160" cy="46736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2011680" y="2661920"/>
            <a:ext cx="1630680" cy="133096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 flipV="1">
            <a:off x="2295260" y="2194560"/>
            <a:ext cx="158398" cy="193040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2374459" y="1889760"/>
            <a:ext cx="592261" cy="13208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CDK2AAB4 – STRUKTUR DATA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8423"/>
            <a:ext cx="5818083" cy="345289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3362960" y="3271520"/>
            <a:ext cx="1747520" cy="72136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807720" y="2194560"/>
            <a:ext cx="2975081" cy="191008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1046480" y="2042160"/>
            <a:ext cx="1788160" cy="46736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2011680" y="2661920"/>
            <a:ext cx="1630680" cy="133096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 flipV="1">
            <a:off x="2295260" y="2194560"/>
            <a:ext cx="158398" cy="193040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2374459" y="1889760"/>
            <a:ext cx="592261" cy="13208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43488" y="5187315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0x19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930400" y="5187315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74480" y="5180090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0x7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94960" y="5180090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0x18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15440" y="5177155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0x2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115440" y="4329035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0x3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076052" y="3506393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7" idx="1"/>
          </p:cNvCxnSpPr>
          <p:nvPr/>
        </p:nvCxnSpPr>
        <p:spPr>
          <a:xfrm flipV="1">
            <a:off x="1483360" y="5372735"/>
            <a:ext cx="447040" cy="18178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2564" y="5529577"/>
            <a:ext cx="763351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0x12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03466" y="5500252"/>
            <a:ext cx="615874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0x7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52254" y="5488913"/>
            <a:ext cx="763351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0x18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43043" y="5493264"/>
            <a:ext cx="763351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0x19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87123" y="5493264"/>
            <a:ext cx="615874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0x1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99566" y="4309628"/>
            <a:ext cx="615874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0x2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99566" y="3527308"/>
            <a:ext cx="615874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0x3</a:t>
            </a:r>
            <a:endParaRPr lang="en-ID" dirty="0">
              <a:solidFill>
                <a:schemeClr val="accent3"/>
              </a:solidFill>
            </a:endParaRPr>
          </a:p>
        </p:txBody>
      </p:sp>
      <p:cxnSp>
        <p:nvCxnSpPr>
          <p:cNvPr id="31" name="Straight Arrow Connector 30"/>
          <p:cNvCxnSpPr>
            <a:endCxn id="9" idx="1"/>
          </p:cNvCxnSpPr>
          <p:nvPr/>
        </p:nvCxnSpPr>
        <p:spPr>
          <a:xfrm flipV="1">
            <a:off x="3139440" y="5365510"/>
            <a:ext cx="535040" cy="25403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9" idx="3"/>
            <a:endCxn id="10" idx="1"/>
          </p:cNvCxnSpPr>
          <p:nvPr/>
        </p:nvCxnSpPr>
        <p:spPr>
          <a:xfrm>
            <a:off x="5063119" y="5365510"/>
            <a:ext cx="331841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11" idx="1"/>
          </p:cNvCxnSpPr>
          <p:nvPr/>
        </p:nvCxnSpPr>
        <p:spPr>
          <a:xfrm>
            <a:off x="6499566" y="5362575"/>
            <a:ext cx="615874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endCxn id="12" idx="2"/>
          </p:cNvCxnSpPr>
          <p:nvPr/>
        </p:nvCxnSpPr>
        <p:spPr>
          <a:xfrm flipH="1" flipV="1">
            <a:off x="7809759" y="4699875"/>
            <a:ext cx="271197" cy="58201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13" idx="2"/>
          </p:cNvCxnSpPr>
          <p:nvPr/>
        </p:nvCxnSpPr>
        <p:spPr>
          <a:xfrm flipH="1" flipV="1">
            <a:off x="7770371" y="3877233"/>
            <a:ext cx="342972" cy="61706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41949" y="4954033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63009" y="4947613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937227" y="4952928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658287" y="4946508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703158" y="4974200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424218" y="4967780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409299" y="4963236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130359" y="4956816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242574" y="4963207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963634" y="4956787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227685" y="4109198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948745" y="4102778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112000" y="3297188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833060" y="3290768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CDK2AAB4 – STRUKTUR DATA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8423"/>
            <a:ext cx="5818083" cy="345289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3362960" y="3271520"/>
            <a:ext cx="1747520" cy="72136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807720" y="2194560"/>
            <a:ext cx="2975081" cy="191008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1046480" y="2042160"/>
            <a:ext cx="1788160" cy="46736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2011680" y="2661920"/>
            <a:ext cx="1630680" cy="133096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 flipV="1">
            <a:off x="2295260" y="2194560"/>
            <a:ext cx="158398" cy="193040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2374459" y="1889760"/>
            <a:ext cx="592261" cy="13208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43488" y="5187315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0x19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930400" y="5187315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74480" y="5180090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0x7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94960" y="5180090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0x18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15440" y="5177155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0x2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115440" y="4329035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0x3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076052" y="3506393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7" idx="1"/>
          </p:cNvCxnSpPr>
          <p:nvPr/>
        </p:nvCxnSpPr>
        <p:spPr>
          <a:xfrm flipV="1">
            <a:off x="1483360" y="5372735"/>
            <a:ext cx="447040" cy="18178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2564" y="5529577"/>
            <a:ext cx="763351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0x12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03466" y="5500252"/>
            <a:ext cx="615874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0x7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52254" y="5488913"/>
            <a:ext cx="763351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0x18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43043" y="5493264"/>
            <a:ext cx="763351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0x19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87123" y="5493264"/>
            <a:ext cx="615874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0x1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99566" y="4309628"/>
            <a:ext cx="615874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0x2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99566" y="3527308"/>
            <a:ext cx="615874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0x3</a:t>
            </a:r>
            <a:endParaRPr lang="en-ID" dirty="0">
              <a:solidFill>
                <a:schemeClr val="accent3"/>
              </a:solidFill>
            </a:endParaRPr>
          </a:p>
        </p:txBody>
      </p:sp>
      <p:cxnSp>
        <p:nvCxnSpPr>
          <p:cNvPr id="31" name="Straight Arrow Connector 30"/>
          <p:cNvCxnSpPr>
            <a:endCxn id="9" idx="1"/>
          </p:cNvCxnSpPr>
          <p:nvPr/>
        </p:nvCxnSpPr>
        <p:spPr>
          <a:xfrm flipV="1">
            <a:off x="3139440" y="5365510"/>
            <a:ext cx="535040" cy="25403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9" idx="3"/>
            <a:endCxn id="10" idx="1"/>
          </p:cNvCxnSpPr>
          <p:nvPr/>
        </p:nvCxnSpPr>
        <p:spPr>
          <a:xfrm>
            <a:off x="5063119" y="5365510"/>
            <a:ext cx="331841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11" idx="1"/>
          </p:cNvCxnSpPr>
          <p:nvPr/>
        </p:nvCxnSpPr>
        <p:spPr>
          <a:xfrm>
            <a:off x="6499566" y="5362575"/>
            <a:ext cx="615874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endCxn id="12" idx="2"/>
          </p:cNvCxnSpPr>
          <p:nvPr/>
        </p:nvCxnSpPr>
        <p:spPr>
          <a:xfrm flipH="1" flipV="1">
            <a:off x="7809759" y="4699875"/>
            <a:ext cx="271197" cy="58201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13" idx="2"/>
          </p:cNvCxnSpPr>
          <p:nvPr/>
        </p:nvCxnSpPr>
        <p:spPr>
          <a:xfrm flipH="1" flipV="1">
            <a:off x="7770371" y="3877233"/>
            <a:ext cx="342972" cy="61706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38900" y="1328182"/>
            <a:ext cx="615874" cy="307777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</a:rPr>
              <a:t>0x4</a:t>
            </a:r>
            <a:endParaRPr lang="en-ID" sz="1400" dirty="0">
              <a:solidFill>
                <a:schemeClr val="accent3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12306" y="1644533"/>
            <a:ext cx="615874" cy="3436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3362960" y="3271520"/>
            <a:ext cx="1747520" cy="72136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41949" y="4954033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3009" y="4947613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937227" y="4952928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658287" y="4946508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03158" y="4974200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424218" y="4967780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09299" y="4963236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130359" y="4956816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242574" y="4963207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963634" y="4956787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227685" y="4109198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948745" y="4102778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112000" y="3297188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833060" y="3290768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559977" y="1946107"/>
            <a:ext cx="48763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first</a:t>
            </a:r>
            <a:endParaRPr lang="en-ID" sz="1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CDK2AAB4 – STRUKTUR DATA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8423"/>
            <a:ext cx="5818083" cy="345289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3362960" y="3271520"/>
            <a:ext cx="1747520" cy="72136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807720" y="2194560"/>
            <a:ext cx="2975081" cy="191008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1046480" y="2042160"/>
            <a:ext cx="1788160" cy="46736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2011680" y="2661920"/>
            <a:ext cx="1630680" cy="133096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 flipV="1">
            <a:off x="2295260" y="2194560"/>
            <a:ext cx="158398" cy="193040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2374459" y="1889760"/>
            <a:ext cx="592261" cy="13208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43488" y="5187315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0x19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930400" y="5187315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74480" y="5180090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0x7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94960" y="5180090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0x18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15440" y="5177155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0x2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115440" y="4329035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0x3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076052" y="3506393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7" idx="1"/>
          </p:cNvCxnSpPr>
          <p:nvPr/>
        </p:nvCxnSpPr>
        <p:spPr>
          <a:xfrm flipV="1">
            <a:off x="1483360" y="5372735"/>
            <a:ext cx="447040" cy="18178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2564" y="5529577"/>
            <a:ext cx="763351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0x12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03466" y="5500252"/>
            <a:ext cx="615874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0x7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52254" y="5488913"/>
            <a:ext cx="763351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0x18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43043" y="5493264"/>
            <a:ext cx="763351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0x19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87123" y="5493264"/>
            <a:ext cx="615874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0x1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99566" y="4309628"/>
            <a:ext cx="615874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0x2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99566" y="3527308"/>
            <a:ext cx="615874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0x3</a:t>
            </a:r>
            <a:endParaRPr lang="en-ID" dirty="0">
              <a:solidFill>
                <a:schemeClr val="accent3"/>
              </a:solidFill>
            </a:endParaRPr>
          </a:p>
        </p:txBody>
      </p:sp>
      <p:cxnSp>
        <p:nvCxnSpPr>
          <p:cNvPr id="31" name="Straight Arrow Connector 30"/>
          <p:cNvCxnSpPr>
            <a:endCxn id="9" idx="1"/>
          </p:cNvCxnSpPr>
          <p:nvPr/>
        </p:nvCxnSpPr>
        <p:spPr>
          <a:xfrm flipV="1">
            <a:off x="3139440" y="5365510"/>
            <a:ext cx="535040" cy="25403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9" idx="3"/>
            <a:endCxn id="10" idx="1"/>
          </p:cNvCxnSpPr>
          <p:nvPr/>
        </p:nvCxnSpPr>
        <p:spPr>
          <a:xfrm>
            <a:off x="5063119" y="5365510"/>
            <a:ext cx="331841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11" idx="1"/>
          </p:cNvCxnSpPr>
          <p:nvPr/>
        </p:nvCxnSpPr>
        <p:spPr>
          <a:xfrm>
            <a:off x="6499566" y="5362575"/>
            <a:ext cx="615874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endCxn id="12" idx="2"/>
          </p:cNvCxnSpPr>
          <p:nvPr/>
        </p:nvCxnSpPr>
        <p:spPr>
          <a:xfrm flipH="1" flipV="1">
            <a:off x="7809759" y="4699875"/>
            <a:ext cx="271197" cy="58201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13" idx="2"/>
          </p:cNvCxnSpPr>
          <p:nvPr/>
        </p:nvCxnSpPr>
        <p:spPr>
          <a:xfrm flipH="1" flipV="1">
            <a:off x="7770371" y="3877233"/>
            <a:ext cx="342972" cy="61706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38900" y="1328182"/>
            <a:ext cx="615874" cy="307777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</a:rPr>
              <a:t>0x4</a:t>
            </a:r>
            <a:endParaRPr lang="en-ID" sz="1400" dirty="0">
              <a:solidFill>
                <a:schemeClr val="accent3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12306" y="1644533"/>
            <a:ext cx="615874" cy="3436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3362960" y="3271520"/>
            <a:ext cx="1747520" cy="72136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41949" y="4954033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3009" y="4947613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937227" y="4952928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658287" y="4946508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03158" y="4974200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424218" y="4967780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09299" y="4963236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130359" y="4956816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242574" y="4963207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963634" y="4956787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227685" y="4109198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948745" y="4102778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112000" y="3297188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833060" y="3290768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559977" y="1946107"/>
            <a:ext cx="48763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first</a:t>
            </a:r>
            <a:endParaRPr lang="en-ID" sz="1200" dirty="0">
              <a:solidFill>
                <a:srgbClr val="FF0000"/>
              </a:solidFill>
            </a:endParaRPr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4803794" y="1816360"/>
            <a:ext cx="0" cy="95732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t>11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CDK2AAB4 – STRUKTUR DATA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8423"/>
            <a:ext cx="5818083" cy="345289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3362960" y="3271520"/>
            <a:ext cx="1747520" cy="72136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807720" y="2194560"/>
            <a:ext cx="2975081" cy="191008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1046480" y="2042160"/>
            <a:ext cx="1788160" cy="46736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2011680" y="2661920"/>
            <a:ext cx="1630680" cy="133096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 flipV="1">
            <a:off x="2295260" y="2194560"/>
            <a:ext cx="158398" cy="193040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2374459" y="1889760"/>
            <a:ext cx="592261" cy="13208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43488" y="5187315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0x19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930400" y="5187315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74480" y="5180090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0x7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94960" y="5180090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0x18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15440" y="5177155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0x2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115440" y="4329035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0x3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076052" y="3506393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7" idx="1"/>
          </p:cNvCxnSpPr>
          <p:nvPr/>
        </p:nvCxnSpPr>
        <p:spPr>
          <a:xfrm flipV="1">
            <a:off x="1483360" y="5372735"/>
            <a:ext cx="447040" cy="18178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2564" y="5529577"/>
            <a:ext cx="763351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0x12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03466" y="5500252"/>
            <a:ext cx="615874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0x7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52254" y="5488913"/>
            <a:ext cx="763351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0x18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43043" y="5493264"/>
            <a:ext cx="763351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0x19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87123" y="5493264"/>
            <a:ext cx="615874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0x1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99566" y="4309628"/>
            <a:ext cx="615874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0x2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99566" y="3527308"/>
            <a:ext cx="615874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0x3</a:t>
            </a:r>
            <a:endParaRPr lang="en-ID" dirty="0">
              <a:solidFill>
                <a:schemeClr val="accent3"/>
              </a:solidFill>
            </a:endParaRPr>
          </a:p>
        </p:txBody>
      </p:sp>
      <p:cxnSp>
        <p:nvCxnSpPr>
          <p:cNvPr id="31" name="Straight Arrow Connector 30"/>
          <p:cNvCxnSpPr>
            <a:endCxn id="9" idx="1"/>
          </p:cNvCxnSpPr>
          <p:nvPr/>
        </p:nvCxnSpPr>
        <p:spPr>
          <a:xfrm flipV="1">
            <a:off x="3139440" y="5365510"/>
            <a:ext cx="535040" cy="25403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9" idx="3"/>
            <a:endCxn id="10" idx="1"/>
          </p:cNvCxnSpPr>
          <p:nvPr/>
        </p:nvCxnSpPr>
        <p:spPr>
          <a:xfrm>
            <a:off x="5063119" y="5365510"/>
            <a:ext cx="331841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11" idx="1"/>
          </p:cNvCxnSpPr>
          <p:nvPr/>
        </p:nvCxnSpPr>
        <p:spPr>
          <a:xfrm>
            <a:off x="6499566" y="5362575"/>
            <a:ext cx="615874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endCxn id="12" idx="2"/>
          </p:cNvCxnSpPr>
          <p:nvPr/>
        </p:nvCxnSpPr>
        <p:spPr>
          <a:xfrm flipH="1" flipV="1">
            <a:off x="7809759" y="4699875"/>
            <a:ext cx="271197" cy="58201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13" idx="2"/>
          </p:cNvCxnSpPr>
          <p:nvPr/>
        </p:nvCxnSpPr>
        <p:spPr>
          <a:xfrm flipH="1" flipV="1">
            <a:off x="7770371" y="3877233"/>
            <a:ext cx="342972" cy="61706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38900" y="1328182"/>
            <a:ext cx="615874" cy="307777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</a:rPr>
              <a:t>0x4</a:t>
            </a:r>
            <a:endParaRPr lang="en-ID" sz="1400" dirty="0">
              <a:solidFill>
                <a:schemeClr val="accent3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12306" y="1644533"/>
            <a:ext cx="615874" cy="3436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highlight>
                  <a:srgbClr val="FFFF00"/>
                </a:highlight>
              </a:rPr>
              <a:t>0x12</a:t>
            </a:r>
            <a:endParaRPr lang="en-ID" sz="1200" dirty="0">
              <a:highlight>
                <a:srgbClr val="FFFF00"/>
              </a:highlight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3362960" y="3271520"/>
            <a:ext cx="1747520" cy="72136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41949" y="4954033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3009" y="4947613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937227" y="4952928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658287" y="4946508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03158" y="4974200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424218" y="4967780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09299" y="4963236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130359" y="4956816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242574" y="4963207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963634" y="4956787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227685" y="4109198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948745" y="4102778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112000" y="3297188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833060" y="3290768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559977" y="1946107"/>
            <a:ext cx="48763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first</a:t>
            </a:r>
            <a:endParaRPr lang="en-ID" sz="1200" dirty="0">
              <a:solidFill>
                <a:srgbClr val="FF0000"/>
              </a:solidFill>
            </a:endParaRPr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4803794" y="1816360"/>
            <a:ext cx="0" cy="95732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t>12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CDK2AAB4 – STRUKTUR DATA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8423"/>
            <a:ext cx="5818083" cy="345289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3362960" y="3271520"/>
            <a:ext cx="1747520" cy="72136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807720" y="2194560"/>
            <a:ext cx="2975081" cy="191008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1046480" y="2042160"/>
            <a:ext cx="1788160" cy="46736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2011680" y="2661920"/>
            <a:ext cx="1630680" cy="133096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 flipV="1">
            <a:off x="2295260" y="2194560"/>
            <a:ext cx="158398" cy="193040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2374459" y="1889760"/>
            <a:ext cx="592261" cy="13208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43488" y="5187315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0x19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930400" y="5187315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74480" y="5180090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0x7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94960" y="5180090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0x18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15440" y="5177155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0x2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115440" y="4329035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0x3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076052" y="3506393"/>
          <a:ext cx="138863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NIL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7" idx="1"/>
          </p:cNvCxnSpPr>
          <p:nvPr/>
        </p:nvCxnSpPr>
        <p:spPr>
          <a:xfrm flipV="1">
            <a:off x="1483360" y="5372735"/>
            <a:ext cx="447040" cy="18178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2564" y="5529577"/>
            <a:ext cx="763351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0x12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03466" y="5500252"/>
            <a:ext cx="615874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0x7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52254" y="5488913"/>
            <a:ext cx="763351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0x18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43043" y="5493264"/>
            <a:ext cx="763351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0x19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87123" y="5493264"/>
            <a:ext cx="615874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0x1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99566" y="4309628"/>
            <a:ext cx="615874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0x2</a:t>
            </a:r>
            <a:endParaRPr lang="en-ID" dirty="0">
              <a:solidFill>
                <a:schemeClr val="accent3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99566" y="3527308"/>
            <a:ext cx="615874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0x3</a:t>
            </a:r>
            <a:endParaRPr lang="en-ID" dirty="0">
              <a:solidFill>
                <a:schemeClr val="accent3"/>
              </a:solidFill>
            </a:endParaRPr>
          </a:p>
        </p:txBody>
      </p:sp>
      <p:cxnSp>
        <p:nvCxnSpPr>
          <p:cNvPr id="31" name="Straight Arrow Connector 30"/>
          <p:cNvCxnSpPr>
            <a:endCxn id="9" idx="1"/>
          </p:cNvCxnSpPr>
          <p:nvPr/>
        </p:nvCxnSpPr>
        <p:spPr>
          <a:xfrm flipV="1">
            <a:off x="3139440" y="5365510"/>
            <a:ext cx="535040" cy="25403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9" idx="3"/>
            <a:endCxn id="10" idx="1"/>
          </p:cNvCxnSpPr>
          <p:nvPr/>
        </p:nvCxnSpPr>
        <p:spPr>
          <a:xfrm>
            <a:off x="5063119" y="5365510"/>
            <a:ext cx="331841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11" idx="1"/>
          </p:cNvCxnSpPr>
          <p:nvPr/>
        </p:nvCxnSpPr>
        <p:spPr>
          <a:xfrm>
            <a:off x="6499566" y="5362575"/>
            <a:ext cx="615874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endCxn id="12" idx="2"/>
          </p:cNvCxnSpPr>
          <p:nvPr/>
        </p:nvCxnSpPr>
        <p:spPr>
          <a:xfrm flipH="1" flipV="1">
            <a:off x="7809759" y="4699875"/>
            <a:ext cx="271197" cy="58201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13" idx="2"/>
          </p:cNvCxnSpPr>
          <p:nvPr/>
        </p:nvCxnSpPr>
        <p:spPr>
          <a:xfrm flipH="1" flipV="1">
            <a:off x="7770371" y="3877233"/>
            <a:ext cx="342972" cy="61706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38900" y="1328182"/>
            <a:ext cx="615874" cy="307777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</a:rPr>
              <a:t>0x4</a:t>
            </a:r>
            <a:endParaRPr lang="en-ID" sz="1400" dirty="0">
              <a:solidFill>
                <a:schemeClr val="accent3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12306" y="1644533"/>
            <a:ext cx="615874" cy="3436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highlight>
                  <a:srgbClr val="FFFF00"/>
                </a:highlight>
              </a:rPr>
              <a:t>0x12</a:t>
            </a:r>
            <a:endParaRPr lang="en-ID" sz="1200" dirty="0"/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3362960" y="3271520"/>
            <a:ext cx="1747520" cy="72136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41949" y="4954033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3009" y="4947613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937227" y="4952928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658287" y="4946508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03158" y="4974200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424218" y="4967780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09299" y="4963236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130359" y="4956816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242574" y="4963207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963634" y="4956787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227685" y="4109198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948745" y="4102778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112000" y="3297188"/>
            <a:ext cx="47160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833060" y="3290768"/>
            <a:ext cx="526106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559977" y="1946107"/>
            <a:ext cx="48763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first</a:t>
            </a:r>
            <a:endParaRPr lang="en-ID" sz="1200" dirty="0">
              <a:solidFill>
                <a:srgbClr val="FF0000"/>
              </a:solidFill>
            </a:endParaRPr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4803794" y="1816360"/>
            <a:ext cx="0" cy="95732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937227" y="5917206"/>
            <a:ext cx="615874" cy="3436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highlight>
                  <a:srgbClr val="FFFF00"/>
                </a:highlight>
              </a:rPr>
              <a:t>0x12</a:t>
            </a:r>
            <a:endParaRPr lang="en-ID" sz="1200" dirty="0"/>
          </a:p>
        </p:txBody>
      </p:sp>
      <p:sp>
        <p:nvSpPr>
          <p:cNvPr id="49" name="TextBox 48"/>
          <p:cNvSpPr txBox="1"/>
          <p:nvPr/>
        </p:nvSpPr>
        <p:spPr>
          <a:xfrm>
            <a:off x="2513218" y="5933677"/>
            <a:ext cx="48763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first</a:t>
            </a:r>
            <a:endParaRPr lang="en-ID" sz="1200" dirty="0">
              <a:solidFill>
                <a:srgbClr val="FF0000"/>
              </a:solidFill>
            </a:endParaRPr>
          </a:p>
        </p:txBody>
      </p:sp>
      <p:cxnSp>
        <p:nvCxnSpPr>
          <p:cNvPr id="53" name="Straight Arrow Connector 52"/>
          <p:cNvCxnSpPr/>
          <p:nvPr/>
        </p:nvCxnSpPr>
        <p:spPr>
          <a:xfrm flipH="1" flipV="1">
            <a:off x="1324674" y="5581939"/>
            <a:ext cx="848355" cy="507094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540" y="1328420"/>
            <a:ext cx="1389380" cy="135699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t>13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CDK2AAB4 – STRUKTUR DATA</a:t>
            </a:r>
          </a:p>
        </p:txBody>
      </p:sp>
      <p:pic>
        <p:nvPicPr>
          <p:cNvPr id="171" name="Picture 1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36" y="1298022"/>
            <a:ext cx="8696231" cy="3223490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t>14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CDK2AAB4 – STRUKTUR DATA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36" y="1298022"/>
            <a:ext cx="8696231" cy="3223490"/>
          </a:xfrm>
          <a:prstGeom prst="rect">
            <a:avLst/>
          </a:prstGeom>
        </p:spPr>
      </p:pic>
      <p:sp>
        <p:nvSpPr>
          <p:cNvPr id="138" name="Rectangle 137"/>
          <p:cNvSpPr/>
          <p:nvPr/>
        </p:nvSpPr>
        <p:spPr>
          <a:xfrm>
            <a:off x="0" y="4500880"/>
            <a:ext cx="9144000" cy="1717040"/>
          </a:xfrm>
          <a:prstGeom prst="rect">
            <a:avLst/>
          </a:prstGeom>
          <a:gradFill>
            <a:gsLst>
              <a:gs pos="0">
                <a:srgbClr val="FFFF00"/>
              </a:gs>
              <a:gs pos="35000">
                <a:srgbClr val="FFFF00"/>
              </a:gs>
              <a:gs pos="100000">
                <a:srgbClr val="FFFF00"/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9" name="Rectangle 138"/>
          <p:cNvSpPr/>
          <p:nvPr/>
        </p:nvSpPr>
        <p:spPr>
          <a:xfrm>
            <a:off x="132809" y="4751212"/>
            <a:ext cx="615874" cy="3436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sz="1200" dirty="0"/>
          </a:p>
        </p:txBody>
      </p:sp>
      <p:sp>
        <p:nvSpPr>
          <p:cNvPr id="140" name="TextBox 139"/>
          <p:cNvSpPr txBox="1"/>
          <p:nvPr/>
        </p:nvSpPr>
        <p:spPr>
          <a:xfrm>
            <a:off x="205599" y="4531432"/>
            <a:ext cx="48763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first</a:t>
            </a:r>
            <a:endParaRPr lang="en-ID" sz="1200" dirty="0">
              <a:solidFill>
                <a:srgbClr val="FF0000"/>
              </a:solidFill>
            </a:endParaRPr>
          </a:p>
        </p:txBody>
      </p:sp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310439" y="5488789"/>
          <a:ext cx="97242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340561" y="5808561"/>
            <a:ext cx="471604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817781" y="5802141"/>
            <a:ext cx="526106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1644633" y="5488789"/>
          <a:ext cx="97242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TextBox 144"/>
          <p:cNvSpPr txBox="1"/>
          <p:nvPr/>
        </p:nvSpPr>
        <p:spPr>
          <a:xfrm>
            <a:off x="1674755" y="5808561"/>
            <a:ext cx="471604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151975" y="5802141"/>
            <a:ext cx="526106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cxnSp>
        <p:nvCxnSpPr>
          <p:cNvPr id="147" name="Straight Arrow Connector 146"/>
          <p:cNvCxnSpPr>
            <a:endCxn id="141" idx="0"/>
          </p:cNvCxnSpPr>
          <p:nvPr/>
        </p:nvCxnSpPr>
        <p:spPr>
          <a:xfrm>
            <a:off x="389908" y="4934305"/>
            <a:ext cx="406743" cy="554484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endCxn id="144" idx="1"/>
          </p:cNvCxnSpPr>
          <p:nvPr/>
        </p:nvCxnSpPr>
        <p:spPr>
          <a:xfrm>
            <a:off x="1080834" y="5673836"/>
            <a:ext cx="563799" cy="373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49" name="Table 148"/>
          <p:cNvGraphicFramePr>
            <a:graphicFrameLocks noGrp="1"/>
          </p:cNvGraphicFramePr>
          <p:nvPr/>
        </p:nvGraphicFramePr>
        <p:xfrm>
          <a:off x="2917804" y="5488789"/>
          <a:ext cx="97242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0" name="TextBox 149"/>
          <p:cNvSpPr txBox="1"/>
          <p:nvPr/>
        </p:nvSpPr>
        <p:spPr>
          <a:xfrm>
            <a:off x="2947926" y="5808561"/>
            <a:ext cx="471604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3425146" y="5802141"/>
            <a:ext cx="526106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graphicFrame>
        <p:nvGraphicFramePr>
          <p:cNvPr id="152" name="Table 151"/>
          <p:cNvGraphicFramePr>
            <a:graphicFrameLocks noGrp="1"/>
          </p:cNvGraphicFramePr>
          <p:nvPr/>
        </p:nvGraphicFramePr>
        <p:xfrm>
          <a:off x="4205583" y="5488789"/>
          <a:ext cx="97242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4235705" y="5808561"/>
            <a:ext cx="471604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4712925" y="5802141"/>
            <a:ext cx="526106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graphicFrame>
        <p:nvGraphicFramePr>
          <p:cNvPr id="155" name="Table 154"/>
          <p:cNvGraphicFramePr>
            <a:graphicFrameLocks noGrp="1"/>
          </p:cNvGraphicFramePr>
          <p:nvPr/>
        </p:nvGraphicFramePr>
        <p:xfrm>
          <a:off x="5394690" y="5492333"/>
          <a:ext cx="97242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6" name="TextBox 155"/>
          <p:cNvSpPr txBox="1"/>
          <p:nvPr/>
        </p:nvSpPr>
        <p:spPr>
          <a:xfrm>
            <a:off x="5424812" y="5812105"/>
            <a:ext cx="471604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5902032" y="5805685"/>
            <a:ext cx="526106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graphicFrame>
        <p:nvGraphicFramePr>
          <p:cNvPr id="158" name="Table 157"/>
          <p:cNvGraphicFramePr>
            <a:graphicFrameLocks noGrp="1"/>
          </p:cNvGraphicFramePr>
          <p:nvPr/>
        </p:nvGraphicFramePr>
        <p:xfrm>
          <a:off x="6660443" y="5497969"/>
          <a:ext cx="97242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9" name="TextBox 158"/>
          <p:cNvSpPr txBox="1"/>
          <p:nvPr/>
        </p:nvSpPr>
        <p:spPr>
          <a:xfrm>
            <a:off x="6690565" y="5817741"/>
            <a:ext cx="471604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7167785" y="5811321"/>
            <a:ext cx="526106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graphicFrame>
        <p:nvGraphicFramePr>
          <p:cNvPr id="161" name="Table 160"/>
          <p:cNvGraphicFramePr>
            <a:graphicFrameLocks noGrp="1"/>
          </p:cNvGraphicFramePr>
          <p:nvPr/>
        </p:nvGraphicFramePr>
        <p:xfrm>
          <a:off x="7991342" y="5488789"/>
          <a:ext cx="97242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2" name="TextBox 161"/>
          <p:cNvSpPr txBox="1"/>
          <p:nvPr/>
        </p:nvSpPr>
        <p:spPr>
          <a:xfrm>
            <a:off x="8021464" y="5808561"/>
            <a:ext cx="471604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8498684" y="5802141"/>
            <a:ext cx="526106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cxnSp>
        <p:nvCxnSpPr>
          <p:cNvPr id="164" name="Straight Arrow Connector 163"/>
          <p:cNvCxnSpPr>
            <a:endCxn id="149" idx="1"/>
          </p:cNvCxnSpPr>
          <p:nvPr/>
        </p:nvCxnSpPr>
        <p:spPr>
          <a:xfrm>
            <a:off x="2408831" y="5669117"/>
            <a:ext cx="508973" cy="509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>
            <a:endCxn id="152" idx="1"/>
          </p:cNvCxnSpPr>
          <p:nvPr/>
        </p:nvCxnSpPr>
        <p:spPr>
          <a:xfrm>
            <a:off x="3703158" y="5673836"/>
            <a:ext cx="502425" cy="373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endCxn id="155" idx="1"/>
          </p:cNvCxnSpPr>
          <p:nvPr/>
        </p:nvCxnSpPr>
        <p:spPr>
          <a:xfrm>
            <a:off x="4932141" y="5668744"/>
            <a:ext cx="462549" cy="9009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>
            <a:endCxn id="158" idx="1"/>
          </p:cNvCxnSpPr>
          <p:nvPr/>
        </p:nvCxnSpPr>
        <p:spPr>
          <a:xfrm>
            <a:off x="6139764" y="5666198"/>
            <a:ext cx="520679" cy="1719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>
            <a:endCxn id="161" idx="1"/>
          </p:cNvCxnSpPr>
          <p:nvPr/>
        </p:nvCxnSpPr>
        <p:spPr>
          <a:xfrm flipV="1">
            <a:off x="7347802" y="5674209"/>
            <a:ext cx="643540" cy="918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/>
          <p:nvPr/>
        </p:nvCxnSpPr>
        <p:spPr>
          <a:xfrm>
            <a:off x="8580201" y="5497969"/>
            <a:ext cx="383566" cy="36121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t>15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CDK2AAB4 – STRUKTUR DATA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32809" y="2048652"/>
            <a:ext cx="615874" cy="3436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sz="1200" dirty="0"/>
          </a:p>
        </p:txBody>
      </p:sp>
      <p:sp>
        <p:nvSpPr>
          <p:cNvPr id="140" name="TextBox 139"/>
          <p:cNvSpPr txBox="1"/>
          <p:nvPr/>
        </p:nvSpPr>
        <p:spPr>
          <a:xfrm>
            <a:off x="205599" y="1828872"/>
            <a:ext cx="48763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first</a:t>
            </a:r>
            <a:endParaRPr lang="en-ID" sz="1200" dirty="0">
              <a:solidFill>
                <a:srgbClr val="FF0000"/>
              </a:solidFill>
            </a:endParaRPr>
          </a:p>
        </p:txBody>
      </p:sp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310439" y="2786229"/>
          <a:ext cx="97242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340561" y="3106001"/>
            <a:ext cx="471604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817781" y="3099581"/>
            <a:ext cx="526106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1644633" y="2786229"/>
          <a:ext cx="97242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TextBox 144"/>
          <p:cNvSpPr txBox="1"/>
          <p:nvPr/>
        </p:nvSpPr>
        <p:spPr>
          <a:xfrm>
            <a:off x="1674755" y="3106001"/>
            <a:ext cx="471604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151975" y="3099581"/>
            <a:ext cx="526106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cxnSp>
        <p:nvCxnSpPr>
          <p:cNvPr id="147" name="Straight Arrow Connector 146"/>
          <p:cNvCxnSpPr>
            <a:endCxn id="141" idx="0"/>
          </p:cNvCxnSpPr>
          <p:nvPr/>
        </p:nvCxnSpPr>
        <p:spPr>
          <a:xfrm>
            <a:off x="389908" y="2231745"/>
            <a:ext cx="406743" cy="554484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endCxn id="144" idx="1"/>
          </p:cNvCxnSpPr>
          <p:nvPr/>
        </p:nvCxnSpPr>
        <p:spPr>
          <a:xfrm>
            <a:off x="1080834" y="2971276"/>
            <a:ext cx="563799" cy="373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49" name="Table 148"/>
          <p:cNvGraphicFramePr>
            <a:graphicFrameLocks noGrp="1"/>
          </p:cNvGraphicFramePr>
          <p:nvPr/>
        </p:nvGraphicFramePr>
        <p:xfrm>
          <a:off x="2917804" y="2786229"/>
          <a:ext cx="97242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0" name="TextBox 149"/>
          <p:cNvSpPr txBox="1"/>
          <p:nvPr/>
        </p:nvSpPr>
        <p:spPr>
          <a:xfrm>
            <a:off x="2947926" y="3106001"/>
            <a:ext cx="471604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3425146" y="3099581"/>
            <a:ext cx="526106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graphicFrame>
        <p:nvGraphicFramePr>
          <p:cNvPr id="152" name="Table 151"/>
          <p:cNvGraphicFramePr>
            <a:graphicFrameLocks noGrp="1"/>
          </p:cNvGraphicFramePr>
          <p:nvPr/>
        </p:nvGraphicFramePr>
        <p:xfrm>
          <a:off x="4205583" y="2786229"/>
          <a:ext cx="97242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4235705" y="3106001"/>
            <a:ext cx="471604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4712925" y="3099581"/>
            <a:ext cx="526106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graphicFrame>
        <p:nvGraphicFramePr>
          <p:cNvPr id="155" name="Table 154"/>
          <p:cNvGraphicFramePr>
            <a:graphicFrameLocks noGrp="1"/>
          </p:cNvGraphicFramePr>
          <p:nvPr/>
        </p:nvGraphicFramePr>
        <p:xfrm>
          <a:off x="5394690" y="2789773"/>
          <a:ext cx="97242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6" name="TextBox 155"/>
          <p:cNvSpPr txBox="1"/>
          <p:nvPr/>
        </p:nvSpPr>
        <p:spPr>
          <a:xfrm>
            <a:off x="5424812" y="3109545"/>
            <a:ext cx="471604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5902032" y="3103125"/>
            <a:ext cx="526106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graphicFrame>
        <p:nvGraphicFramePr>
          <p:cNvPr id="158" name="Table 157"/>
          <p:cNvGraphicFramePr>
            <a:graphicFrameLocks noGrp="1"/>
          </p:cNvGraphicFramePr>
          <p:nvPr/>
        </p:nvGraphicFramePr>
        <p:xfrm>
          <a:off x="6660443" y="2795409"/>
          <a:ext cx="97242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9" name="TextBox 158"/>
          <p:cNvSpPr txBox="1"/>
          <p:nvPr/>
        </p:nvSpPr>
        <p:spPr>
          <a:xfrm>
            <a:off x="6690565" y="3115181"/>
            <a:ext cx="471604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7167785" y="3108761"/>
            <a:ext cx="526106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graphicFrame>
        <p:nvGraphicFramePr>
          <p:cNvPr id="161" name="Table 160"/>
          <p:cNvGraphicFramePr>
            <a:graphicFrameLocks noGrp="1"/>
          </p:cNvGraphicFramePr>
          <p:nvPr/>
        </p:nvGraphicFramePr>
        <p:xfrm>
          <a:off x="7991342" y="2786229"/>
          <a:ext cx="97242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2" name="TextBox 161"/>
          <p:cNvSpPr txBox="1"/>
          <p:nvPr/>
        </p:nvSpPr>
        <p:spPr>
          <a:xfrm>
            <a:off x="8021464" y="3106001"/>
            <a:ext cx="471604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8498684" y="3099581"/>
            <a:ext cx="526106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cxnSp>
        <p:nvCxnSpPr>
          <p:cNvPr id="164" name="Straight Arrow Connector 163"/>
          <p:cNvCxnSpPr>
            <a:endCxn id="149" idx="1"/>
          </p:cNvCxnSpPr>
          <p:nvPr/>
        </p:nvCxnSpPr>
        <p:spPr>
          <a:xfrm>
            <a:off x="2408831" y="2966557"/>
            <a:ext cx="508973" cy="509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>
            <a:endCxn id="152" idx="1"/>
          </p:cNvCxnSpPr>
          <p:nvPr/>
        </p:nvCxnSpPr>
        <p:spPr>
          <a:xfrm>
            <a:off x="3703158" y="2971276"/>
            <a:ext cx="502425" cy="373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endCxn id="155" idx="1"/>
          </p:cNvCxnSpPr>
          <p:nvPr/>
        </p:nvCxnSpPr>
        <p:spPr>
          <a:xfrm>
            <a:off x="4932141" y="2966184"/>
            <a:ext cx="462549" cy="9009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>
            <a:endCxn id="158" idx="1"/>
          </p:cNvCxnSpPr>
          <p:nvPr/>
        </p:nvCxnSpPr>
        <p:spPr>
          <a:xfrm>
            <a:off x="6139764" y="2963638"/>
            <a:ext cx="520679" cy="1719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>
            <a:endCxn id="161" idx="1"/>
          </p:cNvCxnSpPr>
          <p:nvPr/>
        </p:nvCxnSpPr>
        <p:spPr>
          <a:xfrm flipV="1">
            <a:off x="7347802" y="2971649"/>
            <a:ext cx="643540" cy="918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/>
          <p:nvPr/>
        </p:nvCxnSpPr>
        <p:spPr>
          <a:xfrm flipH="1">
            <a:off x="8587153" y="2812995"/>
            <a:ext cx="364890" cy="31059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t>16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CDK2AAB4 – STRUKTUR DATA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32809" y="2048652"/>
            <a:ext cx="615874" cy="3436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sz="1200" dirty="0"/>
          </a:p>
        </p:txBody>
      </p:sp>
      <p:sp>
        <p:nvSpPr>
          <p:cNvPr id="140" name="TextBox 139"/>
          <p:cNvSpPr txBox="1"/>
          <p:nvPr/>
        </p:nvSpPr>
        <p:spPr>
          <a:xfrm>
            <a:off x="205599" y="1828872"/>
            <a:ext cx="487634" cy="276999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first</a:t>
            </a:r>
            <a:endParaRPr lang="en-ID" sz="1200" dirty="0">
              <a:solidFill>
                <a:srgbClr val="FF0000"/>
              </a:solidFill>
            </a:endParaRPr>
          </a:p>
        </p:txBody>
      </p:sp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310439" y="2786229"/>
          <a:ext cx="97242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340561" y="3106001"/>
            <a:ext cx="471604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817781" y="3099581"/>
            <a:ext cx="526106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1644633" y="2786229"/>
          <a:ext cx="97242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TextBox 144"/>
          <p:cNvSpPr txBox="1"/>
          <p:nvPr/>
        </p:nvSpPr>
        <p:spPr>
          <a:xfrm>
            <a:off x="1674755" y="3106001"/>
            <a:ext cx="471604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151975" y="3099581"/>
            <a:ext cx="526106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cxnSp>
        <p:nvCxnSpPr>
          <p:cNvPr id="147" name="Straight Arrow Connector 146"/>
          <p:cNvCxnSpPr>
            <a:endCxn id="141" idx="0"/>
          </p:cNvCxnSpPr>
          <p:nvPr/>
        </p:nvCxnSpPr>
        <p:spPr>
          <a:xfrm>
            <a:off x="389908" y="2231745"/>
            <a:ext cx="406743" cy="554484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endCxn id="144" idx="1"/>
          </p:cNvCxnSpPr>
          <p:nvPr/>
        </p:nvCxnSpPr>
        <p:spPr>
          <a:xfrm>
            <a:off x="1080834" y="2971276"/>
            <a:ext cx="563799" cy="373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49" name="Table 148"/>
          <p:cNvGraphicFramePr>
            <a:graphicFrameLocks noGrp="1"/>
          </p:cNvGraphicFramePr>
          <p:nvPr/>
        </p:nvGraphicFramePr>
        <p:xfrm>
          <a:off x="2917804" y="2786229"/>
          <a:ext cx="97242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0" name="TextBox 149"/>
          <p:cNvSpPr txBox="1"/>
          <p:nvPr/>
        </p:nvSpPr>
        <p:spPr>
          <a:xfrm>
            <a:off x="2947926" y="3106001"/>
            <a:ext cx="471604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3425146" y="3099581"/>
            <a:ext cx="526106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graphicFrame>
        <p:nvGraphicFramePr>
          <p:cNvPr id="152" name="Table 151"/>
          <p:cNvGraphicFramePr>
            <a:graphicFrameLocks noGrp="1"/>
          </p:cNvGraphicFramePr>
          <p:nvPr/>
        </p:nvGraphicFramePr>
        <p:xfrm>
          <a:off x="4205583" y="2786229"/>
          <a:ext cx="97242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4235705" y="3106001"/>
            <a:ext cx="471604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4712925" y="3099581"/>
            <a:ext cx="526106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graphicFrame>
        <p:nvGraphicFramePr>
          <p:cNvPr id="155" name="Table 154"/>
          <p:cNvGraphicFramePr>
            <a:graphicFrameLocks noGrp="1"/>
          </p:cNvGraphicFramePr>
          <p:nvPr/>
        </p:nvGraphicFramePr>
        <p:xfrm>
          <a:off x="5394690" y="2789773"/>
          <a:ext cx="97242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6" name="TextBox 155"/>
          <p:cNvSpPr txBox="1"/>
          <p:nvPr/>
        </p:nvSpPr>
        <p:spPr>
          <a:xfrm>
            <a:off x="5424812" y="3109545"/>
            <a:ext cx="471604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5902032" y="3103125"/>
            <a:ext cx="526106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graphicFrame>
        <p:nvGraphicFramePr>
          <p:cNvPr id="158" name="Table 157"/>
          <p:cNvGraphicFramePr>
            <a:graphicFrameLocks noGrp="1"/>
          </p:cNvGraphicFramePr>
          <p:nvPr/>
        </p:nvGraphicFramePr>
        <p:xfrm>
          <a:off x="6660443" y="2795409"/>
          <a:ext cx="97242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9" name="TextBox 158"/>
          <p:cNvSpPr txBox="1"/>
          <p:nvPr/>
        </p:nvSpPr>
        <p:spPr>
          <a:xfrm>
            <a:off x="6690565" y="3115181"/>
            <a:ext cx="471604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7167785" y="3108761"/>
            <a:ext cx="526106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graphicFrame>
        <p:nvGraphicFramePr>
          <p:cNvPr id="161" name="Table 160"/>
          <p:cNvGraphicFramePr>
            <a:graphicFrameLocks noGrp="1"/>
          </p:cNvGraphicFramePr>
          <p:nvPr/>
        </p:nvGraphicFramePr>
        <p:xfrm>
          <a:off x="7991342" y="2786229"/>
          <a:ext cx="97242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2" name="TextBox 161"/>
          <p:cNvSpPr txBox="1"/>
          <p:nvPr/>
        </p:nvSpPr>
        <p:spPr>
          <a:xfrm>
            <a:off x="8021464" y="3106001"/>
            <a:ext cx="471604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</a:t>
            </a:r>
            <a:endParaRPr lang="en-ID" sz="1200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8498684" y="3099581"/>
            <a:ext cx="526106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next</a:t>
            </a:r>
            <a:endParaRPr lang="en-ID" sz="1200" dirty="0">
              <a:solidFill>
                <a:srgbClr val="FF0000"/>
              </a:solidFill>
            </a:endParaRPr>
          </a:p>
        </p:txBody>
      </p:sp>
      <p:cxnSp>
        <p:nvCxnSpPr>
          <p:cNvPr id="164" name="Straight Arrow Connector 163"/>
          <p:cNvCxnSpPr>
            <a:endCxn id="149" idx="1"/>
          </p:cNvCxnSpPr>
          <p:nvPr/>
        </p:nvCxnSpPr>
        <p:spPr>
          <a:xfrm>
            <a:off x="2408831" y="2966557"/>
            <a:ext cx="508973" cy="509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>
            <a:endCxn id="152" idx="1"/>
          </p:cNvCxnSpPr>
          <p:nvPr/>
        </p:nvCxnSpPr>
        <p:spPr>
          <a:xfrm>
            <a:off x="3703158" y="2971276"/>
            <a:ext cx="502425" cy="373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endCxn id="155" idx="1"/>
          </p:cNvCxnSpPr>
          <p:nvPr/>
        </p:nvCxnSpPr>
        <p:spPr>
          <a:xfrm>
            <a:off x="4932141" y="2966184"/>
            <a:ext cx="462549" cy="9009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>
            <a:endCxn id="158" idx="1"/>
          </p:cNvCxnSpPr>
          <p:nvPr/>
        </p:nvCxnSpPr>
        <p:spPr>
          <a:xfrm>
            <a:off x="6139764" y="2963638"/>
            <a:ext cx="520679" cy="1719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>
            <a:endCxn id="161" idx="1"/>
          </p:cNvCxnSpPr>
          <p:nvPr/>
        </p:nvCxnSpPr>
        <p:spPr>
          <a:xfrm flipV="1">
            <a:off x="7347802" y="2971649"/>
            <a:ext cx="643540" cy="918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" name="Picture 5" descr="list linear-definsi list"/>
          <p:cNvPicPr>
            <a:picLocks noChangeAspect="1" noChangeArrowheads="1"/>
          </p:cNvPicPr>
          <p:nvPr/>
        </p:nvPicPr>
        <p:blipFill>
          <a:blip r:embed="rId2" cstate="print"/>
          <a:srcRect l="3125" t="15907" r="3125" b="37001"/>
          <a:stretch>
            <a:fillRect/>
          </a:stretch>
        </p:blipFill>
        <p:spPr bwMode="auto">
          <a:xfrm>
            <a:off x="2225040" y="4514050"/>
            <a:ext cx="4435522" cy="1007533"/>
          </a:xfrm>
          <a:prstGeom prst="rect">
            <a:avLst/>
          </a:prstGeom>
          <a:noFill/>
        </p:spPr>
      </p:pic>
      <p:cxnSp>
        <p:nvCxnSpPr>
          <p:cNvPr id="5" name="Straight Arrow Connector 4"/>
          <p:cNvCxnSpPr/>
          <p:nvPr/>
        </p:nvCxnSpPr>
        <p:spPr>
          <a:xfrm flipH="1">
            <a:off x="8587153" y="2812995"/>
            <a:ext cx="364890" cy="31059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890" y="4178300"/>
            <a:ext cx="1390015" cy="134302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760" y="2009775"/>
            <a:ext cx="8314055" cy="4057015"/>
          </a:xfrm>
        </p:spPr>
        <p:txBody>
          <a:bodyPr/>
          <a:lstStyle/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Sekumpulan elemen bertipe sama yang mempunyai urutan tertentu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17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</a:rPr>
              <a:t>Linked List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6010" y="3658870"/>
            <a:ext cx="4678680" cy="96202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74690" y="3110230"/>
            <a:ext cx="1424940" cy="4699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2000">
                <a:latin typeface="Arial" panose="02080604020202020204" pitchFamily="34" charset="0"/>
                <a:cs typeface="Arial" panose="02080604020202020204" pitchFamily="34" charset="0"/>
              </a:rPr>
              <a:t>elemen</a:t>
            </a:r>
          </a:p>
        </p:txBody>
      </p:sp>
      <p:cxnSp>
        <p:nvCxnSpPr>
          <p:cNvPr id="10" name="Straight Arrow Connector 9"/>
          <p:cNvCxnSpPr>
            <a:stCxn id="9" idx="1"/>
          </p:cNvCxnSpPr>
          <p:nvPr/>
        </p:nvCxnSpPr>
        <p:spPr>
          <a:xfrm flipH="1">
            <a:off x="2453640" y="3345180"/>
            <a:ext cx="3321050" cy="10814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3874135" y="3345180"/>
            <a:ext cx="1900555" cy="10814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5136515" y="3345180"/>
            <a:ext cx="638175" cy="10814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10895" y="3580130"/>
            <a:ext cx="5438775" cy="1212850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4" name="Left Arrow 13"/>
          <p:cNvSpPr/>
          <p:nvPr/>
        </p:nvSpPr>
        <p:spPr>
          <a:xfrm>
            <a:off x="6592570" y="3879215"/>
            <a:ext cx="1513840" cy="741680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2000">
                <a:latin typeface="Arial" panose="02080604020202020204" pitchFamily="34" charset="0"/>
                <a:cs typeface="Arial" panose="02080604020202020204" pitchFamily="34" charset="0"/>
              </a:rPr>
              <a:t>List</a:t>
            </a:r>
          </a:p>
        </p:txBody>
      </p:sp>
      <p:pic>
        <p:nvPicPr>
          <p:cNvPr id="1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6510" y="4969510"/>
            <a:ext cx="1043305" cy="109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t>18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 List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CDK2AAB4 – STRUKTUR DATA</a:t>
            </a:r>
          </a:p>
        </p:txBody>
      </p:sp>
      <p:sp>
        <p:nvSpPr>
          <p:cNvPr id="2" name="Rectangle 1"/>
          <p:cNvSpPr/>
          <p:nvPr/>
        </p:nvSpPr>
        <p:spPr>
          <a:xfrm>
            <a:off x="5999454" y="1949433"/>
            <a:ext cx="2778785" cy="14033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96173" y="2394216"/>
            <a:ext cx="1440160" cy="576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18415" cmpd="sng">
                <a:solidFill>
                  <a:sysClr val="windowText" lastClr="000000"/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52098" y="2394216"/>
            <a:ext cx="1104789" cy="5760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31709" y="1949433"/>
            <a:ext cx="10230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ElmList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519779" y="2914451"/>
            <a:ext cx="684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info</a:t>
            </a:r>
            <a:endParaRPr lang="en-US" b="1" dirty="0"/>
          </a:p>
        </p:txBody>
      </p:sp>
      <p:sp>
        <p:nvSpPr>
          <p:cNvPr id="16" name="Rectangle 15"/>
          <p:cNvSpPr/>
          <p:nvPr/>
        </p:nvSpPr>
        <p:spPr>
          <a:xfrm>
            <a:off x="7596108" y="2914451"/>
            <a:ext cx="763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</a:t>
            </a:r>
            <a:endParaRPr lang="en-US" b="1" dirty="0"/>
          </a:p>
        </p:txBody>
      </p:sp>
      <p:sp>
        <p:nvSpPr>
          <p:cNvPr id="17" name="Rectangle 16"/>
          <p:cNvSpPr/>
          <p:nvPr/>
        </p:nvSpPr>
        <p:spPr>
          <a:xfrm>
            <a:off x="6014966" y="2378438"/>
            <a:ext cx="11581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Infotype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469459" y="2377151"/>
            <a:ext cx="1106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Address</a:t>
            </a:r>
            <a:endParaRPr lang="en-US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759" y="2585545"/>
            <a:ext cx="4592321" cy="234380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u="sng" dirty="0"/>
              <a:t>type</a:t>
            </a:r>
            <a:r>
              <a:rPr lang="en-US" dirty="0"/>
              <a:t> </a:t>
            </a:r>
            <a:r>
              <a:rPr lang="en-US" dirty="0" err="1"/>
              <a:t>ElmList</a:t>
            </a:r>
            <a:r>
              <a:rPr lang="en-US" dirty="0"/>
              <a:t> &lt;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info  : </a:t>
            </a:r>
            <a:r>
              <a:rPr lang="en-US" u="sng" dirty="0">
                <a:highlight>
                  <a:srgbClr val="FFFF00"/>
                </a:highlight>
              </a:rPr>
              <a:t>integer</a:t>
            </a:r>
            <a:r>
              <a:rPr lang="en-US" dirty="0"/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next : </a:t>
            </a:r>
            <a:r>
              <a:rPr lang="en-US" u="sng" dirty="0"/>
              <a:t>pointer to</a:t>
            </a:r>
            <a:r>
              <a:rPr lang="en-US" dirty="0"/>
              <a:t> </a:t>
            </a:r>
            <a:r>
              <a:rPr lang="en-US" dirty="0" err="1"/>
              <a:t>ElmList</a:t>
            </a: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&gt;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t>19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 List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CDK2AAB4 – STRUKTUR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9454" y="1949433"/>
            <a:ext cx="2778785" cy="14033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096173" y="2394216"/>
            <a:ext cx="1440160" cy="576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18415" cmpd="sng">
                <a:solidFill>
                  <a:sysClr val="windowText" lastClr="000000"/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552098" y="2394216"/>
            <a:ext cx="1104789" cy="5760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31709" y="1949433"/>
            <a:ext cx="10230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ElmList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519779" y="2914451"/>
            <a:ext cx="684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info</a:t>
            </a:r>
            <a:endParaRPr lang="en-US" b="1" dirty="0"/>
          </a:p>
        </p:txBody>
      </p:sp>
      <p:sp>
        <p:nvSpPr>
          <p:cNvPr id="17" name="Rectangle 16"/>
          <p:cNvSpPr/>
          <p:nvPr/>
        </p:nvSpPr>
        <p:spPr>
          <a:xfrm>
            <a:off x="7596108" y="2914451"/>
            <a:ext cx="763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</a:t>
            </a:r>
            <a:endParaRPr lang="en-US" b="1" dirty="0"/>
          </a:p>
        </p:txBody>
      </p:sp>
      <p:sp>
        <p:nvSpPr>
          <p:cNvPr id="18" name="Rectangle 17"/>
          <p:cNvSpPr/>
          <p:nvPr/>
        </p:nvSpPr>
        <p:spPr>
          <a:xfrm>
            <a:off x="6014966" y="2378438"/>
            <a:ext cx="11581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Infotype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469459" y="2377151"/>
            <a:ext cx="1106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Address</a:t>
            </a:r>
            <a:endParaRPr lang="en-US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759" y="2585545"/>
            <a:ext cx="4592321" cy="234380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u="sng" dirty="0"/>
              <a:t>type</a:t>
            </a:r>
            <a:r>
              <a:rPr lang="en-US" dirty="0"/>
              <a:t> </a:t>
            </a:r>
            <a:r>
              <a:rPr lang="en-US" dirty="0" err="1"/>
              <a:t>ElmList</a:t>
            </a:r>
            <a:r>
              <a:rPr lang="en-US" dirty="0"/>
              <a:t> &lt;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info  : </a:t>
            </a:r>
            <a:r>
              <a:rPr lang="en-US" u="sng" dirty="0">
                <a:highlight>
                  <a:srgbClr val="FFFF00"/>
                </a:highlight>
              </a:rPr>
              <a:t>string</a:t>
            </a:r>
            <a:r>
              <a:rPr lang="en-US" dirty="0"/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next : </a:t>
            </a:r>
            <a:r>
              <a:rPr lang="en-US" u="sng" dirty="0"/>
              <a:t>pointer to</a:t>
            </a:r>
            <a:r>
              <a:rPr lang="en-US" dirty="0"/>
              <a:t> </a:t>
            </a:r>
            <a:r>
              <a:rPr lang="en-US" dirty="0" err="1"/>
              <a:t>ElmList</a:t>
            </a:r>
            <a:endParaRPr lang="en-US" u="sng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&gt;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t>20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 List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CDK2AAB4 – STRUKTUR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9454" y="1949433"/>
            <a:ext cx="2778785" cy="14033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096173" y="2394216"/>
            <a:ext cx="1440160" cy="576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18415" cmpd="sng">
                <a:solidFill>
                  <a:sysClr val="windowText" lastClr="000000"/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552098" y="2394216"/>
            <a:ext cx="1104789" cy="5760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31709" y="1949433"/>
            <a:ext cx="10230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ElmList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519779" y="2914451"/>
            <a:ext cx="684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info</a:t>
            </a:r>
            <a:endParaRPr lang="en-US" b="1" dirty="0"/>
          </a:p>
        </p:txBody>
      </p:sp>
      <p:sp>
        <p:nvSpPr>
          <p:cNvPr id="17" name="Rectangle 16"/>
          <p:cNvSpPr/>
          <p:nvPr/>
        </p:nvSpPr>
        <p:spPr>
          <a:xfrm>
            <a:off x="7596108" y="2914451"/>
            <a:ext cx="763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</a:t>
            </a:r>
            <a:endParaRPr lang="en-US" b="1" dirty="0"/>
          </a:p>
        </p:txBody>
      </p:sp>
      <p:sp>
        <p:nvSpPr>
          <p:cNvPr id="18" name="Rectangle 17"/>
          <p:cNvSpPr/>
          <p:nvPr/>
        </p:nvSpPr>
        <p:spPr>
          <a:xfrm>
            <a:off x="6014966" y="2378438"/>
            <a:ext cx="11581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Infotype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469459" y="2377151"/>
            <a:ext cx="1106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Address</a:t>
            </a:r>
            <a:endParaRPr lang="en-US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759" y="2585545"/>
            <a:ext cx="4592321" cy="234380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u="sng" dirty="0"/>
              <a:t>type</a:t>
            </a:r>
            <a:r>
              <a:rPr lang="en-US" dirty="0"/>
              <a:t> </a:t>
            </a:r>
            <a:r>
              <a:rPr lang="en-US" dirty="0" err="1"/>
              <a:t>ElmList</a:t>
            </a:r>
            <a:r>
              <a:rPr lang="en-US" dirty="0"/>
              <a:t> &lt;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info  : </a:t>
            </a:r>
            <a:r>
              <a:rPr lang="en-US" u="sng" dirty="0" err="1">
                <a:highlight>
                  <a:srgbClr val="FFFF00"/>
                </a:highlight>
              </a:rPr>
              <a:t>Infotype</a:t>
            </a:r>
            <a:r>
              <a:rPr lang="en-US" dirty="0"/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next : </a:t>
            </a:r>
            <a:r>
              <a:rPr lang="en-US" u="sng" dirty="0"/>
              <a:t>pointer to</a:t>
            </a:r>
            <a:r>
              <a:rPr lang="en-US" dirty="0"/>
              <a:t> </a:t>
            </a:r>
            <a:r>
              <a:rPr lang="en-US" dirty="0" err="1"/>
              <a:t>ElmList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&gt;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t>21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 List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CDK2AAB4 – STRUKTUR DATA</a:t>
            </a:r>
          </a:p>
        </p:txBody>
      </p:sp>
      <p:cxnSp>
        <p:nvCxnSpPr>
          <p:cNvPr id="12" name="Straight Arrow Connector 11"/>
          <p:cNvCxnSpPr>
            <a:endCxn id="16" idx="1"/>
          </p:cNvCxnSpPr>
          <p:nvPr/>
        </p:nvCxnSpPr>
        <p:spPr>
          <a:xfrm>
            <a:off x="3658648" y="3603415"/>
            <a:ext cx="2167707" cy="503904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26355" y="3922653"/>
            <a:ext cx="2865208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u="sng" dirty="0"/>
              <a:t>type</a:t>
            </a:r>
            <a:r>
              <a:rPr lang="en-US" dirty="0"/>
              <a:t> </a:t>
            </a:r>
            <a:r>
              <a:rPr lang="en-US" dirty="0" err="1"/>
              <a:t>Infotype</a:t>
            </a:r>
            <a:r>
              <a:rPr lang="en-US" dirty="0"/>
              <a:t> : </a:t>
            </a:r>
            <a:r>
              <a:rPr lang="en-US" u="sng" dirty="0"/>
              <a:t>integer</a:t>
            </a:r>
            <a:endParaRPr lang="en-ID" u="sng" dirty="0"/>
          </a:p>
        </p:txBody>
      </p:sp>
      <p:sp>
        <p:nvSpPr>
          <p:cNvPr id="11" name="Rectangle 10"/>
          <p:cNvSpPr/>
          <p:nvPr/>
        </p:nvSpPr>
        <p:spPr>
          <a:xfrm>
            <a:off x="5999454" y="1949433"/>
            <a:ext cx="2778785" cy="14033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096173" y="2394216"/>
            <a:ext cx="1440160" cy="576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18415" cmpd="sng">
                <a:solidFill>
                  <a:sysClr val="windowText" lastClr="000000"/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52098" y="2394216"/>
            <a:ext cx="1104789" cy="5760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31709" y="1949433"/>
            <a:ext cx="10230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ElmList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519779" y="2914451"/>
            <a:ext cx="684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info</a:t>
            </a:r>
            <a:endParaRPr lang="en-US" b="1" dirty="0"/>
          </a:p>
        </p:txBody>
      </p:sp>
      <p:sp>
        <p:nvSpPr>
          <p:cNvPr id="19" name="Rectangle 18"/>
          <p:cNvSpPr/>
          <p:nvPr/>
        </p:nvSpPr>
        <p:spPr>
          <a:xfrm>
            <a:off x="7596108" y="2914451"/>
            <a:ext cx="763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</a:t>
            </a:r>
            <a:endParaRPr lang="en-US" b="1" dirty="0"/>
          </a:p>
        </p:txBody>
      </p:sp>
      <p:sp>
        <p:nvSpPr>
          <p:cNvPr id="20" name="Rectangle 19"/>
          <p:cNvSpPr/>
          <p:nvPr/>
        </p:nvSpPr>
        <p:spPr>
          <a:xfrm>
            <a:off x="6014966" y="2378438"/>
            <a:ext cx="11581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Infotype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469459" y="2377151"/>
            <a:ext cx="1106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Address</a:t>
            </a:r>
            <a:endParaRPr lang="en-US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759" y="2585545"/>
            <a:ext cx="4592321" cy="234380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u="sng" dirty="0"/>
              <a:t>type</a:t>
            </a:r>
            <a:r>
              <a:rPr lang="en-US" dirty="0"/>
              <a:t> </a:t>
            </a:r>
            <a:r>
              <a:rPr lang="en-US" dirty="0" err="1"/>
              <a:t>ElmList</a:t>
            </a:r>
            <a:r>
              <a:rPr lang="en-US" dirty="0"/>
              <a:t> &lt;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info  : </a:t>
            </a:r>
            <a:r>
              <a:rPr lang="en-US" u="sng" dirty="0" err="1">
                <a:highlight>
                  <a:srgbClr val="FFFF00"/>
                </a:highlight>
              </a:rPr>
              <a:t>Infotype</a:t>
            </a:r>
            <a:r>
              <a:rPr lang="en-US" dirty="0"/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next : </a:t>
            </a:r>
            <a:r>
              <a:rPr lang="en-US" u="sng" dirty="0"/>
              <a:t>pointer to</a:t>
            </a:r>
            <a:r>
              <a:rPr lang="en-US" dirty="0"/>
              <a:t> </a:t>
            </a:r>
            <a:r>
              <a:rPr lang="en-US" dirty="0" err="1"/>
              <a:t>ElmList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&gt;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t>22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 List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CDK2AAB4 – STRUKTUR DATA</a:t>
            </a:r>
          </a:p>
        </p:txBody>
      </p:sp>
      <p:cxnSp>
        <p:nvCxnSpPr>
          <p:cNvPr id="12" name="Straight Arrow Connector 11"/>
          <p:cNvCxnSpPr>
            <a:endCxn id="16" idx="1"/>
          </p:cNvCxnSpPr>
          <p:nvPr/>
        </p:nvCxnSpPr>
        <p:spPr>
          <a:xfrm>
            <a:off x="3658648" y="3603415"/>
            <a:ext cx="2167707" cy="503904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26355" y="3922653"/>
            <a:ext cx="2865208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u="sng" dirty="0"/>
              <a:t>type</a:t>
            </a:r>
            <a:r>
              <a:rPr lang="en-US" dirty="0"/>
              <a:t> </a:t>
            </a:r>
            <a:r>
              <a:rPr lang="en-US" dirty="0" err="1"/>
              <a:t>Infotype</a:t>
            </a:r>
            <a:r>
              <a:rPr lang="en-US" dirty="0"/>
              <a:t> : </a:t>
            </a:r>
            <a:r>
              <a:rPr lang="en-US" u="sng" dirty="0"/>
              <a:t>integer</a:t>
            </a:r>
            <a:endParaRPr lang="en-ID" u="sng" dirty="0"/>
          </a:p>
        </p:txBody>
      </p:sp>
      <p:cxnSp>
        <p:nvCxnSpPr>
          <p:cNvPr id="19" name="Straight Arrow Connector 18"/>
          <p:cNvCxnSpPr>
            <a:endCxn id="20" idx="1"/>
          </p:cNvCxnSpPr>
          <p:nvPr/>
        </p:nvCxnSpPr>
        <p:spPr>
          <a:xfrm>
            <a:off x="3691915" y="3603415"/>
            <a:ext cx="2167707" cy="1054760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59622" y="4473509"/>
            <a:ext cx="2865208" cy="369332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type</a:t>
            </a:r>
            <a:r>
              <a:rPr lang="en-US" dirty="0"/>
              <a:t> </a:t>
            </a:r>
            <a:r>
              <a:rPr lang="en-US" dirty="0" err="1"/>
              <a:t>Infotype</a:t>
            </a:r>
            <a:r>
              <a:rPr lang="en-US" dirty="0"/>
              <a:t> : </a:t>
            </a:r>
            <a:r>
              <a:rPr lang="en-US" u="sng" dirty="0"/>
              <a:t>string</a:t>
            </a:r>
            <a:endParaRPr lang="en-ID" u="sng" dirty="0"/>
          </a:p>
        </p:txBody>
      </p:sp>
      <p:sp>
        <p:nvSpPr>
          <p:cNvPr id="11" name="Rectangle 10"/>
          <p:cNvSpPr/>
          <p:nvPr/>
        </p:nvSpPr>
        <p:spPr>
          <a:xfrm>
            <a:off x="5999454" y="1949433"/>
            <a:ext cx="2778785" cy="14033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096173" y="2394216"/>
            <a:ext cx="1440160" cy="576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18415" cmpd="sng">
                <a:solidFill>
                  <a:sysClr val="windowText" lastClr="000000"/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52098" y="2394216"/>
            <a:ext cx="1104789" cy="5760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31709" y="1949433"/>
            <a:ext cx="10230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ElmList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519779" y="2914451"/>
            <a:ext cx="684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info</a:t>
            </a:r>
            <a:endParaRPr lang="en-US" b="1" dirty="0"/>
          </a:p>
        </p:txBody>
      </p:sp>
      <p:sp>
        <p:nvSpPr>
          <p:cNvPr id="21" name="Rectangle 20"/>
          <p:cNvSpPr/>
          <p:nvPr/>
        </p:nvSpPr>
        <p:spPr>
          <a:xfrm>
            <a:off x="7596108" y="2914451"/>
            <a:ext cx="763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</a:t>
            </a:r>
            <a:endParaRPr lang="en-US" b="1" dirty="0"/>
          </a:p>
        </p:txBody>
      </p:sp>
      <p:sp>
        <p:nvSpPr>
          <p:cNvPr id="22" name="Rectangle 21"/>
          <p:cNvSpPr/>
          <p:nvPr/>
        </p:nvSpPr>
        <p:spPr>
          <a:xfrm>
            <a:off x="6014966" y="2378438"/>
            <a:ext cx="11581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Infotype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469459" y="2377151"/>
            <a:ext cx="1106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Address</a:t>
            </a:r>
            <a:endParaRPr lang="en-US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759" y="2585545"/>
            <a:ext cx="4592321" cy="234380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u="sng" dirty="0"/>
              <a:t>type</a:t>
            </a:r>
            <a:r>
              <a:rPr lang="en-US" dirty="0"/>
              <a:t> </a:t>
            </a:r>
            <a:r>
              <a:rPr lang="en-US" dirty="0" err="1"/>
              <a:t>ElmList</a:t>
            </a:r>
            <a:r>
              <a:rPr lang="en-US" dirty="0"/>
              <a:t> &lt;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info  : </a:t>
            </a:r>
            <a:r>
              <a:rPr lang="en-US" u="sng" dirty="0" err="1"/>
              <a:t>Infotype</a:t>
            </a:r>
            <a:r>
              <a:rPr lang="en-US" dirty="0"/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next : </a:t>
            </a:r>
            <a:r>
              <a:rPr lang="en-US" u="sng" dirty="0">
                <a:highlight>
                  <a:srgbClr val="FFFF00"/>
                </a:highlight>
              </a:rPr>
              <a:t>pointer to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ElmList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&gt;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t>23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 List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CDK2AAB4 – STRUKTUR DATA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3190240" y="4084320"/>
            <a:ext cx="2113280" cy="1114097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552954" y="5198417"/>
            <a:ext cx="4274565" cy="369332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type</a:t>
            </a:r>
            <a:r>
              <a:rPr lang="en-US" dirty="0"/>
              <a:t> </a:t>
            </a:r>
            <a:r>
              <a:rPr lang="en-US" dirty="0">
                <a:highlight>
                  <a:srgbClr val="FFFF00"/>
                </a:highlight>
              </a:rPr>
              <a:t>Address</a:t>
            </a:r>
            <a:r>
              <a:rPr lang="en-US" dirty="0"/>
              <a:t> : </a:t>
            </a:r>
            <a:r>
              <a:rPr lang="en-US" u="sng" dirty="0"/>
              <a:t>pointer to</a:t>
            </a:r>
            <a:r>
              <a:rPr lang="en-US" dirty="0"/>
              <a:t> </a:t>
            </a:r>
            <a:r>
              <a:rPr lang="en-US" dirty="0" err="1"/>
              <a:t>ElmList</a:t>
            </a:r>
            <a:endParaRPr lang="en-ID" dirty="0"/>
          </a:p>
        </p:txBody>
      </p:sp>
      <p:sp>
        <p:nvSpPr>
          <p:cNvPr id="11" name="Rectangle 10"/>
          <p:cNvSpPr/>
          <p:nvPr/>
        </p:nvSpPr>
        <p:spPr>
          <a:xfrm>
            <a:off x="5999454" y="1949433"/>
            <a:ext cx="2778785" cy="14033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096173" y="2394216"/>
            <a:ext cx="1440160" cy="576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18415" cmpd="sng">
                <a:solidFill>
                  <a:sysClr val="windowText" lastClr="000000"/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552098" y="2394216"/>
            <a:ext cx="1104789" cy="5760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31709" y="1949433"/>
            <a:ext cx="10230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ElmList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519779" y="2914451"/>
            <a:ext cx="684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info</a:t>
            </a:r>
            <a:endParaRPr lang="en-US" b="1" dirty="0"/>
          </a:p>
        </p:txBody>
      </p:sp>
      <p:sp>
        <p:nvSpPr>
          <p:cNvPr id="17" name="Rectangle 16"/>
          <p:cNvSpPr/>
          <p:nvPr/>
        </p:nvSpPr>
        <p:spPr>
          <a:xfrm>
            <a:off x="7596108" y="2914451"/>
            <a:ext cx="763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</a:t>
            </a:r>
            <a:endParaRPr lang="en-US" b="1" dirty="0"/>
          </a:p>
        </p:txBody>
      </p:sp>
      <p:sp>
        <p:nvSpPr>
          <p:cNvPr id="18" name="Rectangle 17"/>
          <p:cNvSpPr/>
          <p:nvPr/>
        </p:nvSpPr>
        <p:spPr>
          <a:xfrm>
            <a:off x="6014966" y="2378438"/>
            <a:ext cx="11581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Infotype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469459" y="2377151"/>
            <a:ext cx="1106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Address</a:t>
            </a:r>
            <a:endParaRPr lang="en-US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759" y="2585545"/>
            <a:ext cx="4592321" cy="234380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u="sng" dirty="0"/>
              <a:t>type</a:t>
            </a:r>
            <a:r>
              <a:rPr lang="en-US" dirty="0"/>
              <a:t> </a:t>
            </a:r>
            <a:r>
              <a:rPr lang="en-US" dirty="0" err="1"/>
              <a:t>ElmList</a:t>
            </a:r>
            <a:r>
              <a:rPr lang="en-US" dirty="0"/>
              <a:t> &lt;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info  : </a:t>
            </a:r>
            <a:r>
              <a:rPr lang="en-US" u="sng" dirty="0" err="1"/>
              <a:t>Infotype</a:t>
            </a:r>
            <a:r>
              <a:rPr lang="en-US" dirty="0"/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next : </a:t>
            </a:r>
            <a:r>
              <a:rPr lang="en-US" dirty="0">
                <a:highlight>
                  <a:srgbClr val="FFFF00"/>
                </a:highlight>
              </a:rPr>
              <a:t>Address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&gt;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t>24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 List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CDK2AAB4 – STRUKTUR DATA</a:t>
            </a:r>
          </a:p>
        </p:txBody>
      </p:sp>
      <p:cxnSp>
        <p:nvCxnSpPr>
          <p:cNvPr id="19" name="Straight Arrow Connector 18"/>
          <p:cNvCxnSpPr>
            <a:stCxn id="20" idx="0"/>
          </p:cNvCxnSpPr>
          <p:nvPr/>
        </p:nvCxnSpPr>
        <p:spPr>
          <a:xfrm flipH="1" flipV="1">
            <a:off x="2763520" y="4165600"/>
            <a:ext cx="1926717" cy="1032817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552954" y="5198417"/>
            <a:ext cx="4274565" cy="369332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type</a:t>
            </a:r>
            <a:r>
              <a:rPr lang="en-US" dirty="0"/>
              <a:t> </a:t>
            </a:r>
            <a:r>
              <a:rPr lang="en-US" dirty="0">
                <a:highlight>
                  <a:srgbClr val="FFFF00"/>
                </a:highlight>
              </a:rPr>
              <a:t>Address</a:t>
            </a:r>
            <a:r>
              <a:rPr lang="en-US" dirty="0"/>
              <a:t> : </a:t>
            </a:r>
            <a:r>
              <a:rPr lang="en-US" u="sng" dirty="0"/>
              <a:t>pointer to</a:t>
            </a:r>
            <a:r>
              <a:rPr lang="en-US" dirty="0"/>
              <a:t> </a:t>
            </a:r>
            <a:r>
              <a:rPr lang="en-US" dirty="0" err="1"/>
              <a:t>ElmList</a:t>
            </a:r>
            <a:endParaRPr lang="en-ID" dirty="0"/>
          </a:p>
        </p:txBody>
      </p:sp>
      <p:sp>
        <p:nvSpPr>
          <p:cNvPr id="11" name="Rectangle 10"/>
          <p:cNvSpPr/>
          <p:nvPr/>
        </p:nvSpPr>
        <p:spPr>
          <a:xfrm>
            <a:off x="5999454" y="1949433"/>
            <a:ext cx="2778785" cy="14033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096173" y="2394216"/>
            <a:ext cx="1440160" cy="576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18415" cmpd="sng">
                <a:solidFill>
                  <a:sysClr val="windowText" lastClr="000000"/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552098" y="2394216"/>
            <a:ext cx="1104789" cy="5760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31709" y="1949433"/>
            <a:ext cx="10230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ElmList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519779" y="2914451"/>
            <a:ext cx="684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info</a:t>
            </a:r>
            <a:endParaRPr lang="en-US" b="1" dirty="0"/>
          </a:p>
        </p:txBody>
      </p:sp>
      <p:sp>
        <p:nvSpPr>
          <p:cNvPr id="17" name="Rectangle 16"/>
          <p:cNvSpPr/>
          <p:nvPr/>
        </p:nvSpPr>
        <p:spPr>
          <a:xfrm>
            <a:off x="7596108" y="2914451"/>
            <a:ext cx="763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</a:t>
            </a:r>
            <a:endParaRPr lang="en-US" b="1" dirty="0"/>
          </a:p>
        </p:txBody>
      </p:sp>
      <p:sp>
        <p:nvSpPr>
          <p:cNvPr id="18" name="Rectangle 17"/>
          <p:cNvSpPr/>
          <p:nvPr/>
        </p:nvSpPr>
        <p:spPr>
          <a:xfrm>
            <a:off x="6014966" y="2378438"/>
            <a:ext cx="11581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Infotype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469459" y="2377151"/>
            <a:ext cx="1106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Address</a:t>
            </a:r>
            <a:endParaRPr lang="en-US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Pointer to element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u="sng" dirty="0"/>
              <a:t>type</a:t>
            </a:r>
            <a:r>
              <a:rPr lang="en-US" sz="2000" dirty="0"/>
              <a:t> Address : </a:t>
            </a:r>
            <a:r>
              <a:rPr lang="en-US" sz="2000" u="sng" dirty="0"/>
              <a:t>pointer to</a:t>
            </a:r>
            <a:r>
              <a:rPr lang="en-US" sz="2000" dirty="0"/>
              <a:t> </a:t>
            </a:r>
            <a:r>
              <a:rPr lang="en-US" sz="2000" dirty="0" err="1"/>
              <a:t>ElmList</a:t>
            </a:r>
            <a:endParaRPr 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t>25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CDK2AAB4 – STRUKTUR DATA</a:t>
            </a:r>
          </a:p>
        </p:txBody>
      </p:sp>
      <p:sp>
        <p:nvSpPr>
          <p:cNvPr id="2" name="Rectangle 1"/>
          <p:cNvSpPr/>
          <p:nvPr/>
        </p:nvSpPr>
        <p:spPr>
          <a:xfrm>
            <a:off x="5999454" y="1949433"/>
            <a:ext cx="2778785" cy="14033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173" y="2394216"/>
            <a:ext cx="1440160" cy="576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18415" cmpd="sng">
                <a:solidFill>
                  <a:sysClr val="windowText" lastClr="000000"/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52098" y="2394216"/>
            <a:ext cx="1104789" cy="5760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31709" y="1949433"/>
            <a:ext cx="10230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ElmList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19779" y="2914451"/>
            <a:ext cx="684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info</a:t>
            </a:r>
            <a:endParaRPr lang="en-US" b="1" dirty="0"/>
          </a:p>
        </p:txBody>
      </p:sp>
      <p:sp>
        <p:nvSpPr>
          <p:cNvPr id="11" name="Rectangle 10"/>
          <p:cNvSpPr/>
          <p:nvPr/>
        </p:nvSpPr>
        <p:spPr>
          <a:xfrm>
            <a:off x="7596108" y="2914451"/>
            <a:ext cx="763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</a:t>
            </a:r>
            <a:endParaRPr lang="en-US" b="1" dirty="0"/>
          </a:p>
        </p:txBody>
      </p:sp>
      <p:sp>
        <p:nvSpPr>
          <p:cNvPr id="12" name="Rectangle 11"/>
          <p:cNvSpPr/>
          <p:nvPr/>
        </p:nvSpPr>
        <p:spPr>
          <a:xfrm>
            <a:off x="6014966" y="2378438"/>
            <a:ext cx="11581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Infotype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469459" y="2377151"/>
            <a:ext cx="1106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Address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61549" y="4161140"/>
            <a:ext cx="2778785" cy="14033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158268" y="4605923"/>
            <a:ext cx="1440160" cy="576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18415" cmpd="sng">
                <a:solidFill>
                  <a:sysClr val="windowText" lastClr="000000"/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14193" y="4605923"/>
            <a:ext cx="1104789" cy="5760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93804" y="4161140"/>
            <a:ext cx="10230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ElmList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581874" y="5126158"/>
            <a:ext cx="684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info</a:t>
            </a:r>
            <a:endParaRPr lang="en-US" b="1" dirty="0"/>
          </a:p>
        </p:txBody>
      </p:sp>
      <p:sp>
        <p:nvSpPr>
          <p:cNvPr id="28" name="Rectangle 27"/>
          <p:cNvSpPr/>
          <p:nvPr/>
        </p:nvSpPr>
        <p:spPr>
          <a:xfrm>
            <a:off x="7658203" y="5126158"/>
            <a:ext cx="763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</a:t>
            </a: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6077061" y="4590145"/>
            <a:ext cx="11581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Infotype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531554" y="4588858"/>
            <a:ext cx="1106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Address</a:t>
            </a:r>
            <a:endParaRPr lang="en-US" dirty="0">
              <a:highlight>
                <a:srgbClr val="FFFF00"/>
              </a:highlight>
            </a:endParaRPr>
          </a:p>
        </p:txBody>
      </p:sp>
      <p:cxnSp>
        <p:nvCxnSpPr>
          <p:cNvPr id="31" name="Straight Arrow Connector 15"/>
          <p:cNvCxnSpPr>
            <a:endCxn id="15" idx="0"/>
          </p:cNvCxnSpPr>
          <p:nvPr/>
        </p:nvCxnSpPr>
        <p:spPr>
          <a:xfrm rot="5400000">
            <a:off x="7057839" y="3179098"/>
            <a:ext cx="1375145" cy="588938"/>
          </a:xfrm>
          <a:prstGeom prst="bentConnector3">
            <a:avLst>
              <a:gd name="adj1" fmla="val 50000"/>
            </a:avLst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The data that we want to store</a:t>
            </a:r>
          </a:p>
          <a:p>
            <a:r>
              <a:rPr lang="en-US" dirty="0"/>
              <a:t>Define your own </a:t>
            </a:r>
            <a:r>
              <a:rPr lang="en-US" dirty="0" err="1"/>
              <a:t>Infotype</a:t>
            </a:r>
            <a:endParaRPr lang="en-US" dirty="0"/>
          </a:p>
          <a:p>
            <a:pPr lvl="1"/>
            <a:r>
              <a:rPr lang="en-US" dirty="0"/>
              <a:t>Basic type example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		</a:t>
            </a:r>
            <a:r>
              <a:rPr lang="en-US" sz="2000" u="sng" dirty="0"/>
              <a:t>type</a:t>
            </a:r>
            <a:r>
              <a:rPr lang="en-US" sz="2000" dirty="0"/>
              <a:t> </a:t>
            </a:r>
            <a:r>
              <a:rPr lang="en-US" sz="2000" dirty="0" err="1"/>
              <a:t>Infotype</a:t>
            </a:r>
            <a:r>
              <a:rPr lang="en-US" sz="2000" dirty="0"/>
              <a:t> : </a:t>
            </a:r>
            <a:r>
              <a:rPr lang="en-US" sz="2000" u="sng" dirty="0"/>
              <a:t>integer</a:t>
            </a:r>
            <a:r>
              <a:rPr lang="en-US" sz="2000" dirty="0"/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		</a:t>
            </a:r>
            <a:r>
              <a:rPr lang="en-US" sz="2000" u="sng" dirty="0"/>
              <a:t>type</a:t>
            </a:r>
            <a:r>
              <a:rPr lang="en-US" sz="2000" dirty="0"/>
              <a:t> </a:t>
            </a:r>
            <a:r>
              <a:rPr lang="en-US" sz="2000" dirty="0" err="1"/>
              <a:t>Infotype</a:t>
            </a:r>
            <a:r>
              <a:rPr lang="en-US" sz="2000" dirty="0"/>
              <a:t> : </a:t>
            </a:r>
            <a:r>
              <a:rPr lang="en-US" sz="2000" u="sng" dirty="0"/>
              <a:t>char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	</a:t>
            </a:r>
            <a:endParaRPr lang="en-US" dirty="0"/>
          </a:p>
          <a:p>
            <a:pPr lvl="1"/>
            <a:r>
              <a:rPr lang="en-US" dirty="0"/>
              <a:t>Record type example</a:t>
            </a:r>
            <a:endParaRPr lang="en-US" sz="20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		</a:t>
            </a:r>
            <a:r>
              <a:rPr lang="en-US" sz="2000" u="sng" dirty="0"/>
              <a:t>type</a:t>
            </a:r>
            <a:r>
              <a:rPr lang="en-US" sz="2000" dirty="0"/>
              <a:t> </a:t>
            </a:r>
            <a:r>
              <a:rPr lang="en-US" sz="2000" dirty="0" err="1"/>
              <a:t>Infotype</a:t>
            </a:r>
            <a:r>
              <a:rPr lang="en-US" sz="2000" dirty="0"/>
              <a:t> 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		</a:t>
            </a:r>
            <a:r>
              <a:rPr lang="en-US" sz="2000" dirty="0" err="1"/>
              <a:t>Mahasiswa</a:t>
            </a:r>
            <a:r>
              <a:rPr lang="en-US" sz="2000" dirty="0"/>
              <a:t> &lt;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			nim : </a:t>
            </a:r>
            <a:r>
              <a:rPr lang="en-US" sz="2000" u="sng" dirty="0"/>
              <a:t>string</a:t>
            </a:r>
            <a:r>
              <a:rPr lang="en-US" sz="2000" dirty="0"/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			name : </a:t>
            </a:r>
            <a:r>
              <a:rPr lang="en-US" sz="2000" u="sng" dirty="0"/>
              <a:t>string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		&gt;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		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t>26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Infotype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CDK2AAB4 – STRUKTUR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99454" y="1949433"/>
            <a:ext cx="2778785" cy="14033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96173" y="2394216"/>
            <a:ext cx="1440160" cy="576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18415" cmpd="sng">
                <a:solidFill>
                  <a:sysClr val="windowText" lastClr="000000"/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52098" y="2394216"/>
            <a:ext cx="1104789" cy="5760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31709" y="1949433"/>
            <a:ext cx="10230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ElmList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19779" y="2914451"/>
            <a:ext cx="684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info</a:t>
            </a:r>
            <a:endParaRPr lang="en-US" b="1" dirty="0"/>
          </a:p>
        </p:txBody>
      </p:sp>
      <p:sp>
        <p:nvSpPr>
          <p:cNvPr id="14" name="Rectangle 13"/>
          <p:cNvSpPr/>
          <p:nvPr/>
        </p:nvSpPr>
        <p:spPr>
          <a:xfrm>
            <a:off x="7596108" y="2914451"/>
            <a:ext cx="763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</a:t>
            </a:r>
            <a:endParaRPr lang="en-US" b="1" dirty="0"/>
          </a:p>
        </p:txBody>
      </p:sp>
      <p:sp>
        <p:nvSpPr>
          <p:cNvPr id="18" name="Rectangle 17"/>
          <p:cNvSpPr/>
          <p:nvPr/>
        </p:nvSpPr>
        <p:spPr>
          <a:xfrm>
            <a:off x="6014966" y="2378438"/>
            <a:ext cx="11581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Infotype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469459" y="2377151"/>
            <a:ext cx="1106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highlight>
                  <a:srgbClr val="FFFF00"/>
                </a:highlight>
              </a:rPr>
              <a:t>Address</a:t>
            </a:r>
            <a:endParaRPr lang="en-US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27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</a:rPr>
              <a:t>Linked List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240" y="2484755"/>
            <a:ext cx="5557520" cy="991870"/>
          </a:xfrm>
          <a:prstGeom prst="rect">
            <a:avLst/>
          </a:prstGeom>
        </p:spPr>
      </p:pic>
      <p:sp>
        <p:nvSpPr>
          <p:cNvPr id="21" name="Content Placeholder 1"/>
          <p:cNvSpPr>
            <a:spLocks noGrp="1"/>
          </p:cNvSpPr>
          <p:nvPr/>
        </p:nvSpPr>
        <p:spPr>
          <a:xfrm>
            <a:off x="389890" y="1977390"/>
            <a:ext cx="8314055" cy="40570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Setiap elemen terdiri dari 2 bagian</a:t>
            </a: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lang="en-US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lang="en-US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lang="en-US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8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Ket</a:t>
            </a:r>
          </a:p>
          <a:p>
            <a:pPr marL="314960" marR="292735" indent="-285750" algn="just">
              <a:lnSpc>
                <a:spcPct val="100000"/>
              </a:lnSpc>
              <a:spcBef>
                <a:spcPts val="100"/>
              </a:spcBef>
              <a:buFont typeface="Arial" panose="02080604020202020204" pitchFamily="34" charset="0"/>
              <a:buChar char="•"/>
            </a:pPr>
            <a:r>
              <a:rPr lang="en-US" sz="18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Infotype: tipe terdefinisi yang menyimpan bagian data (tipe data dasar atau tipe data bentukan</a:t>
            </a:r>
          </a:p>
          <a:p>
            <a:pPr marL="314960" marR="292735" indent="-285750" algn="just">
              <a:lnSpc>
                <a:spcPct val="100000"/>
              </a:lnSpc>
              <a:spcBef>
                <a:spcPts val="100"/>
              </a:spcBef>
              <a:buFont typeface="Arial" panose="02080604020202020204" pitchFamily="34" charset="0"/>
              <a:buChar char="•"/>
            </a:pPr>
            <a:r>
              <a:rPr lang="en-US" sz="18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Next: address elemen berikutnya, merupakan variabel bentukan yang merupakan variabel pointer dan digunakan untuk menyimpan alamat memori elemen selanjutnya</a:t>
            </a:r>
            <a:endParaRPr sz="18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lang="en-US" altLang="id-ID" sz="1800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3" name="Content Placeholder 1"/>
          <p:cNvSpPr>
            <a:spLocks noGrp="1"/>
          </p:cNvSpPr>
          <p:nvPr/>
        </p:nvSpPr>
        <p:spPr>
          <a:xfrm>
            <a:off x="748665" y="3684270"/>
            <a:ext cx="7296785" cy="4876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id-ID" sz="2000" dirty="0">
                <a:latin typeface="Arial" panose="02080604020202020204" pitchFamily="34" charset="0"/>
                <a:cs typeface="Arial" panose="02080604020202020204" pitchFamily="34" charset="0"/>
              </a:rPr>
              <a:t>Type ElmList &lt;info : </a:t>
            </a: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</a:rPr>
              <a:t>I</a:t>
            </a:r>
            <a:r>
              <a:rPr lang="en-US" altLang="id-ID" sz="2000" dirty="0">
                <a:latin typeface="Arial" panose="02080604020202020204" pitchFamily="34" charset="0"/>
                <a:cs typeface="Arial" panose="02080604020202020204" pitchFamily="34" charset="0"/>
              </a:rPr>
              <a:t>nfotype, next : </a:t>
            </a: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</a:rPr>
              <a:t>A</a:t>
            </a:r>
            <a:r>
              <a:rPr lang="en-US" altLang="id-ID" sz="2000" dirty="0">
                <a:latin typeface="Arial" panose="02080604020202020204" pitchFamily="34" charset="0"/>
                <a:cs typeface="Arial" panose="02080604020202020204" pitchFamily="34" charset="0"/>
              </a:rPr>
              <a:t>ddress&gt;</a:t>
            </a:r>
          </a:p>
        </p:txBody>
      </p:sp>
    </p:spTree>
  </p:cSld>
  <p:clrMapOvr>
    <a:masterClrMapping/>
  </p:clrMapOvr>
  <p:transition spd="slow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760" y="2009775"/>
            <a:ext cx="8314055" cy="4057015"/>
          </a:xfrm>
        </p:spPr>
        <p:txBody>
          <a:bodyPr/>
          <a:lstStyle/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Pada List diatas, terdapat variabel pointer yaitu </a:t>
            </a:r>
            <a:r>
              <a:rPr lang="en-US" sz="2000" b="1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 </a:t>
            </a: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yang digunakan untuk menyimpan alamat </a:t>
            </a:r>
            <a:r>
              <a:rPr lang="en-US" sz="2000" b="1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elemen pertama</a:t>
            </a: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dari sebuah List</a:t>
            </a:r>
            <a:endParaRPr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Beberapa case sebuah List bisa memiliki pointer First saja atau terdapat pointer First dan Last.</a:t>
            </a: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</a:rPr>
              <a:t>Elemen terakhir bisa ditentukan dengan cara mencari elemen yang memiliki pointer </a:t>
            </a: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next = NIL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28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</a:rPr>
              <a:t>Linked List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6010" y="2198370"/>
            <a:ext cx="4678680" cy="96202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74690" y="1451610"/>
            <a:ext cx="1424940" cy="4699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2000">
                <a:latin typeface="Arial" panose="02080604020202020204" pitchFamily="34" charset="0"/>
                <a:cs typeface="Arial" panose="02080604020202020204" pitchFamily="34" charset="0"/>
              </a:rPr>
              <a:t>elemen</a:t>
            </a:r>
          </a:p>
        </p:txBody>
      </p:sp>
      <p:cxnSp>
        <p:nvCxnSpPr>
          <p:cNvPr id="10" name="Straight Arrow Connector 9"/>
          <p:cNvCxnSpPr>
            <a:stCxn id="9" idx="1"/>
          </p:cNvCxnSpPr>
          <p:nvPr/>
        </p:nvCxnSpPr>
        <p:spPr>
          <a:xfrm flipH="1">
            <a:off x="2809875" y="1686560"/>
            <a:ext cx="2964815" cy="10814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>
            <a:off x="3978275" y="1686560"/>
            <a:ext cx="1796415" cy="10814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5418455" y="1686560"/>
            <a:ext cx="356235" cy="10814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10895" y="2119630"/>
            <a:ext cx="5438775" cy="1212850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8" name="Down Arrow 7"/>
          <p:cNvSpPr/>
          <p:nvPr/>
        </p:nvSpPr>
        <p:spPr>
          <a:xfrm>
            <a:off x="2453640" y="1686560"/>
            <a:ext cx="356235" cy="108140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4" name="Left Arrow 13"/>
          <p:cNvSpPr/>
          <p:nvPr/>
        </p:nvSpPr>
        <p:spPr>
          <a:xfrm>
            <a:off x="6008370" y="2767965"/>
            <a:ext cx="1191260" cy="392430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125" y="2185670"/>
            <a:ext cx="8314055" cy="4057015"/>
          </a:xfrm>
        </p:spPr>
        <p:txBody>
          <a:bodyPr/>
          <a:lstStyle/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lang="en-US" sz="18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Address : pointer to elementList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elementList : &lt;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info: ..terdefinisi, 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next: Address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&gt;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</a:rPr>
              <a:t>Type List : &lt;First: Address&gt;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</a:rPr>
              <a:t>L : List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29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</a:rPr>
              <a:t>Deklarasi Struktur Data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520" y="1846580"/>
            <a:ext cx="4790440" cy="2175510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>
            <a:off x="2969260" y="4839970"/>
            <a:ext cx="26568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1"/>
          <p:cNvSpPr>
            <a:spLocks noGrp="1"/>
          </p:cNvSpPr>
          <p:nvPr/>
        </p:nvSpPr>
        <p:spPr>
          <a:xfrm>
            <a:off x="5768975" y="4307840"/>
            <a:ext cx="2979420" cy="14116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Diisi dengan tipe data apapun misal string, integer, tipe data bentukan, dll</a:t>
            </a:r>
          </a:p>
        </p:txBody>
      </p:sp>
    </p:spTree>
  </p:cSld>
  <p:clrMapOvr>
    <a:masterClrMapping/>
  </p:clrMapOvr>
  <p:transition spd="slow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125" y="1978660"/>
            <a:ext cx="8314055" cy="4264660"/>
          </a:xfrm>
        </p:spPr>
        <p:txBody>
          <a:bodyPr/>
          <a:lstStyle/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NIL : Null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Address : pointer to elementList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Ojol : &lt;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driver: string,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rating: float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&gt;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el</a:t>
            </a: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ement</a:t>
            </a: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List : &lt;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info: </a:t>
            </a: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Ojol</a:t>
            </a: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, 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next: Address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&gt;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</a:rPr>
              <a:t>Type List : &lt;First: Address&gt;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</a:rPr>
              <a:t>L : List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30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>
                <a:latin typeface="Arial" panose="02080604020202020204" pitchFamily="34" charset="0"/>
                <a:cs typeface="Arial" panose="02080604020202020204" pitchFamily="34" charset="0"/>
              </a:rPr>
              <a:t>Deklarasi Struktur Data - Tipe data bentukan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65125" y="5501640"/>
            <a:ext cx="1169035" cy="382905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2" name="Content Placeholder 1"/>
          <p:cNvSpPr>
            <a:spLocks noGrp="1"/>
          </p:cNvSpPr>
          <p:nvPr/>
        </p:nvSpPr>
        <p:spPr>
          <a:xfrm>
            <a:off x="5170170" y="1877060"/>
            <a:ext cx="2979420" cy="13804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Hanya  melakukan alokasi memori untuk pointer First</a:t>
            </a: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425" y="4977765"/>
            <a:ext cx="1143000" cy="12141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Elbow Connector 8"/>
          <p:cNvCxnSpPr>
            <a:stCxn id="10" idx="3"/>
            <a:endCxn id="12" idx="2"/>
          </p:cNvCxnSpPr>
          <p:nvPr/>
        </p:nvCxnSpPr>
        <p:spPr>
          <a:xfrm flipV="1">
            <a:off x="1534160" y="3257550"/>
            <a:ext cx="5125720" cy="243586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71475" y="2164080"/>
            <a:ext cx="8314055" cy="1511935"/>
          </a:xfrm>
          <a:ln>
            <a:solidFill>
              <a:schemeClr val="accent1"/>
            </a:solidFill>
          </a:ln>
        </p:spPr>
        <p:txBody>
          <a:bodyPr/>
          <a:lstStyle/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</a:rPr>
              <a:t>procedure CreateList(in/out : L : List)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</a:rPr>
              <a:t>kamus</a:t>
            </a:r>
            <a:endParaRPr lang="en-US" altLang="en-US" sz="1800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</a:rPr>
              <a:t>algoritma</a:t>
            </a:r>
            <a:endParaRPr lang="en-US" altLang="en-US" sz="1800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</a:rPr>
              <a:t>	L.first =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</a:rPr>
              <a:t> NIL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</a:rPr>
              <a:t>		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31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</a:rPr>
              <a:t>Prosedur pembuatan List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peech Bubble: Oval 12"/>
              <p:cNvSpPr/>
              <p:nvPr/>
            </p:nvSpPr>
            <p:spPr>
              <a:xfrm>
                <a:off x="3297308" y="3257940"/>
                <a:ext cx="3229066" cy="1889813"/>
              </a:xfrm>
              <a:prstGeom prst="wedgeEllipseCallout">
                <a:avLst>
                  <a:gd name="adj1" fmla="val -75222"/>
                  <a:gd name="adj2" fmla="val -47601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/>
                  <a:t>Penulisan</a:t>
                </a:r>
                <a:r>
                  <a:rPr lang="en-US" sz="1200" dirty="0"/>
                  <a:t> pseudocode </a:t>
                </a:r>
                <a:r>
                  <a:rPr lang="en-US" sz="1200" dirty="0" err="1"/>
                  <a:t>untuk</a:t>
                </a:r>
                <a:r>
                  <a:rPr lang="en-US" sz="1200" dirty="0"/>
                  <a:t> assignment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→</m:t>
                    </m:r>
                  </m:oMath>
                </a14:m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diubah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menjadi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b="1" dirty="0">
                    <a:highlight>
                      <a:srgbClr val="FFFF00"/>
                    </a:highlight>
                    <a:sym typeface="Wingdings" panose="05000000000000000000" pitchFamily="2" charset="2"/>
                  </a:rPr>
                  <a:t>=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untuk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menghindari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kebingungan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karena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kita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akan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pakai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banyak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tanda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panah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mulai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sekarang</a:t>
                </a:r>
                <a:r>
                  <a:rPr lang="en-US" sz="1200" dirty="0">
                    <a:sym typeface="Wingdings" panose="05000000000000000000" pitchFamily="2" charset="2"/>
                  </a:rPr>
                  <a:t>.</a:t>
                </a:r>
                <a:endParaRPr lang="en-ID" sz="1200" dirty="0"/>
              </a:p>
            </p:txBody>
          </p:sp>
        </mc:Choice>
        <mc:Fallback xmlns="">
          <p:sp>
            <p:nvSpPr>
              <p:cNvPr id="10" name="Speech Bubble: Oval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308" y="3257940"/>
                <a:ext cx="3229066" cy="1889813"/>
              </a:xfrm>
              <a:prstGeom prst="wedgeEllipseCallout">
                <a:avLst>
                  <a:gd name="adj1" fmla="val -75222"/>
                  <a:gd name="adj2" fmla="val -47601"/>
                </a:avLst>
              </a:prstGeom>
              <a:blipFill rotWithShape="1">
                <a:blip r:embed="rId2"/>
                <a:stretch>
                  <a:fillRect l="-26422" t="-995" r="-1185" b="-3068"/>
                </a:stretch>
              </a:blip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7027819" y="2380455"/>
            <a:ext cx="826305" cy="938949"/>
            <a:chOff x="7347099" y="2291159"/>
            <a:chExt cx="749221" cy="883840"/>
          </a:xfrm>
        </p:grpSpPr>
        <p:sp>
          <p:nvSpPr>
            <p:cNvPr id="20" name="Rectangle 7"/>
            <p:cNvSpPr/>
            <p:nvPr/>
          </p:nvSpPr>
          <p:spPr>
            <a:xfrm>
              <a:off x="7347099" y="2291159"/>
              <a:ext cx="749221" cy="88384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endParaRPr lang="en-US" dirty="0"/>
            </a:p>
            <a:p>
              <a:pPr algn="ctr"/>
              <a:r>
                <a:rPr lang="en-US" sz="1400" dirty="0"/>
                <a:t>first</a:t>
              </a:r>
              <a:endParaRPr lang="en-US" dirty="0"/>
            </a:p>
          </p:txBody>
        </p:sp>
        <p:sp>
          <p:nvSpPr>
            <p:cNvPr id="21" name="Rectangle 9"/>
            <p:cNvSpPr/>
            <p:nvPr/>
          </p:nvSpPr>
          <p:spPr>
            <a:xfrm>
              <a:off x="7442790" y="2358849"/>
              <a:ext cx="569516" cy="53591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2" name="Rectangle 10"/>
          <p:cNvSpPr/>
          <p:nvPr/>
        </p:nvSpPr>
        <p:spPr>
          <a:xfrm>
            <a:off x="7284518" y="333535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23" name="Rectangle 11"/>
          <p:cNvSpPr/>
          <p:nvPr/>
        </p:nvSpPr>
        <p:spPr>
          <a:xfrm>
            <a:off x="7302979" y="2573073"/>
            <a:ext cx="288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/</a:t>
            </a:r>
          </a:p>
        </p:txBody>
      </p:sp>
    </p:spTree>
  </p:cSld>
  <p:clrMapOvr>
    <a:masterClrMapping/>
  </p:clrMapOvr>
  <p:transition spd="slow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32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</a:rPr>
              <a:t>Prosedur pembuatan element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"/>
              <p:cNvSpPr>
                <a:spLocks noGrp="1"/>
              </p:cNvSpPr>
              <p:nvPr/>
            </p:nvSpPr>
            <p:spPr>
              <a:xfrm>
                <a:off x="513715" y="2112010"/>
                <a:ext cx="8314055" cy="263461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>
                <a:lvl1pPr marL="346075" indent="-346075" algn="l" defTabSz="457200" rtl="0" eaLnBrk="1" fontAlgn="base" hangingPunct="1">
                  <a:spcBef>
                    <a:spcPts val="1800"/>
                  </a:spcBef>
                  <a:spcAft>
                    <a:spcPct val="0"/>
                  </a:spcAft>
                  <a:buSzPct val="135000"/>
                  <a:buBlip>
                    <a:blip r:embed="rId2"/>
                  </a:buBlip>
                  <a:defRPr sz="2400" kern="1200">
                    <a:solidFill>
                      <a:schemeClr val="tx1"/>
                    </a:solidFill>
                    <a:latin typeface="+mn-lt"/>
                    <a:ea typeface="MS PGothic" charset="0"/>
                    <a:cs typeface="MS PGothic" charset="0"/>
                  </a:defRPr>
                </a:lvl1pPr>
                <a:lvl2pPr marL="593725" indent="-182880" algn="l" defTabSz="457200" rtl="0" eaLnBrk="1" fontAlgn="base" hangingPunct="1">
                  <a:spcBef>
                    <a:spcPts val="800"/>
                  </a:spcBef>
                  <a:spcAft>
                    <a:spcPct val="0"/>
                  </a:spcAft>
                  <a:buClr>
                    <a:srgbClr val="595959"/>
                  </a:buClr>
                  <a:buFont typeface="Lucida Grande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MS PGothic" charset="0"/>
                    <a:cs typeface="+mn-cs"/>
                  </a:defRPr>
                </a:lvl2pPr>
                <a:lvl3pPr marL="822325" indent="-182880" algn="l" defTabSz="457200" rtl="0" eaLnBrk="1" fontAlgn="base" hangingPunct="1">
                  <a:spcBef>
                    <a:spcPts val="700"/>
                  </a:spcBef>
                  <a:spcAft>
                    <a:spcPct val="0"/>
                  </a:spcAft>
                  <a:buClr>
                    <a:srgbClr val="595959"/>
                  </a:buClr>
                  <a:buFont typeface="Wingdings" charset="0"/>
                  <a:buChar char="§"/>
                  <a:defRPr kern="1200">
                    <a:solidFill>
                      <a:schemeClr val="tx1"/>
                    </a:solidFill>
                    <a:latin typeface="+mn-lt"/>
                    <a:ea typeface="MS PGothic" charset="0"/>
                    <a:cs typeface="+mn-cs"/>
                  </a:defRPr>
                </a:lvl3pPr>
                <a:lvl4pPr marL="1050925" indent="-182880" algn="l" defTabSz="457200" rtl="0" eaLnBrk="1" fontAlgn="base" hangingPunct="1">
                  <a:spcBef>
                    <a:spcPts val="600"/>
                  </a:spcBef>
                  <a:spcAft>
                    <a:spcPct val="0"/>
                  </a:spcAft>
                  <a:buClr>
                    <a:srgbClr val="595959"/>
                  </a:buClr>
                  <a:buFont typeface="Arial" panose="0208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MS PGothic" charset="0"/>
                    <a:cs typeface="+mn-cs"/>
                  </a:defRPr>
                </a:lvl4pPr>
                <a:lvl5pPr marL="1233805" indent="-182880" algn="l" defTabSz="457200" rtl="0" eaLnBrk="1" fontAlgn="base" hangingPunct="1">
                  <a:spcBef>
                    <a:spcPts val="600"/>
                  </a:spcBef>
                  <a:spcAft>
                    <a:spcPct val="0"/>
                  </a:spcAft>
                  <a:buClr>
                    <a:srgbClr val="7F7F7F"/>
                  </a:buClr>
                  <a:buFont typeface="Wingdings" charset="0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MS PGothic" charset="0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cs typeface="Arial" panose="02080604020202020204" pitchFamily="34" charset="0"/>
                  </a:rPr>
                  <a:t>function Alokasi(data : Infotype) </a:t>
                </a:r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</a:rPr>
                  <a:t>→ Address</a:t>
                </a:r>
                <a:endParaRPr lang="en-US" altLang="en-US" sz="1800" dirty="0">
                  <a:latin typeface="Arial" panose="02080604020202020204" pitchFamily="34" charset="0"/>
                  <a:cs typeface="Arial" panose="02080604020202020204" pitchFamily="34" charset="0"/>
                </a:endParaRP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u="sng" dirty="0">
                    <a:latin typeface="Arial" panose="02080604020202020204" pitchFamily="34" charset="0"/>
                    <a:cs typeface="Arial" panose="02080604020202020204" pitchFamily="34" charset="0"/>
                  </a:rPr>
                  <a:t>kamus</a:t>
                </a: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cs typeface="Arial" panose="02080604020202020204" pitchFamily="34" charset="0"/>
                  </a:rPr>
                  <a:t>	P : Address</a:t>
                </a: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u="sng" dirty="0">
                    <a:latin typeface="Arial" panose="02080604020202020204" pitchFamily="34" charset="0"/>
                    <a:cs typeface="Arial" panose="02080604020202020204" pitchFamily="34" charset="0"/>
                  </a:rPr>
                  <a:t>algoritma</a:t>
                </a:r>
                <a:endParaRPr lang="en-US" altLang="en-US" sz="1800" dirty="0">
                  <a:latin typeface="Arial" panose="02080604020202020204" pitchFamily="34" charset="0"/>
                  <a:cs typeface="Arial" panose="02080604020202020204" pitchFamily="34" charset="0"/>
                </a:endParaRP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cs typeface="Arial" panose="02080604020202020204" pitchFamily="34" charset="0"/>
                  </a:rPr>
                  <a:t>	P =</a:t>
                </a:r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 new elementList</a:t>
                </a: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	P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→</m:t>
                    </m:r>
                  </m:oMath>
                </a14:m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info = data</a:t>
                </a: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	P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→</m:t>
                    </m:r>
                  </m:oMath>
                </a14:m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next = NIL</a:t>
                </a: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	return P</a:t>
                </a:r>
              </a:p>
            </p:txBody>
          </p:sp>
        </mc:Choice>
        <mc:Fallback xmlns="">
          <p:sp>
            <p:nvSpPr>
              <p:cNvPr id="14" name="Content Placeholder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715" y="2112010"/>
                <a:ext cx="8314055" cy="2634615"/>
              </a:xfrm>
              <a:prstGeom prst="rect">
                <a:avLst/>
              </a:prstGeom>
              <a:blipFill rotWithShape="1">
                <a:blip r:embed="rId3"/>
                <a:stretch>
                  <a:fillRect l="-61" t="-193" r="-53" b="-16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ontent Placeholder 1"/>
          <p:cNvSpPr>
            <a:spLocks noGrp="1"/>
          </p:cNvSpPr>
          <p:nvPr/>
        </p:nvSpPr>
        <p:spPr>
          <a:xfrm>
            <a:off x="7212330" y="2235200"/>
            <a:ext cx="96329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19" name="Straight Arrow Connector 18"/>
          <p:cNvCxnSpPr>
            <a:stCxn id="18" idx="2"/>
          </p:cNvCxnSpPr>
          <p:nvPr/>
        </p:nvCxnSpPr>
        <p:spPr>
          <a:xfrm>
            <a:off x="7694295" y="2745105"/>
            <a:ext cx="0" cy="5594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9" name="Table 58"/>
          <p:cNvGraphicFramePr/>
          <p:nvPr/>
        </p:nvGraphicFramePr>
        <p:xfrm>
          <a:off x="6940550" y="3475355"/>
          <a:ext cx="1504950" cy="639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94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33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</a:rPr>
              <a:t>Prosedur pembuatan element (record)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8660"/>
            <a:ext cx="8314055" cy="42646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NIL : Null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Address : pointer to elementList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Ojol : &lt;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driver: string,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rating: float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&gt;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ojolElement : &lt;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info: </a:t>
            </a: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Ojol</a:t>
            </a: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, 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next: Address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&gt;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</a:rPr>
              <a:t>Type List : &lt;First: Address&gt;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</a:rPr>
              <a:t>L : List</a:t>
            </a:r>
          </a:p>
        </p:txBody>
      </p:sp>
      <p:sp>
        <p:nvSpPr>
          <p:cNvPr id="12" name="Content Placeholder 1"/>
          <p:cNvSpPr>
            <a:spLocks noGrp="1"/>
          </p:cNvSpPr>
          <p:nvPr/>
        </p:nvSpPr>
        <p:spPr>
          <a:xfrm>
            <a:off x="5170170" y="1877060"/>
            <a:ext cx="2979420" cy="13804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Hanya  melakukan alokasi memori untuk pointer First</a:t>
            </a:r>
          </a:p>
        </p:txBody>
      </p:sp>
      <p:cxnSp>
        <p:nvCxnSpPr>
          <p:cNvPr id="9" name="Elbow Connector 8"/>
          <p:cNvCxnSpPr>
            <a:endCxn id="12" idx="2"/>
          </p:cNvCxnSpPr>
          <p:nvPr/>
        </p:nvCxnSpPr>
        <p:spPr>
          <a:xfrm flipV="1">
            <a:off x="1534160" y="3257550"/>
            <a:ext cx="5125720" cy="243586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34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</a:rPr>
              <a:t>Prosedur pembuatan element (record)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"/>
              <p:cNvSpPr>
                <a:spLocks noGrp="1"/>
              </p:cNvSpPr>
              <p:nvPr/>
            </p:nvSpPr>
            <p:spPr>
              <a:xfrm>
                <a:off x="513715" y="2112010"/>
                <a:ext cx="8314055" cy="263461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>
                <a:lvl1pPr marL="346075" indent="-346075" algn="l" defTabSz="457200" rtl="0" eaLnBrk="1" fontAlgn="base" hangingPunct="1">
                  <a:spcBef>
                    <a:spcPts val="1800"/>
                  </a:spcBef>
                  <a:spcAft>
                    <a:spcPct val="0"/>
                  </a:spcAft>
                  <a:buSzPct val="135000"/>
                  <a:buBlip>
                    <a:blip r:embed="rId2"/>
                  </a:buBlip>
                  <a:defRPr sz="2400" kern="1200">
                    <a:solidFill>
                      <a:schemeClr val="tx1"/>
                    </a:solidFill>
                    <a:latin typeface="+mn-lt"/>
                    <a:ea typeface="MS PGothic" charset="0"/>
                    <a:cs typeface="MS PGothic" charset="0"/>
                  </a:defRPr>
                </a:lvl1pPr>
                <a:lvl2pPr marL="593725" indent="-182880" algn="l" defTabSz="457200" rtl="0" eaLnBrk="1" fontAlgn="base" hangingPunct="1">
                  <a:spcBef>
                    <a:spcPts val="800"/>
                  </a:spcBef>
                  <a:spcAft>
                    <a:spcPct val="0"/>
                  </a:spcAft>
                  <a:buClr>
                    <a:srgbClr val="595959"/>
                  </a:buClr>
                  <a:buFont typeface="Lucida Grande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MS PGothic" charset="0"/>
                    <a:cs typeface="+mn-cs"/>
                  </a:defRPr>
                </a:lvl2pPr>
                <a:lvl3pPr marL="822325" indent="-182880" algn="l" defTabSz="457200" rtl="0" eaLnBrk="1" fontAlgn="base" hangingPunct="1">
                  <a:spcBef>
                    <a:spcPts val="700"/>
                  </a:spcBef>
                  <a:spcAft>
                    <a:spcPct val="0"/>
                  </a:spcAft>
                  <a:buClr>
                    <a:srgbClr val="595959"/>
                  </a:buClr>
                  <a:buFont typeface="Wingdings" charset="0"/>
                  <a:buChar char="§"/>
                  <a:defRPr kern="1200">
                    <a:solidFill>
                      <a:schemeClr val="tx1"/>
                    </a:solidFill>
                    <a:latin typeface="+mn-lt"/>
                    <a:ea typeface="MS PGothic" charset="0"/>
                    <a:cs typeface="+mn-cs"/>
                  </a:defRPr>
                </a:lvl3pPr>
                <a:lvl4pPr marL="1050925" indent="-182880" algn="l" defTabSz="457200" rtl="0" eaLnBrk="1" fontAlgn="base" hangingPunct="1">
                  <a:spcBef>
                    <a:spcPts val="600"/>
                  </a:spcBef>
                  <a:spcAft>
                    <a:spcPct val="0"/>
                  </a:spcAft>
                  <a:buClr>
                    <a:srgbClr val="595959"/>
                  </a:buClr>
                  <a:buFont typeface="Arial" panose="0208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MS PGothic" charset="0"/>
                    <a:cs typeface="+mn-cs"/>
                  </a:defRPr>
                </a:lvl4pPr>
                <a:lvl5pPr marL="1233805" indent="-182880" algn="l" defTabSz="457200" rtl="0" eaLnBrk="1" fontAlgn="base" hangingPunct="1">
                  <a:spcBef>
                    <a:spcPts val="600"/>
                  </a:spcBef>
                  <a:spcAft>
                    <a:spcPct val="0"/>
                  </a:spcAft>
                  <a:buClr>
                    <a:srgbClr val="7F7F7F"/>
                  </a:buClr>
                  <a:buFont typeface="Wingdings" charset="0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MS PGothic" charset="0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cs typeface="Arial" panose="02080604020202020204" pitchFamily="34" charset="0"/>
                  </a:rPr>
                  <a:t>function Alokasi(data : Infotype) </a:t>
                </a:r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</a:rPr>
                  <a:t>→ Address</a:t>
                </a:r>
                <a:endParaRPr lang="en-US" altLang="en-US" sz="1800" dirty="0">
                  <a:latin typeface="Arial" panose="02080604020202020204" pitchFamily="34" charset="0"/>
                  <a:cs typeface="Arial" panose="02080604020202020204" pitchFamily="34" charset="0"/>
                </a:endParaRP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u="sng" dirty="0">
                    <a:latin typeface="Arial" panose="02080604020202020204" pitchFamily="34" charset="0"/>
                    <a:cs typeface="Arial" panose="02080604020202020204" pitchFamily="34" charset="0"/>
                  </a:rPr>
                  <a:t>kamus</a:t>
                </a: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cs typeface="Arial" panose="02080604020202020204" pitchFamily="34" charset="0"/>
                  </a:rPr>
                  <a:t>	P : Address</a:t>
                </a: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u="sng" dirty="0">
                    <a:latin typeface="Arial" panose="02080604020202020204" pitchFamily="34" charset="0"/>
                    <a:cs typeface="Arial" panose="02080604020202020204" pitchFamily="34" charset="0"/>
                  </a:rPr>
                  <a:t>algoritma</a:t>
                </a:r>
                <a:endParaRPr lang="en-US" altLang="en-US" sz="1800" dirty="0">
                  <a:latin typeface="Arial" panose="02080604020202020204" pitchFamily="34" charset="0"/>
                  <a:cs typeface="Arial" panose="02080604020202020204" pitchFamily="34" charset="0"/>
                </a:endParaRP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cs typeface="Arial" panose="02080604020202020204" pitchFamily="34" charset="0"/>
                  </a:rPr>
                  <a:t>	P =</a:t>
                </a:r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 new ojolElement</a:t>
                </a: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	(P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→</m:t>
                    </m:r>
                  </m:oMath>
                </a14:m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info).nama = “Budi”</a:t>
                </a: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	(P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→</m:t>
                    </m:r>
                  </m:oMath>
                </a14:m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info).rating = 5.0</a:t>
                </a: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	P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→</m:t>
                    </m:r>
                  </m:oMath>
                </a14:m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next = NIL</a:t>
                </a: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	return P</a:t>
                </a:r>
              </a:p>
            </p:txBody>
          </p:sp>
        </mc:Choice>
        <mc:Fallback xmlns="">
          <p:sp>
            <p:nvSpPr>
              <p:cNvPr id="14" name="Content Placeholder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715" y="2112010"/>
                <a:ext cx="8314055" cy="2634615"/>
              </a:xfrm>
              <a:prstGeom prst="rect">
                <a:avLst/>
              </a:prstGeom>
              <a:blipFill rotWithShape="1">
                <a:blip r:embed="rId3"/>
                <a:stretch>
                  <a:fillRect l="-61" t="-193" r="-53" b="-16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35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</a:rPr>
              <a:t>Cara Mengakses List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" y="1977390"/>
            <a:ext cx="7428865" cy="1510665"/>
          </a:xfrm>
          <a:prstGeom prst="rect">
            <a:avLst/>
          </a:prstGeom>
        </p:spPr>
      </p:pic>
      <p:sp>
        <p:nvSpPr>
          <p:cNvPr id="10" name="Content Placeholder 1"/>
          <p:cNvSpPr>
            <a:spLocks noGrp="1"/>
          </p:cNvSpPr>
          <p:nvPr/>
        </p:nvSpPr>
        <p:spPr>
          <a:xfrm>
            <a:off x="365760" y="3555365"/>
            <a:ext cx="8314055" cy="26308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r>
              <a:rPr lang="en-US" sz="2000" b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L.first</a:t>
            </a:r>
            <a:r>
              <a:rPr 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mengakses </a:t>
            </a:r>
            <a:r>
              <a:rPr lang="en-US" sz="2000" b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pointer First</a:t>
            </a:r>
            <a:r>
              <a:rPr 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dari List L yang menyimpan alamat elemen pertama dari List L</a:t>
            </a: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r>
              <a:rPr lang="en-US" sz="2000" b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P→info</a:t>
            </a:r>
            <a:r>
              <a:rPr 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mengakses </a:t>
            </a:r>
            <a:r>
              <a:rPr lang="en-US" sz="2000" b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variabel info</a:t>
            </a:r>
            <a:r>
              <a:rPr 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pada elemen yang alamatnya di simpan pada pointer P / ditunjuk oleh pointer P</a:t>
            </a: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r>
              <a:rPr lang="en-US" sz="2000" b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P→next</a:t>
            </a:r>
            <a:r>
              <a:rPr 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mengakses </a:t>
            </a:r>
            <a:r>
              <a:rPr lang="en-US" sz="2000" b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pointer next</a:t>
            </a:r>
            <a:r>
              <a:rPr lang="en-US" sz="2000" b="1" i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dari elemen yang alamatnya disimpan pada pointer P/ditunjuk oleh pointer P. Isi pointer Next(P) adalah alamat elemen selanjutnya dari elemen yang ditunjuk oleh pointer P</a:t>
            </a:r>
            <a:endParaRPr lang="en-US" sz="2000" i="1" spc="-1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t>36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CDK2AAB4 – STRUKTUR DATA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551813" y="1336418"/>
            <a:ext cx="6182127" cy="1429688"/>
            <a:chOff x="2551813" y="1336418"/>
            <a:chExt cx="6182127" cy="1429688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51813" y="1336418"/>
              <a:ext cx="6182127" cy="1429688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3008813" y="1694759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L</a:t>
              </a:r>
            </a:p>
          </p:txBody>
        </p:sp>
      </p:grpSp>
      <p:graphicFrame>
        <p:nvGraphicFramePr>
          <p:cNvPr id="10" name="Content Placeholder 8"/>
          <p:cNvGraphicFramePr/>
          <p:nvPr/>
        </p:nvGraphicFramePr>
        <p:xfrm>
          <a:off x="365125" y="3009883"/>
          <a:ext cx="7822434" cy="212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5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Task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Answer 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output ( P →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info</a:t>
                      </a:r>
                      <a:r>
                        <a:rPr lang="en-US" dirty="0"/>
                        <a:t>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output (( L.first ) → info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output (( P →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next</a:t>
                      </a:r>
                      <a:r>
                        <a:rPr lang="en-US" dirty="0"/>
                        <a:t> ) →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info 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41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= (L.first) → next</a:t>
                      </a:r>
                    </a:p>
                    <a:p>
                      <a:pPr algn="l"/>
                      <a:r>
                        <a:rPr lang="en-US" dirty="0">
                          <a:sym typeface="Wingdings" panose="05000000000000000000" pitchFamily="2" charset="2"/>
                        </a:rPr>
                        <a:t>output (P → next) → info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34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578" y="3418840"/>
            <a:ext cx="504536" cy="29850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578" y="3778013"/>
            <a:ext cx="504536" cy="33812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692" y="4131147"/>
            <a:ext cx="504536" cy="33006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692" y="4529944"/>
            <a:ext cx="504536" cy="281313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37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</a:rPr>
              <a:t>Exercise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58775" y="3003550"/>
          <a:ext cx="8449309" cy="2225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76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000" spc="-6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Task</a:t>
                      </a: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Answer</a:t>
                      </a: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Make</a:t>
                      </a:r>
                      <a:r>
                        <a:rPr sz="2000" spc="-3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points</a:t>
                      </a: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the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first</a:t>
                      </a:r>
                      <a:r>
                        <a:rPr sz="2000" spc="-2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element</a:t>
                      </a: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Make</a:t>
                      </a:r>
                      <a:r>
                        <a:rPr sz="2000" spc="-2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 points </a:t>
                      </a: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the second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element</a:t>
                      </a:r>
                      <a:endParaRPr sz="2000" dirty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Make</a:t>
                      </a:r>
                      <a:r>
                        <a:rPr sz="2000" spc="-2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r>
                        <a:rPr sz="2000" spc="-1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points </a:t>
                      </a: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the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last</a:t>
                      </a:r>
                      <a:r>
                        <a:rPr sz="2000" spc="-2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element</a:t>
                      </a:r>
                      <a:endParaRPr sz="2000" dirty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Output</a:t>
                      </a:r>
                      <a:r>
                        <a:rPr sz="2000" spc="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info</a:t>
                      </a:r>
                      <a:r>
                        <a:rPr sz="2000" spc="-1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the</a:t>
                      </a:r>
                      <a:r>
                        <a:rPr sz="2000" spc="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first</a:t>
                      </a: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element</a:t>
                      </a:r>
                      <a:r>
                        <a:rPr sz="2000" spc="1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of </a:t>
                      </a: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the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list</a:t>
                      </a: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Output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info</a:t>
                      </a:r>
                      <a:r>
                        <a:rPr sz="2000" spc="-2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of</a:t>
                      </a:r>
                      <a:r>
                        <a:rPr sz="2000" spc="-1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the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last</a:t>
                      </a:r>
                      <a:r>
                        <a:rPr sz="2000" spc="-1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element</a:t>
                      </a:r>
                      <a:endParaRPr sz="2000" dirty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0345" y="1457811"/>
            <a:ext cx="6055981" cy="1301203"/>
          </a:xfrm>
          <a:prstGeom prst="rect">
            <a:avLst/>
          </a:prstGeom>
        </p:spPr>
      </p:pic>
      <p:sp>
        <p:nvSpPr>
          <p:cNvPr id="8" name="Content Placeholder 1"/>
          <p:cNvSpPr>
            <a:spLocks noGrp="1"/>
          </p:cNvSpPr>
          <p:nvPr/>
        </p:nvSpPr>
        <p:spPr>
          <a:xfrm>
            <a:off x="1272540" y="1977390"/>
            <a:ext cx="96329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 :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38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</a:rPr>
              <a:t>Exercise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8" name="object 2"/>
          <p:cNvGraphicFramePr>
            <a:graphicFrameLocks noGrp="1"/>
          </p:cNvGraphicFramePr>
          <p:nvPr/>
        </p:nvGraphicFramePr>
        <p:xfrm>
          <a:off x="358775" y="3003550"/>
          <a:ext cx="8448675" cy="32505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85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3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000" spc="-6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Task</a:t>
                      </a: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Answer</a:t>
                      </a: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Copy</a:t>
                      </a:r>
                      <a:r>
                        <a:rPr sz="2000" spc="-1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info</a:t>
                      </a:r>
                      <a:r>
                        <a:rPr sz="2000" spc="-1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element</a:t>
                      </a:r>
                      <a:r>
                        <a:rPr sz="2000" spc="2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 into</a:t>
                      </a:r>
                      <a:r>
                        <a:rPr sz="2000" spc="-1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first </a:t>
                      </a: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element</a:t>
                      </a:r>
                      <a:endParaRPr sz="2000" dirty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Copy</a:t>
                      </a:r>
                      <a:r>
                        <a:rPr sz="2000" spc="-1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info</a:t>
                      </a:r>
                      <a:r>
                        <a:rPr sz="2000" spc="-1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the</a:t>
                      </a:r>
                      <a:r>
                        <a:rPr sz="2000" spc="1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second</a:t>
                      </a:r>
                      <a:r>
                        <a:rPr sz="2000" spc="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element</a:t>
                      </a:r>
                      <a:r>
                        <a:rPr sz="2000" spc="1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into</a:t>
                      </a:r>
                      <a:r>
                        <a:rPr sz="2000" spc="-1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Set</a:t>
                      </a:r>
                      <a:r>
                        <a:rPr sz="2000" spc="-1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info</a:t>
                      </a:r>
                      <a:r>
                        <a:rPr sz="2000" spc="-2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of</a:t>
                      </a: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first</a:t>
                      </a:r>
                      <a:r>
                        <a:rPr sz="2000" spc="-1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element</a:t>
                      </a:r>
                      <a:r>
                        <a:rPr sz="2000" spc="1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=</a:t>
                      </a:r>
                      <a:r>
                        <a:rPr sz="2000" spc="-1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10</a:t>
                      </a: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Output</a:t>
                      </a:r>
                      <a:r>
                        <a:rPr sz="2000" spc="-1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info</a:t>
                      </a:r>
                      <a:r>
                        <a:rPr sz="2000" spc="-2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element</a:t>
                      </a:r>
                      <a:r>
                        <a:rPr sz="2000" spc="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Output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info</a:t>
                      </a:r>
                      <a:r>
                        <a:rPr sz="2000" spc="-2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of</a:t>
                      </a:r>
                      <a:r>
                        <a:rPr sz="2000" spc="-1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first</a:t>
                      </a: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element</a:t>
                      </a:r>
                      <a:endParaRPr sz="2000" dirty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67">
                <a:tc>
                  <a:txBody>
                    <a:bodyPr/>
                    <a:lstStyle/>
                    <a:p>
                      <a:pPr marL="91440" marR="105473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Copy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info first </a:t>
                      </a: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element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into next </a:t>
                      </a:r>
                      <a:r>
                        <a:rPr sz="2000" spc="-62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element</a:t>
                      </a:r>
                      <a:r>
                        <a:rPr sz="2000" spc="1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of</a:t>
                      </a:r>
                      <a:r>
                        <a:rPr sz="2000" spc="-1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Output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info</a:t>
                      </a:r>
                      <a:r>
                        <a:rPr sz="2000" spc="-1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of</a:t>
                      </a:r>
                      <a:r>
                        <a:rPr sz="2000" spc="-1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the</a:t>
                      </a:r>
                      <a:r>
                        <a:rPr sz="200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last</a:t>
                      </a:r>
                      <a:r>
                        <a:rPr sz="2000" spc="-10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 </a:t>
                      </a:r>
                      <a:r>
                        <a:rPr sz="2000" spc="-5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element</a:t>
                      </a:r>
                      <a:endParaRPr sz="2000" dirty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9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7253" y="1410001"/>
            <a:ext cx="5968106" cy="1310856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/>
        </p:nvSpPr>
        <p:spPr>
          <a:xfrm>
            <a:off x="1272540" y="1977390"/>
            <a:ext cx="96329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 :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452880"/>
            <a:ext cx="8326438" cy="4744720"/>
          </a:xfrm>
        </p:spPr>
        <p:txBody>
          <a:bodyPr/>
          <a:lstStyle/>
          <a:p>
            <a:pPr marL="0" indent="0">
              <a:buNone/>
            </a:pPr>
            <a:r>
              <a:rPr lang="en-ID" sz="1600" dirty="0" err="1"/>
              <a:t>Diketahui</a:t>
            </a:r>
            <a:r>
              <a:rPr lang="en-ID" sz="1600" dirty="0"/>
              <a:t> </a:t>
            </a:r>
            <a:r>
              <a:rPr lang="en-ID" sz="1600" dirty="0" err="1"/>
              <a:t>struktur</a:t>
            </a:r>
            <a:r>
              <a:rPr lang="en-ID" sz="1600" dirty="0"/>
              <a:t> </a:t>
            </a:r>
            <a:r>
              <a:rPr lang="en-ID" sz="1600" dirty="0" err="1"/>
              <a:t>sebagai</a:t>
            </a:r>
            <a:r>
              <a:rPr lang="en-ID" sz="1600" dirty="0"/>
              <a:t> </a:t>
            </a:r>
            <a:r>
              <a:rPr lang="en-ID" sz="1600" dirty="0" err="1"/>
              <a:t>berikut</a:t>
            </a:r>
            <a:r>
              <a:rPr lang="en-ID" sz="1600" dirty="0"/>
              <a:t>:</a:t>
            </a:r>
            <a:br>
              <a:rPr lang="en-ID" sz="1600" dirty="0"/>
            </a:b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type </a:t>
            </a:r>
            <a:r>
              <a:rPr lang="en-ID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IpkElem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b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ID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ipk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: float,</a:t>
            </a:r>
            <a:b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next : </a:t>
            </a:r>
            <a:r>
              <a:rPr lang="en-ID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pointer to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IpkElem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&gt;</a:t>
            </a:r>
          </a:p>
          <a:p>
            <a:pPr marL="0" indent="0">
              <a:buNone/>
            </a:pPr>
            <a:r>
              <a:rPr lang="en-ID" sz="1600" dirty="0"/>
              <a:t>Buat </a:t>
            </a:r>
            <a:r>
              <a:rPr lang="en-ID" sz="1600" dirty="0" err="1"/>
              <a:t>fungsi</a:t>
            </a:r>
            <a:r>
              <a:rPr lang="en-ID" sz="1600" dirty="0"/>
              <a:t> </a:t>
            </a:r>
            <a:r>
              <a:rPr lang="en-ID" sz="1600" b="1" dirty="0" err="1"/>
              <a:t>createNewIpkElem</a:t>
            </a:r>
            <a:r>
              <a:rPr lang="en-ID" sz="1600" b="1" dirty="0"/>
              <a:t> </a:t>
            </a:r>
            <a:r>
              <a:rPr lang="en-ID" sz="1600" dirty="0"/>
              <a:t>yang </a:t>
            </a:r>
            <a:r>
              <a:rPr lang="en-ID" sz="1600" dirty="0" err="1"/>
              <a:t>mengembalikan</a:t>
            </a:r>
            <a:r>
              <a:rPr lang="en-ID" sz="1600" dirty="0"/>
              <a:t> </a:t>
            </a:r>
            <a:r>
              <a:rPr lang="en-ID" sz="1600" dirty="0" err="1"/>
              <a:t>objek</a:t>
            </a:r>
            <a:r>
              <a:rPr lang="en-ID" sz="1600" dirty="0"/>
              <a:t> </a:t>
            </a:r>
            <a:r>
              <a:rPr lang="en-ID" sz="1600" dirty="0" err="1"/>
              <a:t>IpkElem</a:t>
            </a:r>
            <a:r>
              <a:rPr lang="en-ID" sz="1600" dirty="0"/>
              <a:t> yang </a:t>
            </a:r>
            <a:r>
              <a:rPr lang="en-ID" sz="1600" dirty="0" err="1"/>
              <a:t>sudah</a:t>
            </a:r>
            <a:r>
              <a:rPr lang="en-ID" sz="1600" dirty="0"/>
              <a:t> </a:t>
            </a:r>
            <a:r>
              <a:rPr lang="en-ID" sz="1600" dirty="0" err="1"/>
              <a:t>diisi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nilai</a:t>
            </a:r>
            <a:r>
              <a:rPr lang="en-ID" sz="1600" dirty="0"/>
              <a:t> yang </a:t>
            </a:r>
            <a:r>
              <a:rPr lang="en-ID" sz="1600" dirty="0" err="1"/>
              <a:t>dikirim</a:t>
            </a:r>
            <a:r>
              <a:rPr lang="en-ID" sz="1600" dirty="0"/>
              <a:t> </a:t>
            </a:r>
            <a:r>
              <a:rPr lang="en-ID" sz="1600" dirty="0" err="1"/>
              <a:t>sebagai</a:t>
            </a:r>
            <a:r>
              <a:rPr lang="en-ID" sz="1600" dirty="0"/>
              <a:t> parameter:</a:t>
            </a:r>
            <a:br>
              <a:rPr lang="en-ID" sz="1600" dirty="0"/>
            </a:br>
            <a:br>
              <a:rPr lang="en-ID" sz="1600" dirty="0"/>
            </a:br>
            <a:r>
              <a:rPr lang="en-ID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createNewIpkElem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ID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newipk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ID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) -&gt; </a:t>
            </a:r>
            <a:r>
              <a:rPr lang="en-ID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IpkElem</a:t>
            </a:r>
            <a:b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ID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mengembalikan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pointer yang </a:t>
            </a:r>
            <a:r>
              <a:rPr lang="en-ID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menunjuk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objek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IpkElem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ID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telah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D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terisi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newipk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ipk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dan NIL </a:t>
            </a:r>
            <a:r>
              <a:rPr lang="en-ID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next. }</a:t>
            </a:r>
            <a:b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D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dictionary</a:t>
            </a:r>
            <a:b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ID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D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algorithm</a:t>
            </a:r>
          </a:p>
          <a:p>
            <a:pPr marL="0" indent="0">
              <a:buNone/>
            </a:pPr>
            <a:endParaRPr lang="en-ID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D" sz="1600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endfunction</a:t>
            </a:r>
            <a:endParaRPr lang="en-ID" sz="16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3A19-2998-4055-B9E4-962777068750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7A859-A68D-47E7-B074-687EF13E7C13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  <p:transition spd="med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452880"/>
            <a:ext cx="8326438" cy="4744720"/>
          </a:xfrm>
        </p:spPr>
        <p:txBody>
          <a:bodyPr/>
          <a:lstStyle/>
          <a:p>
            <a:pPr marL="0" indent="0">
              <a:buNone/>
            </a:pPr>
            <a:r>
              <a:rPr lang="en-ID" sz="1600" dirty="0" err="1"/>
              <a:t>Diketahui</a:t>
            </a:r>
            <a:r>
              <a:rPr lang="en-ID" sz="1600" dirty="0"/>
              <a:t> </a:t>
            </a:r>
            <a:r>
              <a:rPr lang="en-ID" sz="1600" dirty="0" err="1"/>
              <a:t>struktur</a:t>
            </a:r>
            <a:r>
              <a:rPr lang="en-ID" sz="1600" dirty="0"/>
              <a:t> </a:t>
            </a:r>
            <a:r>
              <a:rPr lang="en-ID" sz="1600" dirty="0" err="1"/>
              <a:t>sebagai</a:t>
            </a:r>
            <a:r>
              <a:rPr lang="en-ID" sz="1600" dirty="0"/>
              <a:t> </a:t>
            </a:r>
            <a:r>
              <a:rPr lang="en-ID" sz="1600" dirty="0" err="1"/>
              <a:t>berikut</a:t>
            </a:r>
            <a:r>
              <a:rPr lang="en-ID" sz="1600" dirty="0"/>
              <a:t>:</a:t>
            </a:r>
            <a:br>
              <a:rPr lang="en-ID" sz="1600" dirty="0"/>
            </a:b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type </a:t>
            </a:r>
            <a:r>
              <a:rPr lang="en-ID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BookElem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b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title  : string,</a:t>
            </a:r>
            <a:b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next : </a:t>
            </a:r>
            <a:r>
              <a:rPr lang="en-ID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pointer to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BookElem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&gt;</a:t>
            </a:r>
          </a:p>
          <a:p>
            <a:pPr marL="0" indent="0">
              <a:buNone/>
            </a:pPr>
            <a:r>
              <a:rPr lang="en-ID" sz="1600" dirty="0"/>
              <a:t>Buat </a:t>
            </a:r>
            <a:r>
              <a:rPr lang="en-ID" sz="1600" dirty="0" err="1"/>
              <a:t>fungsi</a:t>
            </a:r>
            <a:r>
              <a:rPr lang="en-ID" sz="1600" dirty="0"/>
              <a:t> </a:t>
            </a:r>
            <a:r>
              <a:rPr lang="en-ID" sz="1600" b="1" dirty="0" err="1"/>
              <a:t>createNewBookElem</a:t>
            </a:r>
            <a:r>
              <a:rPr lang="en-ID" sz="1600" b="1" dirty="0"/>
              <a:t> </a:t>
            </a:r>
            <a:r>
              <a:rPr lang="en-ID" sz="1600" dirty="0"/>
              <a:t>yang </a:t>
            </a:r>
            <a:r>
              <a:rPr lang="en-ID" sz="1600" dirty="0" err="1"/>
              <a:t>mengembalikan</a:t>
            </a:r>
            <a:r>
              <a:rPr lang="en-ID" sz="1600" dirty="0"/>
              <a:t> </a:t>
            </a:r>
            <a:r>
              <a:rPr lang="en-ID" sz="1600" dirty="0" err="1"/>
              <a:t>objek</a:t>
            </a:r>
            <a:r>
              <a:rPr lang="en-ID" sz="1600" dirty="0"/>
              <a:t> </a:t>
            </a:r>
            <a:r>
              <a:rPr lang="en-ID" sz="1600" dirty="0" err="1"/>
              <a:t>BookElem</a:t>
            </a:r>
            <a:r>
              <a:rPr lang="en-ID" sz="1600" dirty="0"/>
              <a:t> yang </a:t>
            </a:r>
            <a:r>
              <a:rPr lang="en-ID" sz="1600" dirty="0" err="1"/>
              <a:t>sudah</a:t>
            </a:r>
            <a:r>
              <a:rPr lang="en-ID" sz="1600" dirty="0"/>
              <a:t> </a:t>
            </a:r>
            <a:r>
              <a:rPr lang="en-ID" sz="1600" dirty="0" err="1"/>
              <a:t>diisi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nilai</a:t>
            </a:r>
            <a:r>
              <a:rPr lang="en-ID" sz="1600" dirty="0"/>
              <a:t> yang </a:t>
            </a:r>
            <a:r>
              <a:rPr lang="en-ID" sz="1600" dirty="0" err="1"/>
              <a:t>dikirim</a:t>
            </a:r>
            <a:r>
              <a:rPr lang="en-ID" sz="1600" dirty="0"/>
              <a:t> </a:t>
            </a:r>
            <a:r>
              <a:rPr lang="en-ID" sz="1600" dirty="0" err="1"/>
              <a:t>sebagai</a:t>
            </a:r>
            <a:r>
              <a:rPr lang="en-ID" sz="1600" dirty="0"/>
              <a:t> parameter:</a:t>
            </a:r>
            <a:br>
              <a:rPr lang="en-ID" sz="1600" dirty="0"/>
            </a:br>
            <a:br>
              <a:rPr lang="en-ID" sz="1600" dirty="0"/>
            </a:br>
            <a:r>
              <a:rPr lang="en-ID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createNewBookElem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ID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newtitile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ID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) -&gt; </a:t>
            </a:r>
            <a:r>
              <a:rPr lang="en-ID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BookElem</a:t>
            </a:r>
            <a:b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ID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mengembalikan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pointer yang </a:t>
            </a:r>
            <a:r>
              <a:rPr lang="en-ID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menunjuk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objek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BookElem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ID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telah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D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terisi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newtitle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title dan NIL </a:t>
            </a:r>
            <a:r>
              <a:rPr lang="en-ID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next. }</a:t>
            </a:r>
            <a:b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D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dictionary</a:t>
            </a:r>
            <a:b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ID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D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algorithm</a:t>
            </a:r>
          </a:p>
          <a:p>
            <a:pPr marL="0" indent="0">
              <a:buNone/>
            </a:pPr>
            <a:endParaRPr lang="en-ID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D" sz="1600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endfunction</a:t>
            </a:r>
            <a:endParaRPr lang="en-ID" sz="16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3A19-2998-4055-B9E4-962777068750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7A859-A68D-47E7-B074-687EF13E7C13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  <p:transition spd="med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80604020202020204" pitchFamily="34" charset="0"/>
                <a:cs typeface="Arial" panose="02080604020202020204" pitchFamily="34" charset="0"/>
              </a:rPr>
              <a:t>Question?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5500" y="1977390"/>
            <a:ext cx="2326005" cy="3333750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80604020202020204" pitchFamily="34" charset="0"/>
                <a:cs typeface="Arial" panose="02080604020202020204" pitchFamily="34" charset="0"/>
              </a:rPr>
              <a:t>Linked List - Insert </a:t>
            </a:r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</a:rPr>
              <a:t> &amp; Delete </a:t>
            </a:r>
            <a:r>
              <a:rPr lang="en-US" dirty="0">
                <a:latin typeface="Arial" panose="02080604020202020204" pitchFamily="34" charset="0"/>
                <a:cs typeface="Arial" panose="02080604020202020204" pitchFamily="34" charset="0"/>
              </a:rPr>
              <a:t>Operation</a:t>
            </a:r>
          </a:p>
        </p:txBody>
      </p:sp>
      <p:pic>
        <p:nvPicPr>
          <p:cNvPr id="19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685" y="2143760"/>
            <a:ext cx="3429635" cy="3923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</a:rPr>
              <a:t>Misalkan terdapat 2 elemen dengan masing-masing memiliki pointer P dan Q</a:t>
            </a:r>
          </a:p>
          <a:p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</a:rPr>
              <a:t>Pindahkan pointer P menuju elemen yang ditunjuk oleh pointer Q</a:t>
            </a:r>
          </a:p>
          <a:p>
            <a:pPr lvl="1"/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</a:rPr>
              <a:t>P =</a:t>
            </a: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Q</a:t>
            </a:r>
          </a:p>
          <a:p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Apa yang terjadi dengan elemen yang bernilai (15)?</a:t>
            </a:r>
            <a:endParaRPr lang="en-US" sz="2000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43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80604020202020204" pitchFamily="34" charset="0"/>
                <a:cs typeface="Arial" panose="02080604020202020204" pitchFamily="34" charset="0"/>
              </a:rPr>
              <a:t>Hati-hati dengan Pointer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50478" y="538064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662243" y="474266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stCxn id="7" idx="3"/>
            <a:endCxn id="13" idx="1"/>
          </p:cNvCxnSpPr>
          <p:nvPr/>
        </p:nvCxnSpPr>
        <p:spPr>
          <a:xfrm>
            <a:off x="3016885" y="4928235"/>
            <a:ext cx="2401570" cy="604520"/>
          </a:xfrm>
          <a:prstGeom prst="bentConnector3">
            <a:avLst>
              <a:gd name="adj1" fmla="val 50000"/>
            </a:avLst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18695" y="534762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130460" y="4709644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" name="Straight Arrow Connector 9"/>
          <p:cNvCxnSpPr>
            <a:stCxn id="14" idx="3"/>
            <a:endCxn id="13" idx="0"/>
          </p:cNvCxnSpPr>
          <p:nvPr/>
        </p:nvCxnSpPr>
        <p:spPr>
          <a:xfrm>
            <a:off x="5484955" y="4895064"/>
            <a:ext cx="479115" cy="452559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325" y="4443095"/>
            <a:ext cx="1471295" cy="159194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>
                <a:latin typeface="Arial" panose="02080604020202020204" pitchFamily="34" charset="0"/>
                <a:cs typeface="Arial" panose="02080604020202020204" pitchFamily="34" charset="0"/>
              </a:rPr>
              <a:t>Elemen bernilai (15) akan “hilang”</a:t>
            </a:r>
          </a:p>
          <a:p>
            <a:pPr lvl="1"/>
            <a:r>
              <a:rPr lang="en-US" dirty="0">
                <a:solidFill>
                  <a:srgbClr val="0070C0"/>
                </a:solidFill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Elemen (15) masih ada </a:t>
            </a:r>
            <a:r>
              <a:rPr lang="en-US" dirty="0"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dan  </a:t>
            </a:r>
            <a:r>
              <a:rPr lang="en-US" dirty="0">
                <a:solidFill>
                  <a:srgbClr val="FF0000"/>
                </a:solidFill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tidak bisa diakses</a:t>
            </a:r>
            <a:endParaRPr lang="en-US" dirty="0">
              <a:solidFill>
                <a:srgbClr val="0070C0"/>
              </a:solidFill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lvl="1"/>
            <a:r>
              <a:rPr lang="en-US" dirty="0"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Memori masih dipakai / terbuang sia-sia</a:t>
            </a:r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44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80604020202020204" pitchFamily="34" charset="0"/>
                <a:cs typeface="Arial" panose="02080604020202020204" pitchFamily="34" charset="0"/>
              </a:rPr>
              <a:t>Hati-hati dengan Pointer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831098" y="4430048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542863" y="3792069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299315" y="4397028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11080" y="3759049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" name="Straight Arrow Connector 9"/>
          <p:cNvCxnSpPr>
            <a:stCxn id="14" idx="3"/>
            <a:endCxn id="13" idx="0"/>
          </p:cNvCxnSpPr>
          <p:nvPr/>
        </p:nvCxnSpPr>
        <p:spPr>
          <a:xfrm>
            <a:off x="5365575" y="3944469"/>
            <a:ext cx="479115" cy="452559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9"/>
          <p:cNvCxnSpPr>
            <a:stCxn id="7" idx="3"/>
            <a:endCxn id="13" idx="1"/>
          </p:cNvCxnSpPr>
          <p:nvPr/>
        </p:nvCxnSpPr>
        <p:spPr>
          <a:xfrm>
            <a:off x="2897358" y="3977489"/>
            <a:ext cx="2401957" cy="604959"/>
          </a:xfrm>
          <a:prstGeom prst="bentConnector3">
            <a:avLst>
              <a:gd name="adj1" fmla="val 50000"/>
            </a:avLst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0" y="4567555"/>
            <a:ext cx="1380490" cy="1438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/>
              <p:cNvSpPr>
                <a:spLocks noGrp="1"/>
              </p:cNvSpPr>
              <p:nvPr>
                <p:ph sz="quarter" idx="14"/>
              </p:nvPr>
            </p:nvSpPr>
            <p:spPr/>
            <p:txBody>
              <a:bodyPr/>
              <a:lstStyle/>
              <a:p>
                <a:r>
                  <a:rPr lang="en-US" sz="2000" dirty="0">
                    <a:latin typeface="Arial" panose="02080604020202020204" pitchFamily="34" charset="0"/>
                    <a:cs typeface="Arial" panose="02080604020202020204" pitchFamily="34" charset="0"/>
                  </a:rPr>
                  <a:t>Dimisalkan terdapat List berikut</a:t>
                </a:r>
              </a:p>
              <a:p>
                <a:endParaRPr lang="en-US" sz="2000" dirty="0">
                  <a:latin typeface="Arial" panose="02080604020202020204" pitchFamily="34" charset="0"/>
                  <a:cs typeface="Arial" panose="02080604020202020204" pitchFamily="34" charset="0"/>
                </a:endParaRPr>
              </a:p>
              <a:p>
                <a:endParaRPr lang="en-US" sz="2000" dirty="0">
                  <a:latin typeface="Arial" panose="02080604020202020204" pitchFamily="34" charset="0"/>
                  <a:cs typeface="Arial" panose="02080604020202020204" pitchFamily="34" charset="0"/>
                </a:endParaRPr>
              </a:p>
              <a:p>
                <a:r>
                  <a:rPr lang="en-US" sz="2000" dirty="0">
                    <a:latin typeface="Arial" panose="02080604020202020204" pitchFamily="34" charset="0"/>
                    <a:cs typeface="Arial" panose="02080604020202020204" pitchFamily="34" charset="0"/>
                  </a:rPr>
                  <a:t>Apa yang terjadi ketika dilakukan perintah berikut</a:t>
                </a:r>
              </a:p>
              <a:p>
                <a:pPr lvl="1"/>
                <a:r>
                  <a:rPr lang="en-US" sz="2000" dirty="0">
                    <a:latin typeface="Arial" panose="02080604020202020204" pitchFamily="34" charset="0"/>
                    <a:cs typeface="Arial" panose="02080604020202020204" pitchFamily="34" charset="0"/>
                  </a:rPr>
                  <a:t>L.first =</a:t>
                </a:r>
                <a:r>
                  <a:rPr lang="en-US" sz="2000" dirty="0">
                    <a:latin typeface="Arial" panose="02080604020202020204" pitchFamily="34" charset="0"/>
                    <a:cs typeface="Arial" panose="02080604020202020204" pitchFamily="34" charset="0"/>
                    <a:sym typeface="Wingdings" panose="05000000000000000000" pitchFamily="2" charset="2"/>
                  </a:rPr>
                  <a:t> (L.first)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→</m:t>
                    </m:r>
                  </m:oMath>
                </a14:m>
                <a:r>
                  <a:rPr lang="en-US" sz="2000" dirty="0">
                    <a:latin typeface="Arial" panose="02080604020202020204" pitchFamily="34" charset="0"/>
                    <a:cs typeface="Arial" panose="02080604020202020204" pitchFamily="34" charset="0"/>
                    <a:sym typeface="Wingdings" panose="05000000000000000000" pitchFamily="2" charset="2"/>
                  </a:rPr>
                  <a:t> next</a:t>
                </a:r>
              </a:p>
              <a:p>
                <a:r>
                  <a:rPr lang="en-US" sz="2000" dirty="0">
                    <a:latin typeface="Arial" panose="02080604020202020204" pitchFamily="34" charset="0"/>
                    <a:cs typeface="Arial" panose="02080604020202020204" pitchFamily="34" charset="0"/>
                    <a:sym typeface="Wingdings" panose="05000000000000000000" pitchFamily="2" charset="2"/>
                  </a:rPr>
                  <a:t>Elemen (15) </a:t>
                </a:r>
                <a:r>
                  <a:rPr lang="en-US" sz="2000" dirty="0">
                    <a:solidFill>
                      <a:srgbClr val="FF0000"/>
                    </a:solidFill>
                    <a:latin typeface="Arial" panose="02080604020202020204" pitchFamily="34" charset="0"/>
                    <a:cs typeface="Arial" panose="02080604020202020204" pitchFamily="34" charset="0"/>
                    <a:sym typeface="Wingdings" panose="05000000000000000000" pitchFamily="2" charset="2"/>
                  </a:rPr>
                  <a:t>tidak</a:t>
                </a:r>
                <a:r>
                  <a:rPr lang="en-US" sz="2000" dirty="0">
                    <a:latin typeface="Arial" panose="02080604020202020204" pitchFamily="34" charset="0"/>
                    <a:cs typeface="Arial" panose="02080604020202020204" pitchFamily="34" charset="0"/>
                    <a:sym typeface="Wingdings" panose="05000000000000000000" pitchFamily="2" charset="2"/>
                  </a:rPr>
                  <a:t> bisa diakses</a:t>
                </a:r>
              </a:p>
              <a:p>
                <a:pPr lvl="1"/>
                <a:r>
                  <a:rPr lang="en-US" sz="2000" dirty="0">
                    <a:latin typeface="Arial" panose="02080604020202020204" pitchFamily="34" charset="0"/>
                    <a:cs typeface="Arial" panose="02080604020202020204" pitchFamily="34" charset="0"/>
                    <a:sym typeface="Wingdings" panose="05000000000000000000" pitchFamily="2" charset="2"/>
                  </a:rPr>
                  <a:t>Dan terjadi lagi, </a:t>
                </a:r>
                <a:r>
                  <a:rPr lang="en-US" sz="2000" dirty="0">
                    <a:solidFill>
                      <a:srgbClr val="FF0000"/>
                    </a:solidFill>
                    <a:latin typeface="Arial" panose="02080604020202020204" pitchFamily="34" charset="0"/>
                    <a:cs typeface="Arial" panose="02080604020202020204" pitchFamily="34" charset="0"/>
                    <a:sym typeface="Wingdings" panose="05000000000000000000" pitchFamily="2" charset="2"/>
                  </a:rPr>
                  <a:t>hilang</a:t>
                </a:r>
                <a:r>
                  <a:rPr lang="en-US" sz="2000" dirty="0">
                    <a:latin typeface="Arial" panose="02080604020202020204" pitchFamily="34" charset="0"/>
                    <a:cs typeface="Arial" panose="02080604020202020204" pitchFamily="34" charset="0"/>
                    <a:sym typeface="Wingdings" panose="05000000000000000000" pitchFamily="2" charset="2"/>
                  </a:rPr>
                  <a:t>, dan </a:t>
                </a:r>
                <a:r>
                  <a:rPr lang="en-US" sz="2000" dirty="0">
                    <a:solidFill>
                      <a:srgbClr val="FF0000"/>
                    </a:solidFill>
                    <a:latin typeface="Arial" panose="02080604020202020204" pitchFamily="34" charset="0"/>
                    <a:cs typeface="Arial" panose="02080604020202020204" pitchFamily="34" charset="0"/>
                    <a:sym typeface="Wingdings" panose="05000000000000000000" pitchFamily="2" charset="2"/>
                  </a:rPr>
                  <a:t>tidak bisa diakses</a:t>
                </a:r>
              </a:p>
              <a:p>
                <a:pPr lvl="1"/>
                <a:r>
                  <a:rPr lang="en-US" sz="2000" dirty="0">
                    <a:latin typeface="Arial" panose="02080604020202020204" pitchFamily="34" charset="0"/>
                    <a:cs typeface="Arial" panose="02080604020202020204" pitchFamily="34" charset="0"/>
                    <a:sym typeface="Wingdings" panose="05000000000000000000" pitchFamily="2" charset="2"/>
                  </a:rPr>
                  <a:t>Memori terbuang sia-sia</a:t>
                </a:r>
                <a:endParaRPr lang="en-US" sz="2000" dirty="0">
                  <a:latin typeface="Arial" panose="02080604020202020204" pitchFamily="34" charset="0"/>
                  <a:cs typeface="Arial" panose="02080604020202020204" pitchFamily="34" charset="0"/>
                </a:endParaRPr>
              </a:p>
              <a:p>
                <a:pPr lvl="1"/>
                <a:endParaRPr lang="en-US" sz="2000" dirty="0">
                  <a:latin typeface="Arial" panose="02080604020202020204" pitchFamily="34" charset="0"/>
                  <a:cs typeface="Arial" panose="02080604020202020204" pitchFamily="34" charset="0"/>
                </a:endParaRPr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blipFill>
                <a:blip r:embed="rId2"/>
                <a:stretch>
                  <a:fillRect t="-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45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80604020202020204" pitchFamily="34" charset="0"/>
                <a:cs typeface="Arial" panose="02080604020202020204" pitchFamily="34" charset="0"/>
              </a:rPr>
              <a:t>Hati-hati dengan Pointer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543935" y="3096812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828317" y="2660763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048056" y="309807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2" name="Straight Arrow Connector 9"/>
          <p:cNvCxnSpPr>
            <a:endCxn id="21" idx="1"/>
          </p:cNvCxnSpPr>
          <p:nvPr/>
        </p:nvCxnSpPr>
        <p:spPr>
          <a:xfrm>
            <a:off x="3508729" y="3283493"/>
            <a:ext cx="539327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9"/>
          <p:cNvCxnSpPr>
            <a:stCxn id="19" idx="3"/>
            <a:endCxn id="21" idx="0"/>
          </p:cNvCxnSpPr>
          <p:nvPr/>
        </p:nvCxnSpPr>
        <p:spPr>
          <a:xfrm>
            <a:off x="2182812" y="2846183"/>
            <a:ext cx="2410619" cy="251890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557585" y="3103907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1" name="Straight Arrow Connector 9"/>
          <p:cNvCxnSpPr/>
          <p:nvPr/>
        </p:nvCxnSpPr>
        <p:spPr>
          <a:xfrm>
            <a:off x="5018258" y="3283493"/>
            <a:ext cx="539327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590" y="4446270"/>
            <a:ext cx="1600200" cy="1588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125" y="1978660"/>
            <a:ext cx="8314055" cy="4264660"/>
          </a:xfrm>
        </p:spPr>
        <p:txBody>
          <a:bodyPr/>
          <a:lstStyle/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NIL : Null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Infotype : integer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Address : pointer to elementList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el</a:t>
            </a: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ement</a:t>
            </a: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List : &lt;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info: </a:t>
            </a: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Infotype</a:t>
            </a: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, 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next: Address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&gt;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</a:rPr>
              <a:t>Type List : &lt;First: Address&gt;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</a:rPr>
              <a:t>L : List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46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>
                <a:latin typeface="Arial" panose="02080604020202020204" pitchFamily="34" charset="0"/>
                <a:cs typeface="Arial" panose="02080604020202020204" pitchFamily="34" charset="0"/>
              </a:rPr>
              <a:t>Deklarasi Struktur Data - Tipe data dasar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89890" y="4551045"/>
            <a:ext cx="1169035" cy="382905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2" name="Content Placeholder 1"/>
          <p:cNvSpPr>
            <a:spLocks noGrp="1"/>
          </p:cNvSpPr>
          <p:nvPr/>
        </p:nvSpPr>
        <p:spPr>
          <a:xfrm>
            <a:off x="3680460" y="4742815"/>
            <a:ext cx="2979420" cy="1134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Hanya  melakukan alokasi memori untuk pointer First</a:t>
            </a: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265" y="4933950"/>
            <a:ext cx="1143000" cy="12141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Elbow Connector 8"/>
          <p:cNvCxnSpPr>
            <a:stCxn id="10" idx="3"/>
            <a:endCxn id="12" idx="1"/>
          </p:cNvCxnSpPr>
          <p:nvPr/>
        </p:nvCxnSpPr>
        <p:spPr>
          <a:xfrm>
            <a:off x="1558925" y="4742815"/>
            <a:ext cx="2121535" cy="567055"/>
          </a:xfrm>
          <a:prstGeom prst="bentConnector3">
            <a:avLst>
              <a:gd name="adj1" fmla="val 5001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0170" y="1978025"/>
            <a:ext cx="3808095" cy="1729740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125" y="1978660"/>
            <a:ext cx="8314055" cy="4264660"/>
          </a:xfrm>
        </p:spPr>
        <p:txBody>
          <a:bodyPr/>
          <a:lstStyle/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NIL : Null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Address : pointer to elementList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Ojol : &lt;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driver: string,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rating: float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&gt;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el</a:t>
            </a: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ement</a:t>
            </a: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List : &lt;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info: </a:t>
            </a: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Ojol</a:t>
            </a: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, 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next: Address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&gt;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</a:rPr>
              <a:t>Type List : &lt;First: Address&gt;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</a:rPr>
              <a:t>L : List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47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>
                <a:latin typeface="Arial" panose="02080604020202020204" pitchFamily="34" charset="0"/>
                <a:cs typeface="Arial" panose="02080604020202020204" pitchFamily="34" charset="0"/>
              </a:rPr>
              <a:t>Deklarasi Struktur Data - Tipe data bentukan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23215" y="5529580"/>
            <a:ext cx="1169035" cy="382905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2" name="Content Placeholder 1"/>
          <p:cNvSpPr>
            <a:spLocks noGrp="1"/>
          </p:cNvSpPr>
          <p:nvPr/>
        </p:nvSpPr>
        <p:spPr>
          <a:xfrm>
            <a:off x="5170170" y="2184400"/>
            <a:ext cx="2979420" cy="1134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Hanya  melakukan alokasi memori untuk pointer First</a:t>
            </a: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590" y="4933950"/>
            <a:ext cx="1143000" cy="12141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Elbow Connector 8"/>
          <p:cNvCxnSpPr>
            <a:stCxn id="10" idx="3"/>
            <a:endCxn id="12" idx="2"/>
          </p:cNvCxnSpPr>
          <p:nvPr/>
        </p:nvCxnSpPr>
        <p:spPr>
          <a:xfrm flipV="1">
            <a:off x="1492250" y="3318510"/>
            <a:ext cx="5167630" cy="240284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b="1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first</a:t>
            </a:r>
          </a:p>
          <a:p>
            <a:pPr lvl="1"/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Elemen baru menjadi elemen pertama dalam list</a:t>
            </a:r>
          </a:p>
          <a:p>
            <a:r>
              <a:rPr lang="en-US" b="1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last</a:t>
            </a:r>
          </a:p>
          <a:p>
            <a:pPr lvl="1"/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Elemen baru menjadi elemen terakhir dalam list</a:t>
            </a:r>
          </a:p>
          <a:p>
            <a:r>
              <a:rPr lang="en-US" b="1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after</a:t>
            </a:r>
          </a:p>
          <a:p>
            <a:pPr lvl="1"/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Menempatkan elemen baru di 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antara dua buah elemen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48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Elemen ke dalam List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900" y="4855210"/>
            <a:ext cx="1110615" cy="1179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74320" latinLnBrk="0">
              <a:spcBef>
                <a:spcPts val="600"/>
              </a:spcBef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Memasukkan elemen yang ditunjuk oleh pointer P kedalam List</a:t>
            </a:r>
          </a:p>
          <a:p>
            <a:pPr marL="274320" latinLnBrk="0">
              <a:spcBef>
                <a:spcPts val="600"/>
              </a:spcBef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Elemen yang ditunjuk oleh pointer P menjadi elemen pertama</a:t>
            </a:r>
          </a:p>
          <a:p>
            <a:pPr marL="274320" latinLnBrk="0">
              <a:spcBef>
                <a:spcPts val="600"/>
              </a:spcBef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InsertFirst(in/out L : List; input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74320" latinLnBrk="0">
              <a:spcBef>
                <a:spcPts val="600"/>
              </a:spcBef>
            </a:pPr>
            <a:endParaRPr 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49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First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310" y="5057775"/>
            <a:ext cx="4775200" cy="9582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85" y="3340735"/>
            <a:ext cx="4585970" cy="113919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srgbClr val="FFFFFF"/>
            </a:duotone>
          </a:blip>
          <a:stretch>
            <a:fillRect/>
          </a:stretch>
        </p:blipFill>
        <p:spPr>
          <a:xfrm rot="10800000" flipH="1">
            <a:off x="2453640" y="4624070"/>
            <a:ext cx="435610" cy="83502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50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First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458787" y="418145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2242452" y="418258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4962908" y="4182714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1" name="Straight Arrow Connector 9"/>
          <p:cNvCxnSpPr>
            <a:endCxn id="40" idx="1"/>
          </p:cNvCxnSpPr>
          <p:nvPr/>
        </p:nvCxnSpPr>
        <p:spPr>
          <a:xfrm>
            <a:off x="4423581" y="4368134"/>
            <a:ext cx="539327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1873675" y="3334120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3" name="Straight Arrow Connector 9"/>
          <p:cNvCxnSpPr>
            <a:stCxn id="44" idx="3"/>
            <a:endCxn id="42" idx="0"/>
          </p:cNvCxnSpPr>
          <p:nvPr/>
        </p:nvCxnSpPr>
        <p:spPr>
          <a:xfrm>
            <a:off x="1714500" y="3134360"/>
            <a:ext cx="704850" cy="200025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1359955" y="2949247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9" name="Straight Arrow Connector 9"/>
          <p:cNvCxnSpPr>
            <a:stCxn id="42" idx="3"/>
            <a:endCxn id="37" idx="0"/>
          </p:cNvCxnSpPr>
          <p:nvPr/>
        </p:nvCxnSpPr>
        <p:spPr>
          <a:xfrm>
            <a:off x="2964815" y="3519805"/>
            <a:ext cx="1039495" cy="661670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84309" y="4182714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" name="Straight Arrow Connector 9"/>
          <p:cNvCxnSpPr>
            <a:endCxn id="17" idx="1"/>
          </p:cNvCxnSpPr>
          <p:nvPr/>
        </p:nvCxnSpPr>
        <p:spPr>
          <a:xfrm>
            <a:off x="5888719" y="4358558"/>
            <a:ext cx="495590" cy="957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675564" y="3335628"/>
            <a:ext cx="2888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/</a:t>
            </a: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780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InsertFirst(in/out L : List; input P : Address)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P→next 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= L.first</a:t>
            </a: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sp>
        <p:nvSpPr>
          <p:cNvPr id="9" name="Content Placeholder 1"/>
          <p:cNvSpPr>
            <a:spLocks noGrp="1"/>
          </p:cNvSpPr>
          <p:nvPr/>
        </p:nvSpPr>
        <p:spPr>
          <a:xfrm>
            <a:off x="3376295" y="505269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004945" y="4633595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38" idx="3"/>
          </p:cNvCxnSpPr>
          <p:nvPr/>
        </p:nvCxnSpPr>
        <p:spPr>
          <a:xfrm flipV="1">
            <a:off x="2596515" y="4358640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51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First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5418163" y="6464478"/>
            <a:ext cx="3315778" cy="365125"/>
          </a:xfrm>
        </p:spPr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875347" y="456499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1185812" y="4556599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5379468" y="4566254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1" name="Straight Arrow Connector 9"/>
          <p:cNvCxnSpPr>
            <a:endCxn id="40" idx="1"/>
          </p:cNvCxnSpPr>
          <p:nvPr/>
        </p:nvCxnSpPr>
        <p:spPr>
          <a:xfrm>
            <a:off x="4840141" y="4751674"/>
            <a:ext cx="539327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2388025" y="4560940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3" name="Straight Arrow Connector 9"/>
          <p:cNvCxnSpPr>
            <a:stCxn id="44" idx="3"/>
            <a:endCxn id="42" idx="0"/>
          </p:cNvCxnSpPr>
          <p:nvPr/>
        </p:nvCxnSpPr>
        <p:spPr>
          <a:xfrm>
            <a:off x="2131060" y="3517900"/>
            <a:ext cx="802640" cy="1043305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1776515" y="3332787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800869" y="4566254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" name="Straight Arrow Connector 9"/>
          <p:cNvCxnSpPr>
            <a:endCxn id="17" idx="1"/>
          </p:cNvCxnSpPr>
          <p:nvPr/>
        </p:nvCxnSpPr>
        <p:spPr>
          <a:xfrm>
            <a:off x="6305279" y="4742098"/>
            <a:ext cx="495590" cy="957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InsertFirst(in/out L : List; input P : Address)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P→next =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L.first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L.first =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P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sp>
        <p:nvSpPr>
          <p:cNvPr id="9" name="Content Placeholder 1"/>
          <p:cNvSpPr>
            <a:spLocks noGrp="1"/>
          </p:cNvSpPr>
          <p:nvPr/>
        </p:nvSpPr>
        <p:spPr>
          <a:xfrm>
            <a:off x="2262505" y="540829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2933700" y="5062220"/>
            <a:ext cx="0" cy="332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9"/>
          <p:cNvCxnSpPr/>
          <p:nvPr/>
        </p:nvCxnSpPr>
        <p:spPr>
          <a:xfrm>
            <a:off x="3336461" y="4742149"/>
            <a:ext cx="539327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38" idx="3"/>
          </p:cNvCxnSpPr>
          <p:nvPr/>
        </p:nvCxnSpPr>
        <p:spPr>
          <a:xfrm>
            <a:off x="1539875" y="4742180"/>
            <a:ext cx="72263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845" y="2312670"/>
            <a:ext cx="1550035" cy="158432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74320" latinLnBrk="0">
              <a:spcBef>
                <a:spcPts val="600"/>
              </a:spcBef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Memasukkan elemen yang ditunjuk oleh pointer P ke dalam List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74320" latinLnBrk="0">
              <a:spcBef>
                <a:spcPts val="600"/>
              </a:spcBef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Elemen yang ditunjuk oleh pointer P menjadi elemen terakhir</a:t>
            </a:r>
          </a:p>
          <a:p>
            <a:pPr marL="274320" latinLnBrk="0">
              <a:spcBef>
                <a:spcPts val="600"/>
              </a:spcBef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InsertLast(in/out L : List; input P : Address)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52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Last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325" y="3302635"/>
            <a:ext cx="3867785" cy="13068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140" y="4987925"/>
            <a:ext cx="5029835" cy="104711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srgbClr val="FFFFFF"/>
            </a:duotone>
          </a:blip>
          <a:stretch>
            <a:fillRect/>
          </a:stretch>
        </p:blipFill>
        <p:spPr>
          <a:xfrm rot="10800000" flipH="1">
            <a:off x="1994535" y="4792980"/>
            <a:ext cx="459105" cy="88011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53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Last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5418163" y="6678295"/>
            <a:ext cx="3315778" cy="365125"/>
          </a:xfrm>
        </p:spPr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522769" y="5263210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121310" y="461134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9" name="Straight Arrow Connector 9"/>
          <p:cNvCxnSpPr>
            <a:stCxn id="38" idx="2"/>
            <a:endCxn id="37" idx="1"/>
          </p:cNvCxnSpPr>
          <p:nvPr/>
        </p:nvCxnSpPr>
        <p:spPr>
          <a:xfrm rot="5400000" flipV="1">
            <a:off x="3177223" y="5103178"/>
            <a:ext cx="466725" cy="224790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5026890" y="5264471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1" name="Straight Arrow Connector 9"/>
          <p:cNvCxnSpPr>
            <a:endCxn id="40" idx="1"/>
          </p:cNvCxnSpPr>
          <p:nvPr/>
        </p:nvCxnSpPr>
        <p:spPr>
          <a:xfrm>
            <a:off x="4487563" y="5449891"/>
            <a:ext cx="539327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7929538" y="477204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3" name="Straight Arrow Connector 9"/>
          <p:cNvCxnSpPr>
            <a:stCxn id="44" idx="3"/>
            <a:endCxn id="42" idx="0"/>
          </p:cNvCxnSpPr>
          <p:nvPr/>
        </p:nvCxnSpPr>
        <p:spPr>
          <a:xfrm>
            <a:off x="8147050" y="4210050"/>
            <a:ext cx="327660" cy="561975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7792604" y="4024529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435982" y="5264471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" name="Straight Arrow Connector 9"/>
          <p:cNvCxnSpPr>
            <a:endCxn id="34" idx="1"/>
          </p:cNvCxnSpPr>
          <p:nvPr/>
        </p:nvCxnSpPr>
        <p:spPr>
          <a:xfrm>
            <a:off x="5940392" y="5440315"/>
            <a:ext cx="495590" cy="957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3851743" y="4305661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7237871" y="5255650"/>
            <a:ext cx="2888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/</a:t>
            </a:r>
          </a:p>
        </p:txBody>
      </p:sp>
      <p:sp>
        <p:nvSpPr>
          <p:cNvPr id="7" name="Content Placeholder 1"/>
          <p:cNvSpPr>
            <a:spLocks noGrp="1"/>
          </p:cNvSpPr>
          <p:nvPr/>
        </p:nvSpPr>
        <p:spPr>
          <a:xfrm>
            <a:off x="365125" y="1977165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InsertLast(in/out L : List; input P : Address)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Kamus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Q : Address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Algoritma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Q =</a:t>
            </a:r>
            <a:r>
              <a:rPr lang="en-US" altLang="en-US" sz="16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L.first</a:t>
            </a: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cxnSp>
        <p:nvCxnSpPr>
          <p:cNvPr id="8" name="Straight Arrow Connector 7"/>
          <p:cNvCxnSpPr>
            <a:stCxn id="45" idx="2"/>
          </p:cNvCxnSpPr>
          <p:nvPr/>
        </p:nvCxnSpPr>
        <p:spPr>
          <a:xfrm>
            <a:off x="4029075" y="4676775"/>
            <a:ext cx="0" cy="476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"/>
          <p:cNvSpPr>
            <a:spLocks noGrp="1"/>
          </p:cNvSpPr>
          <p:nvPr/>
        </p:nvSpPr>
        <p:spPr>
          <a:xfrm>
            <a:off x="3357245" y="601599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4028440" y="5669915"/>
            <a:ext cx="0" cy="332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54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Last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 - Iterasi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5418163" y="6678295"/>
            <a:ext cx="3315778" cy="365125"/>
          </a:xfrm>
        </p:spPr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522769" y="5263210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121310" y="461134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9" name="Straight Arrow Connector 9"/>
          <p:cNvCxnSpPr>
            <a:stCxn id="38" idx="2"/>
            <a:endCxn id="37" idx="1"/>
          </p:cNvCxnSpPr>
          <p:nvPr/>
        </p:nvCxnSpPr>
        <p:spPr>
          <a:xfrm rot="5400000" flipV="1">
            <a:off x="3177223" y="5103178"/>
            <a:ext cx="466725" cy="224790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5026890" y="5264471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1" name="Straight Arrow Connector 9"/>
          <p:cNvCxnSpPr>
            <a:endCxn id="40" idx="1"/>
          </p:cNvCxnSpPr>
          <p:nvPr/>
        </p:nvCxnSpPr>
        <p:spPr>
          <a:xfrm>
            <a:off x="4487563" y="5449891"/>
            <a:ext cx="539327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7929538" y="477204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3" name="Straight Arrow Connector 9"/>
          <p:cNvCxnSpPr>
            <a:stCxn id="44" idx="3"/>
            <a:endCxn id="42" idx="0"/>
          </p:cNvCxnSpPr>
          <p:nvPr/>
        </p:nvCxnSpPr>
        <p:spPr>
          <a:xfrm>
            <a:off x="8147050" y="4210050"/>
            <a:ext cx="327660" cy="561975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7792604" y="4024529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435982" y="5264471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" name="Straight Arrow Connector 9"/>
          <p:cNvCxnSpPr>
            <a:endCxn id="34" idx="1"/>
          </p:cNvCxnSpPr>
          <p:nvPr/>
        </p:nvCxnSpPr>
        <p:spPr>
          <a:xfrm>
            <a:off x="5940392" y="5440315"/>
            <a:ext cx="495590" cy="957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3851743" y="4305661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7237871" y="5255650"/>
            <a:ext cx="2888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/</a:t>
            </a:r>
          </a:p>
        </p:txBody>
      </p:sp>
      <p:sp>
        <p:nvSpPr>
          <p:cNvPr id="7" name="Content Placeholder 1"/>
          <p:cNvSpPr>
            <a:spLocks noGrp="1"/>
          </p:cNvSpPr>
          <p:nvPr/>
        </p:nvSpPr>
        <p:spPr>
          <a:xfrm>
            <a:off x="365125" y="196764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InsertLast(in/out L : List; input P : Address)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Kamus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Q : Address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Algoritma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Q =</a:t>
            </a:r>
            <a:r>
              <a:rPr lang="en-US" altLang="en-US" sz="16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L.first</a:t>
            </a: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while (Q→next &lt;&gt; NIL) do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Q =</a:t>
            </a:r>
            <a:r>
              <a:rPr lang="en-US" altLang="en-US" sz="16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Q→next</a:t>
            </a:r>
            <a:endParaRPr lang="en-US" altLang="en-US" sz="1600" dirty="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end while</a:t>
            </a:r>
          </a:p>
        </p:txBody>
      </p:sp>
      <p:cxnSp>
        <p:nvCxnSpPr>
          <p:cNvPr id="8" name="Straight Arrow Connector 7"/>
          <p:cNvCxnSpPr>
            <a:stCxn id="45" idx="2"/>
          </p:cNvCxnSpPr>
          <p:nvPr/>
        </p:nvCxnSpPr>
        <p:spPr>
          <a:xfrm>
            <a:off x="4029075" y="4676775"/>
            <a:ext cx="0" cy="476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"/>
          <p:cNvSpPr>
            <a:spLocks noGrp="1"/>
          </p:cNvSpPr>
          <p:nvPr/>
        </p:nvSpPr>
        <p:spPr>
          <a:xfrm>
            <a:off x="3357245" y="601599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4028440" y="5669915"/>
            <a:ext cx="0" cy="332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9135" y="3602355"/>
            <a:ext cx="3046095" cy="918210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55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Last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 - Iterasi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5418163" y="6678295"/>
            <a:ext cx="3315778" cy="365125"/>
          </a:xfrm>
        </p:spPr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522769" y="5263210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121310" y="461134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9" name="Straight Arrow Connector 9"/>
          <p:cNvCxnSpPr>
            <a:stCxn id="38" idx="2"/>
            <a:endCxn id="37" idx="1"/>
          </p:cNvCxnSpPr>
          <p:nvPr/>
        </p:nvCxnSpPr>
        <p:spPr>
          <a:xfrm rot="5400000" flipV="1">
            <a:off x="3177223" y="5103178"/>
            <a:ext cx="466725" cy="224790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5026890" y="5264471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1" name="Straight Arrow Connector 9"/>
          <p:cNvCxnSpPr>
            <a:endCxn id="40" idx="1"/>
          </p:cNvCxnSpPr>
          <p:nvPr/>
        </p:nvCxnSpPr>
        <p:spPr>
          <a:xfrm>
            <a:off x="4487563" y="5449891"/>
            <a:ext cx="539327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7929538" y="477204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3" name="Straight Arrow Connector 9"/>
          <p:cNvCxnSpPr>
            <a:stCxn id="44" idx="3"/>
            <a:endCxn id="42" idx="0"/>
          </p:cNvCxnSpPr>
          <p:nvPr/>
        </p:nvCxnSpPr>
        <p:spPr>
          <a:xfrm>
            <a:off x="8147050" y="4210050"/>
            <a:ext cx="327660" cy="561975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7792604" y="4024529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435982" y="5264471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" name="Straight Arrow Connector 9"/>
          <p:cNvCxnSpPr>
            <a:endCxn id="34" idx="1"/>
          </p:cNvCxnSpPr>
          <p:nvPr/>
        </p:nvCxnSpPr>
        <p:spPr>
          <a:xfrm>
            <a:off x="5940392" y="5440315"/>
            <a:ext cx="495590" cy="957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5381458" y="4295501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7237871" y="5255650"/>
            <a:ext cx="2888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/</a:t>
            </a:r>
          </a:p>
        </p:txBody>
      </p:sp>
      <p:sp>
        <p:nvSpPr>
          <p:cNvPr id="7" name="Content Placeholder 1"/>
          <p:cNvSpPr>
            <a:spLocks noGrp="1"/>
          </p:cNvSpPr>
          <p:nvPr/>
        </p:nvSpPr>
        <p:spPr>
          <a:xfrm>
            <a:off x="365125" y="196764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InsertLast(in/out L : List; input P : Address)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Kamus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Q : Address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Algoritma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Q </a:t>
            </a:r>
            <a:r>
              <a:rPr lang="en-US" altLang="en-US" sz="16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← First(L)</a:t>
            </a: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while (Q→next &lt;&gt; NIL) do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Q =</a:t>
            </a:r>
            <a:r>
              <a:rPr lang="en-US" altLang="en-US" sz="16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Q→next</a:t>
            </a:r>
            <a:endParaRPr lang="en-US" altLang="en-US" sz="1600" dirty="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end while</a:t>
            </a:r>
          </a:p>
        </p:txBody>
      </p:sp>
      <p:cxnSp>
        <p:nvCxnSpPr>
          <p:cNvPr id="8" name="Straight Arrow Connector 7"/>
          <p:cNvCxnSpPr>
            <a:stCxn id="45" idx="2"/>
          </p:cNvCxnSpPr>
          <p:nvPr/>
        </p:nvCxnSpPr>
        <p:spPr>
          <a:xfrm>
            <a:off x="5558790" y="4666615"/>
            <a:ext cx="0" cy="476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"/>
          <p:cNvSpPr>
            <a:spLocks noGrp="1"/>
          </p:cNvSpPr>
          <p:nvPr/>
        </p:nvSpPr>
        <p:spPr>
          <a:xfrm>
            <a:off x="3357245" y="601599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4028440" y="5669915"/>
            <a:ext cx="0" cy="332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10895" y="3602355"/>
            <a:ext cx="2910840" cy="918210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</p:spTree>
  </p:cSld>
  <p:clrMapOvr>
    <a:masterClrMapping/>
  </p:clrMapOvr>
  <p:transition>
    <p:wip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56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Last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 - Iterasi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5418163" y="6678295"/>
            <a:ext cx="3315778" cy="365125"/>
          </a:xfrm>
        </p:spPr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522769" y="5263210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121310" y="461134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9" name="Straight Arrow Connector 9"/>
          <p:cNvCxnSpPr>
            <a:stCxn id="38" idx="2"/>
            <a:endCxn id="37" idx="1"/>
          </p:cNvCxnSpPr>
          <p:nvPr/>
        </p:nvCxnSpPr>
        <p:spPr>
          <a:xfrm rot="5400000" flipV="1">
            <a:off x="3177223" y="5103178"/>
            <a:ext cx="466725" cy="224790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5026890" y="5264471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1" name="Straight Arrow Connector 9"/>
          <p:cNvCxnSpPr>
            <a:endCxn id="40" idx="1"/>
          </p:cNvCxnSpPr>
          <p:nvPr/>
        </p:nvCxnSpPr>
        <p:spPr>
          <a:xfrm>
            <a:off x="4487563" y="5449891"/>
            <a:ext cx="539327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7929538" y="477204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3" name="Straight Arrow Connector 9"/>
          <p:cNvCxnSpPr>
            <a:stCxn id="44" idx="3"/>
            <a:endCxn id="42" idx="0"/>
          </p:cNvCxnSpPr>
          <p:nvPr/>
        </p:nvCxnSpPr>
        <p:spPr>
          <a:xfrm>
            <a:off x="8147050" y="4210050"/>
            <a:ext cx="327660" cy="561975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7792604" y="4024529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435982" y="5264471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" name="Straight Arrow Connector 9"/>
          <p:cNvCxnSpPr>
            <a:endCxn id="34" idx="1"/>
          </p:cNvCxnSpPr>
          <p:nvPr/>
        </p:nvCxnSpPr>
        <p:spPr>
          <a:xfrm>
            <a:off x="5940392" y="5440315"/>
            <a:ext cx="495590" cy="957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6803858" y="4295501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7237871" y="5255650"/>
            <a:ext cx="2888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/</a:t>
            </a:r>
          </a:p>
        </p:txBody>
      </p:sp>
      <p:sp>
        <p:nvSpPr>
          <p:cNvPr id="7" name="Content Placeholder 1"/>
          <p:cNvSpPr>
            <a:spLocks noGrp="1"/>
          </p:cNvSpPr>
          <p:nvPr/>
        </p:nvSpPr>
        <p:spPr>
          <a:xfrm>
            <a:off x="365125" y="196764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InsertLast(in/out L : List; input P : Address)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Kamus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Q : Address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Algoritma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Q </a:t>
            </a:r>
            <a:r>
              <a:rPr lang="en-US" altLang="en-US" sz="16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← First(L)</a:t>
            </a: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while (Q→next &lt;&gt; NIL) do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Q =</a:t>
            </a:r>
            <a:r>
              <a:rPr lang="en-US" altLang="en-US" sz="16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Q→next</a:t>
            </a:r>
            <a:endParaRPr lang="en-US" altLang="en-US" sz="1600" dirty="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end while</a:t>
            </a:r>
          </a:p>
        </p:txBody>
      </p:sp>
      <p:cxnSp>
        <p:nvCxnSpPr>
          <p:cNvPr id="8" name="Straight Arrow Connector 7"/>
          <p:cNvCxnSpPr>
            <a:stCxn id="45" idx="2"/>
          </p:cNvCxnSpPr>
          <p:nvPr/>
        </p:nvCxnSpPr>
        <p:spPr>
          <a:xfrm>
            <a:off x="6981190" y="4666615"/>
            <a:ext cx="0" cy="476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"/>
          <p:cNvSpPr>
            <a:spLocks noGrp="1"/>
          </p:cNvSpPr>
          <p:nvPr/>
        </p:nvSpPr>
        <p:spPr>
          <a:xfrm>
            <a:off x="3357245" y="601599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4028440" y="5669915"/>
            <a:ext cx="0" cy="332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10895" y="3602355"/>
            <a:ext cx="2910840" cy="918210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</p:spTree>
  </p:cSld>
  <p:clrMapOvr>
    <a:masterClrMapping/>
  </p:clrMapOvr>
  <p:transition>
    <p:wip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57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Last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386244" y="4969840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2984785" y="4317974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9" name="Straight Arrow Connector 9"/>
          <p:cNvCxnSpPr>
            <a:stCxn id="38" idx="2"/>
            <a:endCxn id="37" idx="1"/>
          </p:cNvCxnSpPr>
          <p:nvPr/>
        </p:nvCxnSpPr>
        <p:spPr>
          <a:xfrm rot="5400000" flipV="1">
            <a:off x="3040698" y="4796473"/>
            <a:ext cx="466725" cy="224790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4890365" y="4971101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1" name="Straight Arrow Connector 9"/>
          <p:cNvCxnSpPr>
            <a:endCxn id="40" idx="1"/>
          </p:cNvCxnSpPr>
          <p:nvPr/>
        </p:nvCxnSpPr>
        <p:spPr>
          <a:xfrm>
            <a:off x="4351038" y="5143186"/>
            <a:ext cx="539327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7656488" y="497651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8024379" y="400230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299457" y="4971101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" name="Straight Arrow Connector 9"/>
          <p:cNvCxnSpPr>
            <a:endCxn id="34" idx="1"/>
          </p:cNvCxnSpPr>
          <p:nvPr/>
        </p:nvCxnSpPr>
        <p:spPr>
          <a:xfrm>
            <a:off x="5803867" y="5133610"/>
            <a:ext cx="495590" cy="957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6667333" y="4002131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ontent Placeholder 1"/>
          <p:cNvSpPr>
            <a:spLocks noGrp="1"/>
          </p:cNvSpPr>
          <p:nvPr/>
        </p:nvSpPr>
        <p:spPr>
          <a:xfrm>
            <a:off x="365125" y="196764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InsertLast(in/out L : List; input P : Address)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Kamus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Q : Address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Algoritma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Q </a:t>
            </a:r>
            <a:r>
              <a:rPr lang="en-US" altLang="en-US" sz="16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← First(L)</a:t>
            </a: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while (Q→next &lt;&gt; NIL) do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Q =</a:t>
            </a:r>
            <a:r>
              <a:rPr lang="en-US" altLang="en-US" sz="16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Q→next</a:t>
            </a:r>
            <a:endParaRPr lang="en-US" altLang="en-US" sz="1600" dirty="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end while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Q→next =</a:t>
            </a:r>
            <a:r>
              <a:rPr lang="en-US" altLang="en-US" sz="16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P</a:t>
            </a: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cxnSp>
        <p:nvCxnSpPr>
          <p:cNvPr id="8" name="Straight Arrow Connector 7"/>
          <p:cNvCxnSpPr>
            <a:stCxn id="45" idx="2"/>
          </p:cNvCxnSpPr>
          <p:nvPr/>
        </p:nvCxnSpPr>
        <p:spPr>
          <a:xfrm>
            <a:off x="6844665" y="4359910"/>
            <a:ext cx="0" cy="476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9"/>
          <p:cNvCxnSpPr/>
          <p:nvPr/>
        </p:nvCxnSpPr>
        <p:spPr>
          <a:xfrm>
            <a:off x="7160862" y="5157105"/>
            <a:ext cx="495590" cy="957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8201660" y="4373245"/>
            <a:ext cx="0" cy="476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"/>
          <p:cNvSpPr>
            <a:spLocks noGrp="1"/>
          </p:cNvSpPr>
          <p:nvPr/>
        </p:nvSpPr>
        <p:spPr>
          <a:xfrm>
            <a:off x="3220720" y="580517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3891915" y="5459095"/>
            <a:ext cx="0" cy="332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380" y="1978025"/>
            <a:ext cx="1249045" cy="1276350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74320" latinLnBrk="0">
              <a:spcBef>
                <a:spcPts val="600"/>
              </a:spcBef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Memasukkan elemen yang ditunjuk oleh pointer P kedalam List</a:t>
            </a:r>
          </a:p>
          <a:p>
            <a:pPr marL="274320" latinLnBrk="0">
              <a:spcBef>
                <a:spcPts val="600"/>
              </a:spcBef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Elemen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yang ditunjuk oleh pointer 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 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menjadi elemen selanjutnya dari elemen yang ditunjuk oleh pointer </a:t>
            </a:r>
            <a:r>
              <a:rPr lang="en-US" sz="1800" dirty="0" err="1">
                <a:uFillTx/>
                <a:latin typeface="Arial" panose="02080604020202020204" pitchFamily="34" charset="0"/>
                <a:cs typeface="Arial" panose="02080604020202020204" pitchFamily="34" charset="0"/>
              </a:rPr>
              <a:t>Prec</a:t>
            </a:r>
            <a:r>
              <a:rPr lang="en-US" altLang="en-US" sz="1800" dirty="0" err="1">
                <a:uFillTx/>
                <a:latin typeface="Arial" panose="02080604020202020204" pitchFamily="34" charset="0"/>
                <a:cs typeface="Arial" panose="02080604020202020204" pitchFamily="34" charset="0"/>
              </a:rPr>
              <a:t> (kondisi default Prec sudah ditentukan)</a:t>
            </a:r>
            <a:endParaRPr lang="en-US" sz="1800" dirty="0" err="1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74320" latinLnBrk="0">
              <a:spcBef>
                <a:spcPts val="600"/>
              </a:spcBef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InsertAfter(in/out L : List; input Prec, P : Address)</a:t>
            </a:r>
            <a:endParaRPr lang="en-US" sz="1800" dirty="0" err="1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74320" latinLnBrk="0">
              <a:spcBef>
                <a:spcPts val="600"/>
              </a:spcBef>
            </a:pP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58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After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230" y="3787140"/>
            <a:ext cx="3799205" cy="12846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315" y="5280025"/>
            <a:ext cx="4941570" cy="102933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srgbClr val="FFFFFF"/>
            </a:duotone>
          </a:blip>
          <a:stretch>
            <a:fillRect/>
          </a:stretch>
        </p:blipFill>
        <p:spPr>
          <a:xfrm rot="10800000" flipH="1">
            <a:off x="2354580" y="5280025"/>
            <a:ext cx="388620" cy="74549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59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After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956107" y="5169856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151591" y="4746658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" name="Straight Arrow Connector 9"/>
          <p:cNvCxnSpPr>
            <a:stCxn id="23" idx="2"/>
            <a:endCxn id="22" idx="1"/>
          </p:cNvCxnSpPr>
          <p:nvPr/>
        </p:nvCxnSpPr>
        <p:spPr>
          <a:xfrm rot="16200000" flipH="1">
            <a:off x="2523583" y="4922752"/>
            <a:ext cx="237778" cy="627269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460228" y="5171117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6" name="Straight Arrow Connector 9"/>
          <p:cNvCxnSpPr>
            <a:endCxn id="25" idx="1"/>
          </p:cNvCxnSpPr>
          <p:nvPr/>
        </p:nvCxnSpPr>
        <p:spPr>
          <a:xfrm>
            <a:off x="3920901" y="5356537"/>
            <a:ext cx="539327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064698" y="4383150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432993" y="3480771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276983" y="5179296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" name="Straight Arrow Connector 9"/>
          <p:cNvCxnSpPr>
            <a:endCxn id="32" idx="1"/>
          </p:cNvCxnSpPr>
          <p:nvPr/>
        </p:nvCxnSpPr>
        <p:spPr>
          <a:xfrm>
            <a:off x="5360098" y="5355140"/>
            <a:ext cx="1916885" cy="957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4688794" y="4274348"/>
          <a:ext cx="633095" cy="3441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3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Prec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6820137" y="4402618"/>
            <a:ext cx="2888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/</a:t>
            </a: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InsertAfter(in/out L : List; input Prec, P : Address)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P→n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ext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Prec→next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</p:txBody>
      </p:sp>
      <p:cxnSp>
        <p:nvCxnSpPr>
          <p:cNvPr id="7" name="Straight Arrow Connector 6"/>
          <p:cNvCxnSpPr>
            <a:stCxn id="30" idx="2"/>
          </p:cNvCxnSpPr>
          <p:nvPr/>
        </p:nvCxnSpPr>
        <p:spPr>
          <a:xfrm flipH="1">
            <a:off x="6609080" y="3851910"/>
            <a:ext cx="1270" cy="531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/>
          <p:cNvCxnSpPr/>
          <p:nvPr/>
        </p:nvCxnSpPr>
        <p:spPr>
          <a:xfrm>
            <a:off x="7155815" y="4572000"/>
            <a:ext cx="713740" cy="59182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324033" y="3836371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flipH="1">
            <a:off x="3500755" y="4222750"/>
            <a:ext cx="1270" cy="531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8" idx="2"/>
          </p:cNvCxnSpPr>
          <p:nvPr/>
        </p:nvCxnSpPr>
        <p:spPr>
          <a:xfrm>
            <a:off x="5005070" y="4618355"/>
            <a:ext cx="635" cy="4991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60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After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852477" y="5169856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47961" y="4746658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" name="Straight Arrow Connector 9"/>
          <p:cNvCxnSpPr>
            <a:stCxn id="23" idx="2"/>
            <a:endCxn id="22" idx="1"/>
          </p:cNvCxnSpPr>
          <p:nvPr/>
        </p:nvCxnSpPr>
        <p:spPr>
          <a:xfrm rot="5400000" flipV="1">
            <a:off x="1433513" y="4922838"/>
            <a:ext cx="238125" cy="627380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356598" y="5171117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6" name="Straight Arrow Connector 9"/>
          <p:cNvCxnSpPr>
            <a:endCxn id="25" idx="1"/>
          </p:cNvCxnSpPr>
          <p:nvPr/>
        </p:nvCxnSpPr>
        <p:spPr>
          <a:xfrm>
            <a:off x="2831241" y="5356537"/>
            <a:ext cx="539327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081083" y="4383150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449378" y="3480771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173353" y="5179296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3585164" y="4274348"/>
          <a:ext cx="633095" cy="3441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3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Prec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0" name="Straight Arrow Connector 9"/>
          <p:cNvCxnSpPr>
            <a:stCxn id="27" idx="3"/>
            <a:endCxn id="32" idx="0"/>
          </p:cNvCxnSpPr>
          <p:nvPr/>
        </p:nvCxnSpPr>
        <p:spPr>
          <a:xfrm>
            <a:off x="6186170" y="4568825"/>
            <a:ext cx="546735" cy="610235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InsertAfter(in/out L : List; input Prec, P : Address)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P→n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ext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Prec→next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Prec→next = P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</p:txBody>
      </p:sp>
      <p:cxnSp>
        <p:nvCxnSpPr>
          <p:cNvPr id="7" name="Straight Arrow Connector 6"/>
          <p:cNvCxnSpPr>
            <a:stCxn id="30" idx="2"/>
          </p:cNvCxnSpPr>
          <p:nvPr/>
        </p:nvCxnSpPr>
        <p:spPr>
          <a:xfrm flipH="1">
            <a:off x="5639435" y="3851910"/>
            <a:ext cx="1270" cy="531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902075" y="4618355"/>
            <a:ext cx="0" cy="4991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/>
          <p:cNvCxnSpPr/>
          <p:nvPr/>
        </p:nvCxnSpPr>
        <p:spPr>
          <a:xfrm flipV="1">
            <a:off x="4447540" y="4568190"/>
            <a:ext cx="633730" cy="7874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625" y="3013075"/>
            <a:ext cx="1278255" cy="130619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b="1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first</a:t>
            </a:r>
          </a:p>
          <a:p>
            <a:pPr lvl="1"/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Melepaskan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 elemen pertama dari sebuah List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r>
              <a:rPr lang="en-US" b="1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last</a:t>
            </a:r>
          </a:p>
          <a:p>
            <a:pPr lvl="1"/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Melepaskan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 elemen terakhir dari sebuah List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r>
              <a:rPr lang="en-US" b="1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after</a:t>
            </a:r>
          </a:p>
          <a:p>
            <a:pPr lvl="1"/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Melepaskan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 elemen pada posisi tertentu dari sebuah List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61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elemen dari List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900" y="4855210"/>
            <a:ext cx="1110615" cy="1179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atinLnBrk="0">
              <a:spcBef>
                <a:spcPts val="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Melepaskan elemen pertama dari List</a:t>
            </a:r>
          </a:p>
          <a:p>
            <a:pPr latinLnBrk="0">
              <a:spcBef>
                <a:spcPts val="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DeleteFirst(in/out L : List, out P : Address)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62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First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765" y="3004185"/>
            <a:ext cx="5251450" cy="10534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535" y="4540885"/>
            <a:ext cx="5051425" cy="12528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srgbClr val="FFFFFF"/>
            </a:duotone>
          </a:blip>
          <a:stretch>
            <a:fillRect/>
          </a:stretch>
        </p:blipFill>
        <p:spPr>
          <a:xfrm rot="10800000" flipH="1">
            <a:off x="2334260" y="4345940"/>
            <a:ext cx="479425" cy="91884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63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First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845695" y="502600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748827" y="429688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5349816" y="5027264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1" name="Straight Arrow Connector 9"/>
          <p:cNvCxnSpPr>
            <a:endCxn id="40" idx="1"/>
          </p:cNvCxnSpPr>
          <p:nvPr/>
        </p:nvCxnSpPr>
        <p:spPr>
          <a:xfrm>
            <a:off x="4810489" y="5198714"/>
            <a:ext cx="539327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1908283" y="5027264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2276453" y="3926512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771217" y="5027264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" name="Straight Arrow Connector 9"/>
          <p:cNvCxnSpPr>
            <a:endCxn id="17" idx="1"/>
          </p:cNvCxnSpPr>
          <p:nvPr/>
        </p:nvCxnSpPr>
        <p:spPr>
          <a:xfrm>
            <a:off x="6275627" y="5189138"/>
            <a:ext cx="495590" cy="957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DeleteFirst(in/out L : List, out P : Address)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P =</a:t>
            </a:r>
            <a:r>
              <a:rPr 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L.f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irst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0"/>
              </a:spcBef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7" name="Elbow Connector 6"/>
          <p:cNvCxnSpPr>
            <a:stCxn id="38" idx="2"/>
            <a:endCxn id="42" idx="1"/>
          </p:cNvCxnSpPr>
          <p:nvPr/>
        </p:nvCxnSpPr>
        <p:spPr>
          <a:xfrm rot="5400000" flipV="1">
            <a:off x="1144270" y="4448810"/>
            <a:ext cx="544830" cy="98234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4" idx="2"/>
            <a:endCxn id="42" idx="0"/>
          </p:cNvCxnSpPr>
          <p:nvPr/>
        </p:nvCxnSpPr>
        <p:spPr>
          <a:xfrm>
            <a:off x="2453640" y="4297045"/>
            <a:ext cx="0" cy="730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"/>
          <p:cNvSpPr>
            <a:spLocks noGrp="1"/>
          </p:cNvSpPr>
          <p:nvPr/>
        </p:nvSpPr>
        <p:spPr>
          <a:xfrm>
            <a:off x="1783080" y="583374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2454275" y="5487670"/>
            <a:ext cx="0" cy="332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endCxn id="37" idx="1"/>
          </p:cNvCxnSpPr>
          <p:nvPr/>
        </p:nvCxnSpPr>
        <p:spPr>
          <a:xfrm flipV="1">
            <a:off x="2812415" y="5211445"/>
            <a:ext cx="1033145" cy="1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64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First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845695" y="502600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748827" y="429688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5349816" y="5027264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1" name="Straight Arrow Connector 9"/>
          <p:cNvCxnSpPr>
            <a:endCxn id="40" idx="1"/>
          </p:cNvCxnSpPr>
          <p:nvPr/>
        </p:nvCxnSpPr>
        <p:spPr>
          <a:xfrm>
            <a:off x="4810489" y="5198714"/>
            <a:ext cx="539327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1908283" y="5027264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2276453" y="3926512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771217" y="5027264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" name="Straight Arrow Connector 9"/>
          <p:cNvCxnSpPr>
            <a:endCxn id="17" idx="1"/>
          </p:cNvCxnSpPr>
          <p:nvPr/>
        </p:nvCxnSpPr>
        <p:spPr>
          <a:xfrm>
            <a:off x="6275627" y="5189138"/>
            <a:ext cx="495590" cy="957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DeleteFirst(in/out L : List, out P : Address)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 =</a:t>
            </a:r>
            <a:r>
              <a:rPr 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L.f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irst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L.first </a:t>
            </a:r>
            <a:r>
              <a:rPr lang="en-US" sz="20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P→n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ext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0"/>
              </a:spcBef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7" name="Elbow Connector 6"/>
          <p:cNvCxnSpPr>
            <a:stCxn id="38" idx="2"/>
            <a:endCxn id="42" idx="1"/>
          </p:cNvCxnSpPr>
          <p:nvPr/>
        </p:nvCxnSpPr>
        <p:spPr>
          <a:xfrm rot="5400000" flipV="1">
            <a:off x="1144270" y="4448810"/>
            <a:ext cx="544830" cy="98234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4" idx="2"/>
            <a:endCxn id="42" idx="0"/>
          </p:cNvCxnSpPr>
          <p:nvPr/>
        </p:nvCxnSpPr>
        <p:spPr>
          <a:xfrm>
            <a:off x="2453640" y="4297045"/>
            <a:ext cx="0" cy="730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"/>
          <p:cNvSpPr>
            <a:spLocks noGrp="1"/>
          </p:cNvSpPr>
          <p:nvPr/>
        </p:nvSpPr>
        <p:spPr>
          <a:xfrm>
            <a:off x="3763010" y="584835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4434205" y="5502275"/>
            <a:ext cx="0" cy="332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endCxn id="37" idx="1"/>
          </p:cNvCxnSpPr>
          <p:nvPr/>
        </p:nvCxnSpPr>
        <p:spPr>
          <a:xfrm flipV="1">
            <a:off x="2812415" y="5211445"/>
            <a:ext cx="1033145" cy="1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65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First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845695" y="502600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2669702" y="428291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5349816" y="5027264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1" name="Straight Arrow Connector 9"/>
          <p:cNvCxnSpPr>
            <a:endCxn id="40" idx="1"/>
          </p:cNvCxnSpPr>
          <p:nvPr/>
        </p:nvCxnSpPr>
        <p:spPr>
          <a:xfrm>
            <a:off x="4810489" y="5198714"/>
            <a:ext cx="539327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888473" y="5027264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1256643" y="3926512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771217" y="5027264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" name="Straight Arrow Connector 9"/>
          <p:cNvCxnSpPr>
            <a:endCxn id="17" idx="1"/>
          </p:cNvCxnSpPr>
          <p:nvPr/>
        </p:nvCxnSpPr>
        <p:spPr>
          <a:xfrm>
            <a:off x="6275627" y="5189138"/>
            <a:ext cx="495590" cy="957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DeleteFirst(in/out L : List, out P : Address)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 =</a:t>
            </a:r>
            <a:r>
              <a:rPr 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L.f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irst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L.first </a:t>
            </a:r>
            <a:r>
              <a:rPr lang="en-US" sz="20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P→n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ext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</a:t>
            </a:r>
            <a:r>
              <a:rPr 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P→n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ext =</a:t>
            </a:r>
            <a:r>
              <a:rPr 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NIL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0"/>
              </a:spcBef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7" name="Elbow Connector 6"/>
          <p:cNvCxnSpPr/>
          <p:nvPr/>
        </p:nvCxnSpPr>
        <p:spPr>
          <a:xfrm rot="5400000" flipV="1">
            <a:off x="3081655" y="4434840"/>
            <a:ext cx="544830" cy="98234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4" idx="2"/>
            <a:endCxn id="42" idx="0"/>
          </p:cNvCxnSpPr>
          <p:nvPr/>
        </p:nvCxnSpPr>
        <p:spPr>
          <a:xfrm>
            <a:off x="1447800" y="4297045"/>
            <a:ext cx="0" cy="730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"/>
          <p:cNvSpPr>
            <a:spLocks noGrp="1"/>
          </p:cNvSpPr>
          <p:nvPr/>
        </p:nvSpPr>
        <p:spPr>
          <a:xfrm>
            <a:off x="3763010" y="584835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4434205" y="5502275"/>
            <a:ext cx="0" cy="332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625" y="3013075"/>
            <a:ext cx="1278255" cy="130619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atinLnBrk="0">
              <a:spcBef>
                <a:spcPts val="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Melepaskan elemen terakhir dari List</a:t>
            </a:r>
          </a:p>
          <a:p>
            <a:pPr latinLnBrk="0">
              <a:spcBef>
                <a:spcPts val="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DeleteLast(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in/out L : List, out P : Address)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0"/>
              </a:spcBef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66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Last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295" y="2799080"/>
            <a:ext cx="5864225" cy="122301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340" y="4509135"/>
            <a:ext cx="4516120" cy="152590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srgbClr val="FFFFFF"/>
            </a:duotone>
          </a:blip>
          <a:stretch>
            <a:fillRect/>
          </a:stretch>
        </p:blipFill>
        <p:spPr>
          <a:xfrm rot="10800000" flipH="1">
            <a:off x="1809115" y="4022090"/>
            <a:ext cx="535940" cy="102743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64221" y="4130719"/>
            <a:ext cx="6253655" cy="15555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67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Last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356588" y="5149312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2955129" y="4497446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9" name="Straight Arrow Connector 9"/>
          <p:cNvCxnSpPr>
            <a:stCxn id="38" idx="2"/>
            <a:endCxn id="37" idx="1"/>
          </p:cNvCxnSpPr>
          <p:nvPr/>
        </p:nvCxnSpPr>
        <p:spPr>
          <a:xfrm rot="5400000" flipV="1">
            <a:off x="3011488" y="4989513"/>
            <a:ext cx="466090" cy="224155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4860709" y="515057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7761636" y="515057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6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3724940" y="3836959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269801" y="515057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DeleteLast(</a:t>
            </a: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in/out L : List, out P : Address)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Q : Address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 </a:t>
            </a:r>
            <a:r>
              <a:rPr 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L.first</a:t>
            </a: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endParaRPr lang="en-US" altLang="en-US" sz="16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0"/>
              </a:spcBef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447570" y="4347499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>
            <a:endCxn id="40" idx="1"/>
          </p:cNvCxnSpPr>
          <p:nvPr/>
        </p:nvCxnSpPr>
        <p:spPr>
          <a:xfrm>
            <a:off x="4308475" y="5331460"/>
            <a:ext cx="552450" cy="4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5717540" y="5335905"/>
            <a:ext cx="552450" cy="4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7209155" y="5340350"/>
            <a:ext cx="552450" cy="4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10" idx="1"/>
            <a:endCxn id="37" idx="0"/>
          </p:cNvCxnSpPr>
          <p:nvPr/>
        </p:nvCxnSpPr>
        <p:spPr>
          <a:xfrm rot="10800000" flipV="1">
            <a:off x="3901440" y="4531995"/>
            <a:ext cx="545465" cy="61658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1"/>
          <p:cNvSpPr>
            <a:spLocks noGrp="1"/>
          </p:cNvSpPr>
          <p:nvPr/>
        </p:nvSpPr>
        <p:spPr>
          <a:xfrm>
            <a:off x="3217545" y="594169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3888740" y="5595620"/>
            <a:ext cx="0" cy="332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64221" y="4130719"/>
            <a:ext cx="6253655" cy="15555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68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Last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 - Iterasi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356588" y="5149312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2955129" y="4497446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9" name="Straight Arrow Connector 9"/>
          <p:cNvCxnSpPr>
            <a:stCxn id="38" idx="2"/>
            <a:endCxn id="37" idx="1"/>
          </p:cNvCxnSpPr>
          <p:nvPr/>
        </p:nvCxnSpPr>
        <p:spPr>
          <a:xfrm rot="5400000" flipV="1">
            <a:off x="3011488" y="4989513"/>
            <a:ext cx="466090" cy="224155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4860709" y="515057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7761636" y="515057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6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3724940" y="3836959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269801" y="515057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Content Placeholder 1"/>
          <p:cNvSpPr>
            <a:spLocks noGrp="1"/>
          </p:cNvSpPr>
          <p:nvPr/>
        </p:nvSpPr>
        <p:spPr>
          <a:xfrm>
            <a:off x="365125" y="201082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DeleteLast(</a:t>
            </a: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in/out L : List, out P : Address)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Q : Address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 </a:t>
            </a:r>
            <a:r>
              <a:rPr 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L.first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</a:t>
            </a: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while (P→next &lt;&gt; NIL) do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Q =</a:t>
            </a:r>
            <a:r>
              <a:rPr lang="en-US" altLang="en-US" sz="16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P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P = P→next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</a:t>
            </a: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end while</a:t>
            </a:r>
          </a:p>
          <a:p>
            <a:pPr marL="0" indent="0" latinLnBrk="0">
              <a:spcBef>
                <a:spcPts val="0"/>
              </a:spcBef>
              <a:buNone/>
            </a:pPr>
            <a:endParaRPr lang="en-US" altLang="en-US" sz="16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0"/>
              </a:spcBef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229255" y="4320829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>
            <a:endCxn id="40" idx="1"/>
          </p:cNvCxnSpPr>
          <p:nvPr/>
        </p:nvCxnSpPr>
        <p:spPr>
          <a:xfrm>
            <a:off x="4308475" y="5331460"/>
            <a:ext cx="552450" cy="4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5717540" y="5335905"/>
            <a:ext cx="552450" cy="4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7209155" y="5340350"/>
            <a:ext cx="552450" cy="4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52170" y="3265805"/>
            <a:ext cx="2844800" cy="1054735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9" name="Straight Arrow Connector 8"/>
          <p:cNvCxnSpPr>
            <a:stCxn id="10" idx="2"/>
            <a:endCxn id="40" idx="0"/>
          </p:cNvCxnSpPr>
          <p:nvPr/>
        </p:nvCxnSpPr>
        <p:spPr>
          <a:xfrm>
            <a:off x="5406390" y="4691380"/>
            <a:ext cx="0" cy="459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44" idx="2"/>
            <a:endCxn id="37" idx="0"/>
          </p:cNvCxnSpPr>
          <p:nvPr/>
        </p:nvCxnSpPr>
        <p:spPr>
          <a:xfrm>
            <a:off x="3902075" y="4207510"/>
            <a:ext cx="0" cy="9417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1"/>
          <p:cNvSpPr>
            <a:spLocks noGrp="1"/>
          </p:cNvSpPr>
          <p:nvPr/>
        </p:nvSpPr>
        <p:spPr>
          <a:xfrm>
            <a:off x="3247390" y="594169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3918585" y="5595620"/>
            <a:ext cx="0" cy="332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7" grpId="0" bldLvl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64221" y="4130719"/>
            <a:ext cx="6253655" cy="15555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69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Last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 - Iterasi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356588" y="5149312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2955129" y="4497446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9" name="Straight Arrow Connector 9"/>
          <p:cNvCxnSpPr>
            <a:stCxn id="38" idx="2"/>
            <a:endCxn id="37" idx="1"/>
          </p:cNvCxnSpPr>
          <p:nvPr/>
        </p:nvCxnSpPr>
        <p:spPr>
          <a:xfrm rot="5400000" flipV="1">
            <a:off x="3011488" y="4989513"/>
            <a:ext cx="466090" cy="224155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4860709" y="515057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7761636" y="515057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6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5229255" y="376012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269801" y="515057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Content Placeholder 1"/>
          <p:cNvSpPr>
            <a:spLocks noGrp="1"/>
          </p:cNvSpPr>
          <p:nvPr/>
        </p:nvSpPr>
        <p:spPr>
          <a:xfrm>
            <a:off x="381635" y="200701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DeleteLast(</a:t>
            </a: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in/out L : List, out P : Address)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Q : Address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 </a:t>
            </a:r>
            <a:r>
              <a:rPr 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L.first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</a:t>
            </a: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while (P→next &lt;&gt; NIL) do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Q =</a:t>
            </a:r>
            <a:r>
              <a:rPr lang="en-US" altLang="en-US" sz="16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P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P = P→next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</a:t>
            </a: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end while</a:t>
            </a:r>
          </a:p>
          <a:p>
            <a:pPr marL="0" indent="0" latinLnBrk="0">
              <a:spcBef>
                <a:spcPts val="0"/>
              </a:spcBef>
              <a:buNone/>
            </a:pPr>
            <a:endParaRPr lang="en-US" altLang="en-US" sz="16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0"/>
              </a:spcBef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38320" y="4320829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>
            <a:endCxn id="40" idx="1"/>
          </p:cNvCxnSpPr>
          <p:nvPr/>
        </p:nvCxnSpPr>
        <p:spPr>
          <a:xfrm>
            <a:off x="4308475" y="5331460"/>
            <a:ext cx="552450" cy="4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5717540" y="5335905"/>
            <a:ext cx="552450" cy="4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7209155" y="5340350"/>
            <a:ext cx="552450" cy="4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52170" y="3265805"/>
            <a:ext cx="2799080" cy="1054735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14" name="Straight Arrow Connector 13"/>
          <p:cNvCxnSpPr>
            <a:stCxn id="44" idx="2"/>
          </p:cNvCxnSpPr>
          <p:nvPr/>
        </p:nvCxnSpPr>
        <p:spPr>
          <a:xfrm>
            <a:off x="5406390" y="4130675"/>
            <a:ext cx="0" cy="1019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2"/>
            <a:endCxn id="34" idx="0"/>
          </p:cNvCxnSpPr>
          <p:nvPr/>
        </p:nvCxnSpPr>
        <p:spPr>
          <a:xfrm>
            <a:off x="6815455" y="4691380"/>
            <a:ext cx="0" cy="459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1"/>
          <p:cNvSpPr>
            <a:spLocks noGrp="1"/>
          </p:cNvSpPr>
          <p:nvPr/>
        </p:nvSpPr>
        <p:spPr>
          <a:xfrm>
            <a:off x="3190875" y="594169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3862070" y="5595620"/>
            <a:ext cx="0" cy="332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7" grpId="0" bldLvl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64221" y="4130719"/>
            <a:ext cx="6253655" cy="15555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70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Last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 - Iterasi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356588" y="5149312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2955129" y="4497446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9" name="Straight Arrow Connector 9"/>
          <p:cNvCxnSpPr>
            <a:stCxn id="38" idx="2"/>
            <a:endCxn id="37" idx="1"/>
          </p:cNvCxnSpPr>
          <p:nvPr/>
        </p:nvCxnSpPr>
        <p:spPr>
          <a:xfrm rot="5400000" flipV="1">
            <a:off x="3011488" y="4989513"/>
            <a:ext cx="466090" cy="224155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4860709" y="515057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7761636" y="515057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6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6638320" y="376012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269801" y="515057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Content Placeholder 1"/>
          <p:cNvSpPr>
            <a:spLocks noGrp="1"/>
          </p:cNvSpPr>
          <p:nvPr/>
        </p:nvSpPr>
        <p:spPr>
          <a:xfrm>
            <a:off x="381635" y="200701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DeleteLast(</a:t>
            </a: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in/out L : List, out P : Address)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Q : Address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 </a:t>
            </a:r>
            <a:r>
              <a:rPr 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L.first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</a:t>
            </a: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while (P→next &lt;&gt; NIL) do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Q =</a:t>
            </a:r>
            <a:r>
              <a:rPr lang="en-US" altLang="en-US" sz="16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P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P = P→next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</a:t>
            </a: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end while</a:t>
            </a:r>
          </a:p>
          <a:p>
            <a:pPr marL="0" indent="0" latinLnBrk="0">
              <a:spcBef>
                <a:spcPts val="0"/>
              </a:spcBef>
              <a:buNone/>
            </a:pPr>
            <a:endParaRPr lang="en-US" altLang="en-US" sz="16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0"/>
              </a:spcBef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047385" y="4320829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>
            <a:endCxn id="40" idx="1"/>
          </p:cNvCxnSpPr>
          <p:nvPr/>
        </p:nvCxnSpPr>
        <p:spPr>
          <a:xfrm>
            <a:off x="4308475" y="5331460"/>
            <a:ext cx="552450" cy="4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5717540" y="5335905"/>
            <a:ext cx="552450" cy="4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7209155" y="5340350"/>
            <a:ext cx="552450" cy="4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52170" y="3265805"/>
            <a:ext cx="2755265" cy="1054735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14" name="Straight Arrow Connector 13"/>
          <p:cNvCxnSpPr>
            <a:stCxn id="44" idx="2"/>
            <a:endCxn id="34" idx="0"/>
          </p:cNvCxnSpPr>
          <p:nvPr/>
        </p:nvCxnSpPr>
        <p:spPr>
          <a:xfrm>
            <a:off x="6815455" y="4130675"/>
            <a:ext cx="0" cy="1019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2"/>
          </p:cNvCxnSpPr>
          <p:nvPr/>
        </p:nvCxnSpPr>
        <p:spPr>
          <a:xfrm>
            <a:off x="8224520" y="4691380"/>
            <a:ext cx="0" cy="459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1"/>
          <p:cNvSpPr>
            <a:spLocks noGrp="1"/>
          </p:cNvSpPr>
          <p:nvPr/>
        </p:nvSpPr>
        <p:spPr>
          <a:xfrm>
            <a:off x="3132455" y="594169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3803650" y="5595620"/>
            <a:ext cx="0" cy="332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7" grpId="0" bldLvl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64221" y="4130719"/>
            <a:ext cx="6253655" cy="15555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71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Last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356588" y="5149312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2955129" y="4497446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9" name="Straight Arrow Connector 9"/>
          <p:cNvCxnSpPr>
            <a:stCxn id="38" idx="2"/>
            <a:endCxn id="37" idx="1"/>
          </p:cNvCxnSpPr>
          <p:nvPr/>
        </p:nvCxnSpPr>
        <p:spPr>
          <a:xfrm rot="5400000" flipV="1">
            <a:off x="3011488" y="4989513"/>
            <a:ext cx="466090" cy="224155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4860709" y="515057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7761636" y="515057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6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6638320" y="376012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269801" y="515057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  <a:sym typeface="+mn-ea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Content Placeholder 1"/>
          <p:cNvSpPr>
            <a:spLocks noGrp="1"/>
          </p:cNvSpPr>
          <p:nvPr/>
        </p:nvSpPr>
        <p:spPr>
          <a:xfrm>
            <a:off x="381635" y="200701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DeleteLast(</a:t>
            </a: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in/out L : List, out P : Address)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Q : Address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 </a:t>
            </a:r>
            <a:r>
              <a:rPr 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L.first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</a:t>
            </a: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while (P→next &lt;&gt; NIL) do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Q =</a:t>
            </a:r>
            <a:r>
              <a:rPr lang="en-US" altLang="en-US" sz="16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P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P = P→next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</a:t>
            </a: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end while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Q→next </a:t>
            </a:r>
            <a:r>
              <a:rPr lang="en-US" altLang="en-US" sz="16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← NIL</a:t>
            </a: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endParaRPr lang="en-US" altLang="en-US" sz="16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0"/>
              </a:spcBef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047385" y="4320829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>
            <a:endCxn id="40" idx="1"/>
          </p:cNvCxnSpPr>
          <p:nvPr/>
        </p:nvCxnSpPr>
        <p:spPr>
          <a:xfrm>
            <a:off x="4308475" y="5331460"/>
            <a:ext cx="552450" cy="4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5717540" y="5335905"/>
            <a:ext cx="552450" cy="4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44" idx="2"/>
            <a:endCxn id="34" idx="0"/>
          </p:cNvCxnSpPr>
          <p:nvPr/>
        </p:nvCxnSpPr>
        <p:spPr>
          <a:xfrm>
            <a:off x="6815455" y="4130675"/>
            <a:ext cx="0" cy="1019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2"/>
          </p:cNvCxnSpPr>
          <p:nvPr/>
        </p:nvCxnSpPr>
        <p:spPr>
          <a:xfrm>
            <a:off x="8224520" y="4691380"/>
            <a:ext cx="0" cy="459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1"/>
          <p:cNvSpPr>
            <a:spLocks noGrp="1"/>
          </p:cNvSpPr>
          <p:nvPr/>
        </p:nvSpPr>
        <p:spPr>
          <a:xfrm>
            <a:off x="3190875" y="594169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3862070" y="5595620"/>
            <a:ext cx="0" cy="332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170" y="2007235"/>
            <a:ext cx="1278255" cy="130619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atinLnBrk="0">
              <a:spcBef>
                <a:spcPts val="0"/>
              </a:spcBef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Menghapus elemen setelah elemen yang ditunjuk oleh pointer Prec </a:t>
            </a:r>
            <a:r>
              <a:rPr lang="en-US" altLang="en-US" sz="1800" dirty="0" err="1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(kondisi default Prec sudah ditentukan)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0"/>
              </a:spcBef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DeleteAfter(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in/out L : List, input Prec : Address, out P : Address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)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72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After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115" y="3298190"/>
            <a:ext cx="5509260" cy="11487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150" y="4674870"/>
            <a:ext cx="4340225" cy="147510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srgbClr val="FFFFFF"/>
            </a:duotone>
          </a:blip>
          <a:stretch>
            <a:fillRect/>
          </a:stretch>
        </p:blipFill>
        <p:spPr>
          <a:xfrm rot="10800000" flipH="1">
            <a:off x="1939290" y="4674870"/>
            <a:ext cx="514350" cy="98615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73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After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956107" y="5148397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151591" y="4746658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" name="Straight Arrow Connector 9"/>
          <p:cNvCxnSpPr>
            <a:stCxn id="23" idx="2"/>
            <a:endCxn id="22" idx="1"/>
          </p:cNvCxnSpPr>
          <p:nvPr/>
        </p:nvCxnSpPr>
        <p:spPr>
          <a:xfrm rot="16200000" flipH="1">
            <a:off x="2534313" y="4912022"/>
            <a:ext cx="216319" cy="627269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460228" y="5152842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963353" y="5148397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331390" y="4180555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466213" y="5148397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4688794" y="4207673"/>
          <a:ext cx="633169" cy="3441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3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Prec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DeleteAfter(in/out L : List, input Prec : Address, out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P =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 Prec→next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7" name="Straight Arrow Connector 6"/>
          <p:cNvCxnSpPr>
            <a:endCxn id="25" idx="1"/>
          </p:cNvCxnSpPr>
          <p:nvPr/>
        </p:nvCxnSpPr>
        <p:spPr>
          <a:xfrm flipV="1">
            <a:off x="3902710" y="5338445"/>
            <a:ext cx="557530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5405755" y="5325110"/>
            <a:ext cx="557530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6908800" y="5347335"/>
            <a:ext cx="557530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8" idx="2"/>
            <a:endCxn id="25" idx="0"/>
          </p:cNvCxnSpPr>
          <p:nvPr/>
        </p:nvCxnSpPr>
        <p:spPr>
          <a:xfrm>
            <a:off x="5005070" y="4551680"/>
            <a:ext cx="635" cy="6013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508750" y="4551680"/>
            <a:ext cx="635" cy="6013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1"/>
          <p:cNvSpPr>
            <a:spLocks noGrp="1"/>
          </p:cNvSpPr>
          <p:nvPr/>
        </p:nvSpPr>
        <p:spPr>
          <a:xfrm>
            <a:off x="2790190" y="594169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3461385" y="5595620"/>
            <a:ext cx="0" cy="332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74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After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956107" y="5148397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151591" y="4746658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" name="Straight Arrow Connector 9"/>
          <p:cNvCxnSpPr>
            <a:stCxn id="23" idx="2"/>
            <a:endCxn id="22" idx="1"/>
          </p:cNvCxnSpPr>
          <p:nvPr/>
        </p:nvCxnSpPr>
        <p:spPr>
          <a:xfrm rot="16200000" flipH="1">
            <a:off x="2534313" y="4912022"/>
            <a:ext cx="216319" cy="627269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460228" y="5152842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963353" y="5148397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331390" y="4180555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466213" y="5148397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4688794" y="4207673"/>
          <a:ext cx="633169" cy="3441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3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Prec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DeleteAfter(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in/out L : List, input Prec : Address, out P : Address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)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 =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 Prec→next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Prec→next =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 P→next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7" name="Straight Arrow Connector 6"/>
          <p:cNvCxnSpPr>
            <a:endCxn id="25" idx="1"/>
          </p:cNvCxnSpPr>
          <p:nvPr/>
        </p:nvCxnSpPr>
        <p:spPr>
          <a:xfrm flipV="1">
            <a:off x="3902710" y="5338445"/>
            <a:ext cx="557530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6908800" y="5347335"/>
            <a:ext cx="557530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8" idx="2"/>
            <a:endCxn id="25" idx="0"/>
          </p:cNvCxnSpPr>
          <p:nvPr/>
        </p:nvCxnSpPr>
        <p:spPr>
          <a:xfrm>
            <a:off x="5005070" y="4551680"/>
            <a:ext cx="635" cy="6013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508750" y="4551680"/>
            <a:ext cx="635" cy="6013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endCxn id="32" idx="2"/>
          </p:cNvCxnSpPr>
          <p:nvPr/>
        </p:nvCxnSpPr>
        <p:spPr>
          <a:xfrm>
            <a:off x="5551170" y="5356225"/>
            <a:ext cx="2460625" cy="163195"/>
          </a:xfrm>
          <a:prstGeom prst="bentConnector4">
            <a:avLst>
              <a:gd name="adj1" fmla="val 10916"/>
              <a:gd name="adj2" fmla="val 32023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"/>
          <p:cNvSpPr>
            <a:spLocks noGrp="1"/>
          </p:cNvSpPr>
          <p:nvPr/>
        </p:nvSpPr>
        <p:spPr>
          <a:xfrm>
            <a:off x="2790190" y="594169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3461385" y="5595620"/>
            <a:ext cx="0" cy="332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75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After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956107" y="5148397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151591" y="4746658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" name="Straight Arrow Connector 9"/>
          <p:cNvCxnSpPr>
            <a:stCxn id="23" idx="2"/>
            <a:endCxn id="22" idx="1"/>
          </p:cNvCxnSpPr>
          <p:nvPr/>
        </p:nvCxnSpPr>
        <p:spPr>
          <a:xfrm rot="16200000" flipH="1">
            <a:off x="2534313" y="4912022"/>
            <a:ext cx="216319" cy="627269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460228" y="5152842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963353" y="5148397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  <a:sym typeface="+mn-ea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331390" y="4180555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466213" y="5148397"/>
          <a:ext cx="10909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4688794" y="4207673"/>
          <a:ext cx="633169" cy="3441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3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Prec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DeleteAfter(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in/out L : List, input Prec : Address, out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 =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 Prec→next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Prec→next =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 P→next</a:t>
            </a:r>
            <a:endParaRPr 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	P→next = NIL</a:t>
            </a:r>
          </a:p>
          <a:p>
            <a:pPr marL="0" indent="0" latinLnBrk="0">
              <a:spcBef>
                <a:spcPts val="0"/>
              </a:spcBef>
              <a:buNone/>
            </a:pP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7" name="Straight Arrow Connector 6"/>
          <p:cNvCxnSpPr>
            <a:endCxn id="25" idx="1"/>
          </p:cNvCxnSpPr>
          <p:nvPr/>
        </p:nvCxnSpPr>
        <p:spPr>
          <a:xfrm flipV="1">
            <a:off x="3902710" y="5338445"/>
            <a:ext cx="557530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8" idx="2"/>
            <a:endCxn id="25" idx="0"/>
          </p:cNvCxnSpPr>
          <p:nvPr/>
        </p:nvCxnSpPr>
        <p:spPr>
          <a:xfrm>
            <a:off x="5005070" y="4551680"/>
            <a:ext cx="635" cy="6013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508750" y="4551680"/>
            <a:ext cx="635" cy="6013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endCxn id="32" idx="2"/>
          </p:cNvCxnSpPr>
          <p:nvPr/>
        </p:nvCxnSpPr>
        <p:spPr>
          <a:xfrm>
            <a:off x="5551170" y="5356225"/>
            <a:ext cx="2460625" cy="163195"/>
          </a:xfrm>
          <a:prstGeom prst="bentConnector4">
            <a:avLst>
              <a:gd name="adj1" fmla="val 10916"/>
              <a:gd name="adj2" fmla="val 32023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"/>
          <p:cNvSpPr>
            <a:spLocks noGrp="1"/>
          </p:cNvSpPr>
          <p:nvPr/>
        </p:nvSpPr>
        <p:spPr>
          <a:xfrm>
            <a:off x="2790190" y="594169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3461385" y="5595620"/>
            <a:ext cx="0" cy="332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0" y="2591435"/>
            <a:ext cx="1278255" cy="130619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Empty list</a:t>
            </a:r>
          </a:p>
          <a:p>
            <a:pPr lvl="1"/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if L.first = NIL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Only 1 element in list</a:t>
            </a:r>
          </a:p>
          <a:p>
            <a:pPr lvl="1"/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if ((L.first)→next = NIL)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76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Perhatikan kondisi berikut!!!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850" y="4607560"/>
            <a:ext cx="1510030" cy="142748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85750" indent="-285750" latinLnBrk="0"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Only 1 element in list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DeleteFirst(in/out L : List, out P : Address)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  <a:endParaRPr lang="en-US" altLang="en-US" sz="16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if ((L.first)→next = NIL)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	P = L.first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	L.first = NIL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	Dealokasi(P)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else </a:t>
            </a: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if (L.first = NIL)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Output(‘List kosong’)</a:t>
            </a:r>
            <a:endParaRPr lang="en-US" altLang="en-US" sz="16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else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	</a:t>
            </a: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 =</a:t>
            </a:r>
            <a:r>
              <a:rPr 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L.f</a:t>
            </a: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irst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	L.first =</a:t>
            </a:r>
            <a:r>
              <a:rPr 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P→n</a:t>
            </a: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ext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	P→next =</a:t>
            </a:r>
            <a:r>
              <a:rPr 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NIL</a:t>
            </a:r>
            <a:endParaRPr lang="en-US" altLang="en-US" sz="16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77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Perhatikan kondisi berikut!!!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850" y="4607560"/>
            <a:ext cx="1510030" cy="142748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>
              <a:buFont typeface="Arial" panose="02080604020202020204" pitchFamily="34" charset="0"/>
              <a:buChar char="•"/>
            </a:pP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Empty list</a:t>
            </a:r>
          </a:p>
          <a:p>
            <a:pPr marL="0" indent="0"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InsertFirst(in/out L : List; input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410845" lvl="1" indent="0"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if (L.first = NIL)</a:t>
            </a:r>
          </a:p>
          <a:p>
            <a:pPr marL="410845" lvl="1" indent="0"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	L.first = P</a:t>
            </a:r>
          </a:p>
          <a:p>
            <a:pPr marL="410845" lvl="1" indent="0"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else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	P→n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ext 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= L.first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L.first 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= P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410845" lvl="1" indent="0">
              <a:buNone/>
            </a:pP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410845" lvl="1" indent="0"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78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10/28/2025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Perhatikan kondisi berikut!!!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850" y="4607560"/>
            <a:ext cx="1510030" cy="142748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80604020202020204" pitchFamily="34" charset="0"/>
                <a:cs typeface="Arial" panose="02080604020202020204" pitchFamily="34" charset="0"/>
              </a:rPr>
              <a:t>Question?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5500" y="1977390"/>
            <a:ext cx="2326005" cy="3333750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358775" cy="365125"/>
          </a:xfrm>
        </p:spPr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t>80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4294967295"/>
          </p:nvPr>
        </p:nvSpPr>
        <p:spPr>
          <a:xfrm>
            <a:off x="0" y="6356350"/>
            <a:ext cx="1643063" cy="365125"/>
          </a:xfrm>
        </p:spPr>
        <p:txBody>
          <a:bodyPr/>
          <a:lstStyle/>
          <a:p>
            <a:pPr>
              <a:defRPr/>
            </a:pPr>
            <a:fld id="{BDF9ACDF-1E6F-4801-9B61-F59A09F6E115}" type="datetime1">
              <a:rPr lang="en-US" smtClean="0"/>
              <a:t>10/28/2025</a:t>
            </a:fld>
            <a:endParaRPr lang="en-US" dirty="0"/>
          </a:p>
        </p:txBody>
      </p:sp>
    </p:spTree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 w="25907">
          <a:solidFill>
            <a:srgbClr val="000000"/>
          </a:solidFill>
        </a:ln>
      </a:spPr>
      <a:bodyPr vert="horz" wrap="square" lIns="0" tIns="43180" rIns="0" bIns="0" rtlCol="0">
        <a:spAutoFit/>
      </a:bodyPr>
      <a:lstStyle>
        <a:defPPr marL="90170">
          <a:lnSpc>
            <a:spcPct val="100000"/>
          </a:lnSpc>
          <a:spcBef>
            <a:spcPts val="340"/>
          </a:spcBef>
          <a:defRPr sz="1800" u="sng">
            <a:latin typeface="Arial" panose="02080604020202020204" pitchFamily="34" charset="0"/>
            <a:cs typeface="Arial" panose="0208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ieee_presentation_template.pot</Template>
  <TotalTime>34</TotalTime>
  <Words>3398</Words>
  <Application>Microsoft Office PowerPoint</Application>
  <PresentationFormat>On-screen Show (4:3)</PresentationFormat>
  <Paragraphs>1264</Paragraphs>
  <Slides>80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80</vt:i4>
      </vt:variant>
    </vt:vector>
  </HeadingPairs>
  <TitlesOfParts>
    <vt:vector size="90" baseType="lpstr">
      <vt:lpstr>Arial</vt:lpstr>
      <vt:lpstr>Brush Script Std</vt:lpstr>
      <vt:lpstr>Calibri</vt:lpstr>
      <vt:lpstr>Cambria Math</vt:lpstr>
      <vt:lpstr>Courier New</vt:lpstr>
      <vt:lpstr>Lucida Grande</vt:lpstr>
      <vt:lpstr>Verdana</vt:lpstr>
      <vt:lpstr>Wingdings</vt:lpstr>
      <vt:lpstr>template_informatika_slide</vt:lpstr>
      <vt:lpstr>2_template_informatika_slide</vt:lpstr>
      <vt:lpstr>CDK2AAB4 - Struktur Data Single Linked List</vt:lpstr>
      <vt:lpstr>Single Linked List</vt:lpstr>
      <vt:lpstr>Pop Quiz</vt:lpstr>
      <vt:lpstr>Penyisipan ke dalam array berurut</vt:lpstr>
      <vt:lpstr>Sulit bukan?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Linked List</vt:lpstr>
      <vt:lpstr>Element List</vt:lpstr>
      <vt:lpstr>Element List</vt:lpstr>
      <vt:lpstr>Element List</vt:lpstr>
      <vt:lpstr>Element List</vt:lpstr>
      <vt:lpstr>Element List</vt:lpstr>
      <vt:lpstr>Element List</vt:lpstr>
      <vt:lpstr>Element List</vt:lpstr>
      <vt:lpstr>Address </vt:lpstr>
      <vt:lpstr>Infotype</vt:lpstr>
      <vt:lpstr>Linked List</vt:lpstr>
      <vt:lpstr>Linked List</vt:lpstr>
      <vt:lpstr>Deklarasi Struktur Data</vt:lpstr>
      <vt:lpstr>Deklarasi Struktur Data - Tipe data bentukan</vt:lpstr>
      <vt:lpstr>Prosedur pembuatan List</vt:lpstr>
      <vt:lpstr>Prosedur pembuatan element</vt:lpstr>
      <vt:lpstr>Prosedur pembuatan element (record)</vt:lpstr>
      <vt:lpstr>Prosedur pembuatan element (record)</vt:lpstr>
      <vt:lpstr>Cara Mengakses List</vt:lpstr>
      <vt:lpstr>Exercise</vt:lpstr>
      <vt:lpstr>Exercise</vt:lpstr>
      <vt:lpstr>Exercise</vt:lpstr>
      <vt:lpstr>PowerPoint Presentation</vt:lpstr>
      <vt:lpstr>PowerPoint Presentation</vt:lpstr>
      <vt:lpstr>Question?</vt:lpstr>
      <vt:lpstr>Linked List - Insert  &amp; Delete Operation</vt:lpstr>
      <vt:lpstr>Hati-hati dengan Pointer</vt:lpstr>
      <vt:lpstr>Hati-hati dengan Pointer</vt:lpstr>
      <vt:lpstr>Hati-hati dengan Pointer</vt:lpstr>
      <vt:lpstr>Deklarasi Struktur Data - Tipe data dasar</vt:lpstr>
      <vt:lpstr>Deklarasi Struktur Data - Tipe data bentukan</vt:lpstr>
      <vt:lpstr>Insert Elemen ke dalam List</vt:lpstr>
      <vt:lpstr>Insert First</vt:lpstr>
      <vt:lpstr>Insert First</vt:lpstr>
      <vt:lpstr>Insert First</vt:lpstr>
      <vt:lpstr>Insert Last</vt:lpstr>
      <vt:lpstr>Insert Last</vt:lpstr>
      <vt:lpstr>Insert Last - Iterasi</vt:lpstr>
      <vt:lpstr>Insert Last - Iterasi</vt:lpstr>
      <vt:lpstr>Insert Last - Iterasi</vt:lpstr>
      <vt:lpstr>Insert Last</vt:lpstr>
      <vt:lpstr>Insert After</vt:lpstr>
      <vt:lpstr>Insert After</vt:lpstr>
      <vt:lpstr>Insert After</vt:lpstr>
      <vt:lpstr>Delete elemen dari List</vt:lpstr>
      <vt:lpstr>Delete First</vt:lpstr>
      <vt:lpstr>Delete First</vt:lpstr>
      <vt:lpstr>Delete First</vt:lpstr>
      <vt:lpstr>Delete First</vt:lpstr>
      <vt:lpstr>Delete Last</vt:lpstr>
      <vt:lpstr>Delete Last</vt:lpstr>
      <vt:lpstr>Delete Last - Iterasi</vt:lpstr>
      <vt:lpstr>Delete Last - Iterasi</vt:lpstr>
      <vt:lpstr>Delete Last - Iterasi</vt:lpstr>
      <vt:lpstr>Delete Last</vt:lpstr>
      <vt:lpstr>Delete After</vt:lpstr>
      <vt:lpstr>Delete After</vt:lpstr>
      <vt:lpstr>Delete After</vt:lpstr>
      <vt:lpstr>Delete After</vt:lpstr>
      <vt:lpstr>Perhatikan kondisi berikut!!!</vt:lpstr>
      <vt:lpstr>Perhatikan kondisi berikut!!!</vt:lpstr>
      <vt:lpstr>Perhatikan kondisi berikut!!!</vt:lpstr>
      <vt:lpstr>Question?</vt:lpstr>
      <vt:lpstr>PowerPoint Presentation</vt:lpstr>
    </vt:vector>
  </TitlesOfParts>
  <Company>IEEE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anditya.arifianto@gmail.com</dc:creator>
  <cp:lastModifiedBy>Sheren Aulia</cp:lastModifiedBy>
  <cp:revision>1429</cp:revision>
  <dcterms:created xsi:type="dcterms:W3CDTF">2025-09-25T14:57:49Z</dcterms:created>
  <dcterms:modified xsi:type="dcterms:W3CDTF">2025-10-28T04:48:00Z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