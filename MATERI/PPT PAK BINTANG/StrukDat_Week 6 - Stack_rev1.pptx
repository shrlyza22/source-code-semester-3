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6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7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8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9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10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11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12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13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14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5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theme/theme16.xml" ContentType="application/vnd.openxmlformats-officedocument.theme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17.xml" ContentType="application/vnd.openxmlformats-officedocument.theme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18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theme/theme19.xml" ContentType="application/vnd.openxmlformats-officedocument.theme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20.xml" ContentType="application/vnd.openxmlformats-officedocument.theme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21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22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theme/theme23.xml" ContentType="application/vnd.openxmlformats-officedocument.theme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theme/theme24.xml" ContentType="application/vnd.openxmlformats-officedocument.theme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theme/theme25.xml" ContentType="application/vnd.openxmlformats-officedocument.theme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theme/theme26.xml" ContentType="application/vnd.openxmlformats-officedocument.theme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theme/theme27.xml" ContentType="application/vnd.openxmlformats-officedocument.theme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theme/theme28.xml" ContentType="application/vnd.openxmlformats-officedocument.theme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theme/theme29.xml" ContentType="application/vnd.openxmlformats-officedocument.theme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theme/theme30.xml" ContentType="application/vnd.openxmlformats-officedocument.theme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theme/theme31.xml" ContentType="application/vnd.openxmlformats-officedocument.theme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theme/theme32.xml" ContentType="application/vnd.openxmlformats-officedocument.theme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theme/theme33.xml" ContentType="application/vnd.openxmlformats-officedocument.theme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theme/theme34.xml" ContentType="application/vnd.openxmlformats-officedocument.theme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theme/theme35.xml" ContentType="application/vnd.openxmlformats-officedocument.theme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theme/theme36.xml" ContentType="application/vnd.openxmlformats-officedocument.theme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theme/theme37.xml" ContentType="application/vnd.openxmlformats-officedocument.theme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57" r:id="rId2"/>
    <p:sldMasterId id="2147483666" r:id="rId3"/>
    <p:sldMasterId id="2147483675" r:id="rId4"/>
    <p:sldMasterId id="2147483684" r:id="rId5"/>
    <p:sldMasterId id="2147483693" r:id="rId6"/>
    <p:sldMasterId id="2147483702" r:id="rId7"/>
    <p:sldMasterId id="2147483711" r:id="rId8"/>
    <p:sldMasterId id="2147483720" r:id="rId9"/>
    <p:sldMasterId id="2147483729" r:id="rId10"/>
    <p:sldMasterId id="2147483738" r:id="rId11"/>
    <p:sldMasterId id="2147483747" r:id="rId12"/>
    <p:sldMasterId id="2147483756" r:id="rId13"/>
    <p:sldMasterId id="2147483765" r:id="rId14"/>
    <p:sldMasterId id="2147483774" r:id="rId15"/>
    <p:sldMasterId id="2147483783" r:id="rId16"/>
    <p:sldMasterId id="2147483792" r:id="rId17"/>
    <p:sldMasterId id="2147483801" r:id="rId18"/>
    <p:sldMasterId id="2147483810" r:id="rId19"/>
    <p:sldMasterId id="2147483819" r:id="rId20"/>
    <p:sldMasterId id="2147483828" r:id="rId21"/>
    <p:sldMasterId id="2147483837" r:id="rId22"/>
    <p:sldMasterId id="2147483846" r:id="rId23"/>
    <p:sldMasterId id="2147483855" r:id="rId24"/>
    <p:sldMasterId id="2147483864" r:id="rId25"/>
    <p:sldMasterId id="2147483873" r:id="rId26"/>
    <p:sldMasterId id="2147483882" r:id="rId27"/>
    <p:sldMasterId id="2147483891" r:id="rId28"/>
    <p:sldMasterId id="2147483900" r:id="rId29"/>
    <p:sldMasterId id="2147483909" r:id="rId30"/>
    <p:sldMasterId id="2147483918" r:id="rId31"/>
    <p:sldMasterId id="2147483927" r:id="rId32"/>
    <p:sldMasterId id="2147483936" r:id="rId33"/>
    <p:sldMasterId id="2147483945" r:id="rId34"/>
    <p:sldMasterId id="2147483954" r:id="rId35"/>
    <p:sldMasterId id="2147483963" r:id="rId36"/>
    <p:sldMasterId id="2147483972" r:id="rId37"/>
    <p:sldMasterId id="2147483981" r:id="rId38"/>
  </p:sldMasterIdLst>
  <p:notesMasterIdLst>
    <p:notesMasterId r:id="rId81"/>
  </p:notesMasterIdLst>
  <p:handoutMasterIdLst>
    <p:handoutMasterId r:id="rId82"/>
  </p:handoutMasterIdLst>
  <p:sldIdLst>
    <p:sldId id="284" r:id="rId39"/>
    <p:sldId id="473" r:id="rId40"/>
    <p:sldId id="577" r:id="rId41"/>
    <p:sldId id="799" r:id="rId42"/>
    <p:sldId id="938" r:id="rId43"/>
    <p:sldId id="940" r:id="rId44"/>
    <p:sldId id="972" r:id="rId45"/>
    <p:sldId id="973" r:id="rId46"/>
    <p:sldId id="1024" r:id="rId47"/>
    <p:sldId id="974" r:id="rId48"/>
    <p:sldId id="1000" r:id="rId49"/>
    <p:sldId id="1001" r:id="rId50"/>
    <p:sldId id="1002" r:id="rId51"/>
    <p:sldId id="1003" r:id="rId52"/>
    <p:sldId id="1004" r:id="rId53"/>
    <p:sldId id="1005" r:id="rId54"/>
    <p:sldId id="1006" r:id="rId55"/>
    <p:sldId id="1007" r:id="rId56"/>
    <p:sldId id="1008" r:id="rId57"/>
    <p:sldId id="1009" r:id="rId58"/>
    <p:sldId id="1010" r:id="rId59"/>
    <p:sldId id="1011" r:id="rId60"/>
    <p:sldId id="975" r:id="rId61"/>
    <p:sldId id="976" r:id="rId62"/>
    <p:sldId id="977" r:id="rId63"/>
    <p:sldId id="979" r:id="rId64"/>
    <p:sldId id="980" r:id="rId65"/>
    <p:sldId id="981" r:id="rId66"/>
    <p:sldId id="982" r:id="rId67"/>
    <p:sldId id="983" r:id="rId68"/>
    <p:sldId id="984" r:id="rId69"/>
    <p:sldId id="985" r:id="rId70"/>
    <p:sldId id="986" r:id="rId71"/>
    <p:sldId id="1050" r:id="rId72"/>
    <p:sldId id="1051" r:id="rId73"/>
    <p:sldId id="1054" r:id="rId74"/>
    <p:sldId id="1052" r:id="rId75"/>
    <p:sldId id="1053" r:id="rId76"/>
    <p:sldId id="1055" r:id="rId77"/>
    <p:sldId id="1056" r:id="rId78"/>
    <p:sldId id="1057" r:id="rId79"/>
    <p:sldId id="258" r:id="rId80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009">
          <p15:clr>
            <a:srgbClr val="A4A3A4"/>
          </p15:clr>
        </p15:guide>
        <p15:guide id="2" pos="28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8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22" autoAdjust="0"/>
  </p:normalViewPr>
  <p:slideViewPr>
    <p:cSldViewPr snapToGrid="0" snapToObjects="1">
      <p:cViewPr varScale="1">
        <p:scale>
          <a:sx n="74" d="100"/>
          <a:sy n="74" d="100"/>
        </p:scale>
        <p:origin x="1458" y="36"/>
      </p:cViewPr>
      <p:guideLst>
        <p:guide orient="horz" pos="2009"/>
        <p:guide pos="285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6" d="100"/>
          <a:sy n="56" d="100"/>
        </p:scale>
        <p:origin x="-2886" y="-84"/>
      </p:cViewPr>
      <p:guideLst>
        <p:guide orient="horz" pos="2678"/>
        <p:guide pos="213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" Target="slides/slide4.xml"/><Relationship Id="rId47" Type="http://schemas.openxmlformats.org/officeDocument/2006/relationships/slide" Target="slides/slide9.xml"/><Relationship Id="rId63" Type="http://schemas.openxmlformats.org/officeDocument/2006/relationships/slide" Target="slides/slide25.xml"/><Relationship Id="rId68" Type="http://schemas.openxmlformats.org/officeDocument/2006/relationships/slide" Target="slides/slide30.xml"/><Relationship Id="rId84" Type="http://schemas.openxmlformats.org/officeDocument/2006/relationships/viewProps" Target="viewProps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53" Type="http://schemas.openxmlformats.org/officeDocument/2006/relationships/slide" Target="slides/slide15.xml"/><Relationship Id="rId58" Type="http://schemas.openxmlformats.org/officeDocument/2006/relationships/slide" Target="slides/slide20.xml"/><Relationship Id="rId74" Type="http://schemas.openxmlformats.org/officeDocument/2006/relationships/slide" Target="slides/slide36.xml"/><Relationship Id="rId79" Type="http://schemas.openxmlformats.org/officeDocument/2006/relationships/slide" Target="slides/slide41.xml"/><Relationship Id="rId5" Type="http://schemas.openxmlformats.org/officeDocument/2006/relationships/slideMaster" Target="slideMasters/slideMaster5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" Target="slides/slide5.xml"/><Relationship Id="rId48" Type="http://schemas.openxmlformats.org/officeDocument/2006/relationships/slide" Target="slides/slide10.xml"/><Relationship Id="rId56" Type="http://schemas.openxmlformats.org/officeDocument/2006/relationships/slide" Target="slides/slide18.xml"/><Relationship Id="rId64" Type="http://schemas.openxmlformats.org/officeDocument/2006/relationships/slide" Target="slides/slide26.xml"/><Relationship Id="rId69" Type="http://schemas.openxmlformats.org/officeDocument/2006/relationships/slide" Target="slides/slide31.xml"/><Relationship Id="rId77" Type="http://schemas.openxmlformats.org/officeDocument/2006/relationships/slide" Target="slides/slide39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13.xml"/><Relationship Id="rId72" Type="http://schemas.openxmlformats.org/officeDocument/2006/relationships/slide" Target="slides/slide34.xml"/><Relationship Id="rId80" Type="http://schemas.openxmlformats.org/officeDocument/2006/relationships/slide" Target="slides/slide42.xml"/><Relationship Id="rId85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" Target="slides/slide8.xml"/><Relationship Id="rId59" Type="http://schemas.openxmlformats.org/officeDocument/2006/relationships/slide" Target="slides/slide21.xml"/><Relationship Id="rId67" Type="http://schemas.openxmlformats.org/officeDocument/2006/relationships/slide" Target="slides/slide29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3.xml"/><Relationship Id="rId54" Type="http://schemas.openxmlformats.org/officeDocument/2006/relationships/slide" Target="slides/slide16.xml"/><Relationship Id="rId62" Type="http://schemas.openxmlformats.org/officeDocument/2006/relationships/slide" Target="slides/slide24.xml"/><Relationship Id="rId70" Type="http://schemas.openxmlformats.org/officeDocument/2006/relationships/slide" Target="slides/slide32.xml"/><Relationship Id="rId75" Type="http://schemas.openxmlformats.org/officeDocument/2006/relationships/slide" Target="slides/slide37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" Target="slides/slide11.xml"/><Relationship Id="rId57" Type="http://schemas.openxmlformats.org/officeDocument/2006/relationships/slide" Target="slides/slide19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6.xml"/><Relationship Id="rId52" Type="http://schemas.openxmlformats.org/officeDocument/2006/relationships/slide" Target="slides/slide14.xml"/><Relationship Id="rId60" Type="http://schemas.openxmlformats.org/officeDocument/2006/relationships/slide" Target="slides/slide22.xml"/><Relationship Id="rId65" Type="http://schemas.openxmlformats.org/officeDocument/2006/relationships/slide" Target="slides/slide27.xml"/><Relationship Id="rId73" Type="http://schemas.openxmlformats.org/officeDocument/2006/relationships/slide" Target="slides/slide35.xml"/><Relationship Id="rId78" Type="http://schemas.openxmlformats.org/officeDocument/2006/relationships/slide" Target="slides/slide40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1.xml"/><Relationship Id="rId34" Type="http://schemas.openxmlformats.org/officeDocument/2006/relationships/slideMaster" Target="slideMasters/slideMaster34.xml"/><Relationship Id="rId50" Type="http://schemas.openxmlformats.org/officeDocument/2006/relationships/slide" Target="slides/slide12.xml"/><Relationship Id="rId55" Type="http://schemas.openxmlformats.org/officeDocument/2006/relationships/slide" Target="slides/slide17.xml"/><Relationship Id="rId76" Type="http://schemas.openxmlformats.org/officeDocument/2006/relationships/slide" Target="slides/slide38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33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" Target="slides/slide2.xml"/><Relationship Id="rId45" Type="http://schemas.openxmlformats.org/officeDocument/2006/relationships/slide" Target="slides/slide7.xml"/><Relationship Id="rId66" Type="http://schemas.openxmlformats.org/officeDocument/2006/relationships/slide" Target="slides/slide28.xml"/><Relationship Id="rId61" Type="http://schemas.openxmlformats.org/officeDocument/2006/relationships/slide" Target="slides/slide23.xml"/><Relationship Id="rId8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B9219-4A66-4B41-AFAD-B4DCC55121D3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99D96-90C2-44B4-8DCF-3216EB4C36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96F5A-DA36-4202-8F3F-DA89D0431918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BABC4-D3F8-4FEC-A081-17F891AA9F9F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9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6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8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1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3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6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7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7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8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9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9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0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0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1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1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2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3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3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4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4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5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6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2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8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  <a:t>21/10/2025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3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6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4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52.xml"/><Relationship Id="rId9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6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60.xml"/><Relationship Id="rId9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69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68.xml"/><Relationship Id="rId9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7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76.xml"/><Relationship Id="rId9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8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84.xml"/><Relationship Id="rId9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9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92.xml"/><Relationship Id="rId9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0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00.xml"/><Relationship Id="rId9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09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08.xml"/><Relationship Id="rId9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1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16.xml"/><Relationship Id="rId9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2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4.xml"/><Relationship Id="rId9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31.xml"/><Relationship Id="rId7" Type="http://schemas.openxmlformats.org/officeDocument/2006/relationships/slideLayout" Target="../slideLayouts/slideLayout135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4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3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32.xml"/><Relationship Id="rId9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143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42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4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40.xml"/><Relationship Id="rId9" Type="http://schemas.openxmlformats.org/officeDocument/2006/relationships/theme" Target="../theme/theme18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49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48.xml"/><Relationship Id="rId9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55.xml"/><Relationship Id="rId7" Type="http://schemas.openxmlformats.org/officeDocument/2006/relationships/slideLayout" Target="../slideLayouts/slideLayout159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53.xml"/><Relationship Id="rId6" Type="http://schemas.openxmlformats.org/officeDocument/2006/relationships/slideLayout" Target="../slideLayouts/slideLayout15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5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6.xml"/><Relationship Id="rId9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16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62.xml"/><Relationship Id="rId1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6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64.xml"/><Relationship Id="rId9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5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7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72.xml"/><Relationship Id="rId9" Type="http://schemas.openxmlformats.org/officeDocument/2006/relationships/theme" Target="../theme/theme22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78.xml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8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80.xml"/><Relationship Id="rId9" Type="http://schemas.openxmlformats.org/officeDocument/2006/relationships/theme" Target="../theme/theme23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87.xml"/><Relationship Id="rId7" Type="http://schemas.openxmlformats.org/officeDocument/2006/relationships/slideLayout" Target="../slideLayouts/slideLayout191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90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89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88.xml"/><Relationship Id="rId9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9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94.xml"/><Relationship Id="rId1" Type="http://schemas.openxmlformats.org/officeDocument/2006/relationships/slideLayout" Target="../slideLayouts/slideLayout193.xml"/><Relationship Id="rId6" Type="http://schemas.openxmlformats.org/officeDocument/2006/relationships/slideLayout" Target="../slideLayouts/slideLayout19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9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96.xml"/><Relationship Id="rId9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03.xml"/><Relationship Id="rId7" Type="http://schemas.openxmlformats.org/officeDocument/2006/relationships/slideLayout" Target="../slideLayouts/slideLayout20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02.xml"/><Relationship Id="rId1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0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04.xml"/><Relationship Id="rId9" Type="http://schemas.openxmlformats.org/officeDocument/2006/relationships/theme" Target="../theme/theme26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11.xml"/><Relationship Id="rId7" Type="http://schemas.openxmlformats.org/officeDocument/2006/relationships/slideLayout" Target="../slideLayouts/slideLayout215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10.xml"/><Relationship Id="rId1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4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12.xml"/><Relationship Id="rId9" Type="http://schemas.openxmlformats.org/officeDocument/2006/relationships/theme" Target="../theme/theme27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19.xml"/><Relationship Id="rId7" Type="http://schemas.openxmlformats.org/officeDocument/2006/relationships/slideLayout" Target="../slideLayouts/slideLayout223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18.xml"/><Relationship Id="rId1" Type="http://schemas.openxmlformats.org/officeDocument/2006/relationships/slideLayout" Target="../slideLayouts/slideLayout217.xml"/><Relationship Id="rId6" Type="http://schemas.openxmlformats.org/officeDocument/2006/relationships/slideLayout" Target="../slideLayouts/slideLayout222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2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20.xml"/><Relationship Id="rId9" Type="http://schemas.openxmlformats.org/officeDocument/2006/relationships/theme" Target="../theme/theme28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231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26.xml"/><Relationship Id="rId1" Type="http://schemas.openxmlformats.org/officeDocument/2006/relationships/slideLayout" Target="../slideLayouts/slideLayout225.xml"/><Relationship Id="rId6" Type="http://schemas.openxmlformats.org/officeDocument/2006/relationships/slideLayout" Target="../slideLayouts/slideLayout230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29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28.xml"/><Relationship Id="rId9" Type="http://schemas.openxmlformats.org/officeDocument/2006/relationships/theme" Target="../theme/theme29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35.xml"/><Relationship Id="rId7" Type="http://schemas.openxmlformats.org/officeDocument/2006/relationships/slideLayout" Target="../slideLayouts/slideLayout239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34.xml"/><Relationship Id="rId1" Type="http://schemas.openxmlformats.org/officeDocument/2006/relationships/slideLayout" Target="../slideLayouts/slideLayout233.xml"/><Relationship Id="rId6" Type="http://schemas.openxmlformats.org/officeDocument/2006/relationships/slideLayout" Target="../slideLayouts/slideLayout23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3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36.xml"/><Relationship Id="rId9" Type="http://schemas.openxmlformats.org/officeDocument/2006/relationships/theme" Target="../theme/theme30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43.xml"/><Relationship Id="rId7" Type="http://schemas.openxmlformats.org/officeDocument/2006/relationships/slideLayout" Target="../slideLayouts/slideLayout24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41.xml"/><Relationship Id="rId6" Type="http://schemas.openxmlformats.org/officeDocument/2006/relationships/slideLayout" Target="../slideLayouts/slideLayout24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4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44.xml"/><Relationship Id="rId9" Type="http://schemas.openxmlformats.org/officeDocument/2006/relationships/theme" Target="../theme/theme31.xml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51.xml"/><Relationship Id="rId7" Type="http://schemas.openxmlformats.org/officeDocument/2006/relationships/slideLayout" Target="../slideLayouts/slideLayout255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50.xml"/><Relationship Id="rId1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54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5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52.xml"/><Relationship Id="rId9" Type="http://schemas.openxmlformats.org/officeDocument/2006/relationships/theme" Target="../theme/theme32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63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58.xml"/><Relationship Id="rId1" Type="http://schemas.openxmlformats.org/officeDocument/2006/relationships/slideLayout" Target="../slideLayouts/slideLayout257.xml"/><Relationship Id="rId6" Type="http://schemas.openxmlformats.org/officeDocument/2006/relationships/slideLayout" Target="../slideLayouts/slideLayout262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6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60.xml"/><Relationship Id="rId9" Type="http://schemas.openxmlformats.org/officeDocument/2006/relationships/theme" Target="../theme/theme33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67.xml"/><Relationship Id="rId7" Type="http://schemas.openxmlformats.org/officeDocument/2006/relationships/slideLayout" Target="../slideLayouts/slideLayout271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66.xml"/><Relationship Id="rId1" Type="http://schemas.openxmlformats.org/officeDocument/2006/relationships/slideLayout" Target="../slideLayouts/slideLayout265.xml"/><Relationship Id="rId6" Type="http://schemas.openxmlformats.org/officeDocument/2006/relationships/slideLayout" Target="../slideLayouts/slideLayout270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69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68.xml"/><Relationship Id="rId9" Type="http://schemas.openxmlformats.org/officeDocument/2006/relationships/theme" Target="../theme/theme34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75.xml"/><Relationship Id="rId7" Type="http://schemas.openxmlformats.org/officeDocument/2006/relationships/slideLayout" Target="../slideLayouts/slideLayout279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73.xml"/><Relationship Id="rId6" Type="http://schemas.openxmlformats.org/officeDocument/2006/relationships/slideLayout" Target="../slideLayouts/slideLayout27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7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76.xml"/><Relationship Id="rId9" Type="http://schemas.openxmlformats.org/officeDocument/2006/relationships/theme" Target="../theme/theme35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82.xml"/><Relationship Id="rId1" Type="http://schemas.openxmlformats.org/officeDocument/2006/relationships/slideLayout" Target="../slideLayouts/slideLayout281.xml"/><Relationship Id="rId6" Type="http://schemas.openxmlformats.org/officeDocument/2006/relationships/slideLayout" Target="../slideLayouts/slideLayout28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8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84.xml"/><Relationship Id="rId9" Type="http://schemas.openxmlformats.org/officeDocument/2006/relationships/theme" Target="../theme/theme36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91.xml"/><Relationship Id="rId7" Type="http://schemas.openxmlformats.org/officeDocument/2006/relationships/slideLayout" Target="../slideLayouts/slideLayout295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90.xml"/><Relationship Id="rId1" Type="http://schemas.openxmlformats.org/officeDocument/2006/relationships/slideLayout" Target="../slideLayouts/slideLayout289.xml"/><Relationship Id="rId6" Type="http://schemas.openxmlformats.org/officeDocument/2006/relationships/slideLayout" Target="../slideLayouts/slideLayout294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29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92.xml"/><Relationship Id="rId9" Type="http://schemas.openxmlformats.org/officeDocument/2006/relationships/theme" Target="../theme/theme37.xml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303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98.xml"/><Relationship Id="rId1" Type="http://schemas.openxmlformats.org/officeDocument/2006/relationships/slideLayout" Target="../slideLayouts/slideLayout297.xml"/><Relationship Id="rId6" Type="http://schemas.openxmlformats.org/officeDocument/2006/relationships/slideLayout" Target="../slideLayouts/slideLayout302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301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00.xml"/><Relationship Id="rId9" Type="http://schemas.openxmlformats.org/officeDocument/2006/relationships/theme" Target="../theme/theme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84" r:id="rId3"/>
    <p:sldLayoutId id="2147483985" r:id="rId4"/>
    <p:sldLayoutId id="2147483986" r:id="rId5"/>
    <p:sldLayoutId id="2147483987" r:id="rId6"/>
    <p:sldLayoutId id="2147483988" r:id="rId7"/>
    <p:sldLayoutId id="2147483989" r:id="rId8"/>
  </p:sldLayoutIdLst>
  <p:transition spd="slow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3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1234440" y="1269365"/>
            <a:ext cx="6535420" cy="765175"/>
          </a:xfrm>
        </p:spPr>
        <p:txBody>
          <a:bodyPr/>
          <a:lstStyle/>
          <a:p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CDK2AAB4</a:t>
            </a:r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- </a:t>
            </a:r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truktur Data</a:t>
            </a:r>
            <a:br>
              <a:rPr lang="en-US" dirty="0">
                <a:latin typeface="Arial" panose="02080604020202020204" pitchFamily="34" charset="0"/>
                <a:cs typeface="Arial" panose="02080604020202020204" pitchFamily="34" charset="0"/>
              </a:rPr>
            </a:br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</a:p>
        </p:txBody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2538" y="2284140"/>
            <a:ext cx="4481004" cy="3509449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2009775"/>
            <a:ext cx="8314055" cy="4057015"/>
          </a:xfrm>
        </p:spPr>
        <p:txBody>
          <a:bodyPr/>
          <a:lstStyle/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Konsep Dasar Stack</a:t>
            </a: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ADT dan Primitif Stack menggunakan </a:t>
            </a:r>
            <a:r>
              <a:rPr lang="en-US" altLang="en-US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Array</a:t>
            </a:r>
            <a:endParaRPr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3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Today Discussion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4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7" name="Content Placeholder 1"/>
          <p:cNvSpPr>
            <a:spLocks noGrp="1"/>
          </p:cNvSpPr>
          <p:nvPr/>
        </p:nvSpPr>
        <p:spPr>
          <a:xfrm>
            <a:off x="365760" y="2009775"/>
            <a:ext cx="8314055" cy="40570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Berisi sekumpulan elemen dimana penyisipan dan penghapus elemennya sesuai prinsip Last In First Out</a:t>
            </a: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8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0819" y="3230327"/>
            <a:ext cx="8195756" cy="2836799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7" name="Content Placeholder 1"/>
          <p:cNvSpPr>
            <a:spLocks noGrp="1"/>
          </p:cNvSpPr>
          <p:nvPr/>
        </p:nvSpPr>
        <p:spPr>
          <a:xfrm>
            <a:off x="365760" y="2009775"/>
            <a:ext cx="8314055" cy="40570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Berisi sekumpulan elemen dimana penyisipan dan penghapus elemennya sesuai prinsip Last In First Out</a:t>
            </a: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2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5465" y="3230880"/>
            <a:ext cx="7966075" cy="3010535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6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Terminologi pada Stack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Content Placeholder 1"/>
          <p:cNvSpPr>
            <a:spLocks noGrp="1"/>
          </p:cNvSpPr>
          <p:nvPr/>
        </p:nvSpPr>
        <p:spPr>
          <a:xfrm>
            <a:off x="371475" y="1978025"/>
            <a:ext cx="8314055" cy="9848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Stack, </a:t>
            </a:r>
            <a:r>
              <a:rPr lang="en-US" alt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struktur data dimana penambahan dan penghapusan elemen dilakukan di posisi Top</a:t>
            </a: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Top</a:t>
            </a:r>
            <a:r>
              <a:rPr lang="en-US" alt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 ujung berupa tempat dilakukan penambahan dan  penghapusan. Untuk mengakses elemen paling atas digunakan perintah </a:t>
            </a:r>
            <a:r>
              <a:rPr lang="en-US" alt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S.Top</a:t>
            </a: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 b="1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S.info[S.Top]</a:t>
            </a:r>
            <a:r>
              <a:rPr lang="en-US" altLang="en-US" sz="2000" spc="-1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 mengakses info pada elemen teratas</a:t>
            </a:r>
          </a:p>
        </p:txBody>
      </p:sp>
    </p:spTree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125" y="1978660"/>
            <a:ext cx="8314055" cy="4264660"/>
          </a:xfrm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constant IDXMAX : integer = 4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Infotype : character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Index : 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integer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Stack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: &lt;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info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: 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array [0..IDXMAX-1] of Infotype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 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Top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: Address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S : Stack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7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ADT Stack menggunakan Array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5" y="4933950"/>
            <a:ext cx="1143000" cy="12141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object 7"/>
          <p:cNvSpPr txBox="1"/>
          <p:nvPr/>
        </p:nvSpPr>
        <p:spPr>
          <a:xfrm>
            <a:off x="6231255" y="2652522"/>
            <a:ext cx="145097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S1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40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0" name="object 8"/>
          <p:cNvSpPr txBox="1"/>
          <p:nvPr/>
        </p:nvSpPr>
        <p:spPr>
          <a:xfrm>
            <a:off x="6489191" y="5413120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-1</a:t>
            </a:r>
          </a:p>
        </p:txBody>
      </p:sp>
      <p:sp>
        <p:nvSpPr>
          <p:cNvPr id="21" name="object 9"/>
          <p:cNvSpPr txBox="1"/>
          <p:nvPr/>
        </p:nvSpPr>
        <p:spPr>
          <a:xfrm>
            <a:off x="6511036" y="5029326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22" name="object 10"/>
          <p:cNvSpPr/>
          <p:nvPr/>
        </p:nvSpPr>
        <p:spPr>
          <a:xfrm>
            <a:off x="6199631" y="3043301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23" name="object 11"/>
          <p:cNvGraphicFramePr>
            <a:graphicFrameLocks noGrp="1"/>
          </p:cNvGraphicFramePr>
          <p:nvPr/>
        </p:nvGraphicFramePr>
        <p:xfrm>
          <a:off x="7690866" y="3745102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Andika" panose="02000000000000000000" charset="0"/>
                        <a:cs typeface="Andika" panose="02000000000000000000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Andika" panose="02000000000000000000" charset="0"/>
                        <a:cs typeface="Andika" panose="02000000000000000000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Andika" panose="02000000000000000000" charset="0"/>
                        <a:cs typeface="Andika" panose="02000000000000000000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Andika" panose="02000000000000000000" charset="0"/>
                        <a:cs typeface="Andika" panose="02000000000000000000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bject 12"/>
          <p:cNvSpPr txBox="1"/>
          <p:nvPr/>
        </p:nvSpPr>
        <p:spPr>
          <a:xfrm>
            <a:off x="7371588" y="4972938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25" name="object 13"/>
          <p:cNvSpPr txBox="1"/>
          <p:nvPr/>
        </p:nvSpPr>
        <p:spPr>
          <a:xfrm>
            <a:off x="7371588" y="3864737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26" name="object 14"/>
          <p:cNvSpPr txBox="1"/>
          <p:nvPr/>
        </p:nvSpPr>
        <p:spPr>
          <a:xfrm>
            <a:off x="7992364" y="3303904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</p:spTree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lnSpc>
                <a:spcPct val="100000"/>
              </a:lnSpc>
            </a:pPr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push()</a:t>
            </a:r>
          </a:p>
          <a:p>
            <a:pPr lvl="1" latinLnBrk="0">
              <a:lnSpc>
                <a:spcPct val="100000"/>
              </a:lnSpc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Menambahkan elemen baru di puncak Stack</a:t>
            </a:r>
          </a:p>
          <a:p>
            <a:pPr lvl="1" latinLnBrk="0">
              <a:lnSpc>
                <a:spcPct val="100000"/>
              </a:lnSpc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Harus dilakukan pengecekan apakah Stack dalam kondisi penuh atau belum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atinLnBrk="0">
              <a:lnSpc>
                <a:spcPct val="100000"/>
              </a:lnSpc>
            </a:pPr>
            <a:r>
              <a:rPr lang="en-US" alt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pop</a:t>
            </a:r>
            <a:endParaRPr lang="en-US" b="1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 latinLnBrk="0">
              <a:lnSpc>
                <a:spcPct val="100000"/>
              </a:lnSpc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Mengeluarkan elemen dari Stack</a:t>
            </a:r>
          </a:p>
          <a:p>
            <a:pPr lvl="1" latinLnBrk="0">
              <a:lnSpc>
                <a:spcPct val="100000"/>
              </a:lnSpc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Harus dilakukan pengecekan apakah Stack dalam kondisi kosong atau tidak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lvl="1" latinLnBrk="0">
              <a:lnSpc>
                <a:spcPct val="100000"/>
              </a:lnSpc>
            </a:pP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8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Primitif pada Stack berbasis Array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265" y="1336675"/>
            <a:ext cx="1110615" cy="1179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isEmpty()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Memeriksa apakah Stack kosong</a:t>
            </a:r>
            <a:endParaRPr lang="en-US" altLang="en-US" b="1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isFull()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Memeriksa apakah Stack dalam kondisi penuh</a:t>
            </a:r>
            <a:endParaRPr lang="en-US" altLang="en-US" b="1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b="1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peek()</a:t>
            </a:r>
          </a:p>
          <a:p>
            <a:pPr lvl="1">
              <a:lnSpc>
                <a:spcPct val="80000"/>
              </a:lnSpc>
            </a:pPr>
            <a:r>
              <a:rPr 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Menampilkan elemen teratas tanpa melakukan pop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9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Primitif tambahan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265" y="1336675"/>
            <a:ext cx="1110615" cy="1179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14655" y="1978025"/>
            <a:ext cx="5003800" cy="142494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CreateStack(in/out : S : Stack)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</a:rPr>
              <a:t>kamus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</a:rPr>
              <a:t>algoritma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</a:rPr>
              <a:t>	S.Top 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 -1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>
                <a:latin typeface="Arial" panose="02080604020202020204" pitchFamily="34" charset="0"/>
                <a:cs typeface="Arial" panose="02080604020202020204" pitchFamily="34" charset="0"/>
              </a:rPr>
              <a:t>Prosedur / Fungsi pembuatan Stack berbasis Array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365367" y="2317121"/>
            <a:ext cx="2668905" cy="53276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21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2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2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6713981" y="529818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-1</a:t>
            </a:r>
          </a:p>
        </p:txBody>
      </p:sp>
      <p:sp>
        <p:nvSpPr>
          <p:cNvPr id="11" name="object 6"/>
          <p:cNvSpPr txBox="1"/>
          <p:nvPr/>
        </p:nvSpPr>
        <p:spPr>
          <a:xfrm>
            <a:off x="6735826" y="491439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2" name="object 7"/>
          <p:cNvSpPr/>
          <p:nvPr/>
        </p:nvSpPr>
        <p:spPr>
          <a:xfrm>
            <a:off x="6424421" y="292836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ndika" panose="02000000000000000000" charset="0"/>
              <a:cs typeface="Andika" panose="02000000000000000000" charset="0"/>
            </a:endParaRPr>
          </a:p>
        </p:txBody>
      </p:sp>
      <p:graphicFrame>
        <p:nvGraphicFramePr>
          <p:cNvPr id="22" name="object 8"/>
          <p:cNvGraphicFramePr>
            <a:graphicFrameLocks noGrp="1"/>
          </p:cNvGraphicFramePr>
          <p:nvPr/>
        </p:nvGraphicFramePr>
        <p:xfrm>
          <a:off x="7915656" y="363016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Andika" panose="02000000000000000000" charset="0"/>
                        <a:cs typeface="Andika" panose="02000000000000000000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Andika" panose="02000000000000000000" charset="0"/>
                        <a:cs typeface="Andika" panose="02000000000000000000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Andika" panose="02000000000000000000" charset="0"/>
                        <a:cs typeface="Andika" panose="02000000000000000000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Andika" panose="02000000000000000000" charset="0"/>
                        <a:cs typeface="Andika" panose="02000000000000000000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object 9"/>
          <p:cNvSpPr txBox="1"/>
          <p:nvPr/>
        </p:nvSpPr>
        <p:spPr>
          <a:xfrm>
            <a:off x="7596378" y="4858003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24" name="object 10"/>
          <p:cNvSpPr txBox="1"/>
          <p:nvPr/>
        </p:nvSpPr>
        <p:spPr>
          <a:xfrm>
            <a:off x="7596378" y="3749802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25" name="object 11"/>
          <p:cNvSpPr txBox="1"/>
          <p:nvPr/>
        </p:nvSpPr>
        <p:spPr>
          <a:xfrm>
            <a:off x="8217154" y="318896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90" y="4721860"/>
            <a:ext cx="1069975" cy="113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2009775"/>
            <a:ext cx="8326755" cy="927735"/>
          </a:xfrm>
        </p:spPr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Memeriksa apakah suatu Stack dalam keadaan kosong</a:t>
            </a:r>
          </a:p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Mengembalikan True jika suatu Stack dalam keadaan kosong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11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IsEmpty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9" name="Content Placeholder 1"/>
          <p:cNvSpPr>
            <a:spLocks noGrp="1"/>
          </p:cNvSpPr>
          <p:nvPr/>
        </p:nvSpPr>
        <p:spPr>
          <a:xfrm>
            <a:off x="408940" y="2937285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function IsEmtpy(S : Stack)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→ Boolean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if S.Top = -1 then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→ True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else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→ False</a:t>
            </a:r>
          </a:p>
          <a:p>
            <a:pPr marL="0" indent="0" latinLnBrk="0">
              <a:spcBef>
                <a:spcPts val="600"/>
              </a:spcBef>
              <a:buNone/>
            </a:pP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sp>
        <p:nvSpPr>
          <p:cNvPr id="7" name="object 6"/>
          <p:cNvSpPr txBox="1"/>
          <p:nvPr/>
        </p:nvSpPr>
        <p:spPr>
          <a:xfrm>
            <a:off x="6287770" y="2827782"/>
            <a:ext cx="145097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S1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40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6545706" y="5588380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-1</a:t>
            </a:r>
          </a:p>
        </p:txBody>
      </p:sp>
      <p:sp>
        <p:nvSpPr>
          <p:cNvPr id="10" name="object 8"/>
          <p:cNvSpPr txBox="1"/>
          <p:nvPr/>
        </p:nvSpPr>
        <p:spPr>
          <a:xfrm>
            <a:off x="6567551" y="5204586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4" name="object 9"/>
          <p:cNvSpPr/>
          <p:nvPr/>
        </p:nvSpPr>
        <p:spPr>
          <a:xfrm>
            <a:off x="6256146" y="3218561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20" name="object 10"/>
          <p:cNvGraphicFramePr>
            <a:graphicFrameLocks noGrp="1"/>
          </p:cNvGraphicFramePr>
          <p:nvPr/>
        </p:nvGraphicFramePr>
        <p:xfrm>
          <a:off x="7747381" y="3920362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bject 11"/>
          <p:cNvSpPr txBox="1"/>
          <p:nvPr/>
        </p:nvSpPr>
        <p:spPr>
          <a:xfrm>
            <a:off x="7428103" y="5148198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22" name="object 12"/>
          <p:cNvSpPr txBox="1"/>
          <p:nvPr/>
        </p:nvSpPr>
        <p:spPr>
          <a:xfrm>
            <a:off x="7428103" y="4039997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23" name="object 13"/>
          <p:cNvSpPr txBox="1"/>
          <p:nvPr/>
        </p:nvSpPr>
        <p:spPr>
          <a:xfrm>
            <a:off x="8048879" y="3479164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40" y="5012055"/>
            <a:ext cx="1069975" cy="113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2009775"/>
            <a:ext cx="8326755" cy="927735"/>
          </a:xfrm>
        </p:spPr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Memeriksa apakah suatu Stack dalam keadaan kosong</a:t>
            </a:r>
          </a:p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Mengembalikan True jika suatu Stack dalam keadaan kosong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12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IsEmpty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9" name="Content Placeholder 1"/>
          <p:cNvSpPr>
            <a:spLocks noGrp="1"/>
          </p:cNvSpPr>
          <p:nvPr/>
        </p:nvSpPr>
        <p:spPr>
          <a:xfrm>
            <a:off x="408940" y="2937285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function IsEmtpy(S : Stack)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→ Boolean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if S.Top = -1 then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→ True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else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→ False</a:t>
            </a:r>
          </a:p>
          <a:p>
            <a:pPr marL="0" indent="0" latinLnBrk="0">
              <a:spcBef>
                <a:spcPts val="600"/>
              </a:spcBef>
              <a:buNone/>
            </a:pP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sp>
        <p:nvSpPr>
          <p:cNvPr id="11" name="object 6"/>
          <p:cNvSpPr txBox="1"/>
          <p:nvPr/>
        </p:nvSpPr>
        <p:spPr>
          <a:xfrm>
            <a:off x="6286500" y="2806827"/>
            <a:ext cx="145097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S2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40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6544436" y="556742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13" name="object 8"/>
          <p:cNvSpPr txBox="1"/>
          <p:nvPr/>
        </p:nvSpPr>
        <p:spPr>
          <a:xfrm>
            <a:off x="6566281" y="518363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5" name="object 9"/>
          <p:cNvSpPr/>
          <p:nvPr/>
        </p:nvSpPr>
        <p:spPr>
          <a:xfrm>
            <a:off x="6254876" y="319760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6" name="object 10"/>
          <p:cNvGraphicFramePr>
            <a:graphicFrameLocks noGrp="1"/>
          </p:cNvGraphicFramePr>
          <p:nvPr/>
        </p:nvGraphicFramePr>
        <p:xfrm>
          <a:off x="7746111" y="389940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</a:t>
                      </a:r>
                    </a:p>
                  </a:txBody>
                  <a:tcPr marL="0" marR="0" marT="946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 marL="0" marR="0" marT="933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U</a:t>
                      </a:r>
                    </a:p>
                  </a:txBody>
                  <a:tcPr marL="0" marR="0" marT="920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11"/>
          <p:cNvSpPr txBox="1"/>
          <p:nvPr/>
        </p:nvSpPr>
        <p:spPr>
          <a:xfrm>
            <a:off x="7426833" y="5127243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18" name="object 12"/>
          <p:cNvSpPr txBox="1"/>
          <p:nvPr/>
        </p:nvSpPr>
        <p:spPr>
          <a:xfrm>
            <a:off x="7426833" y="4019042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19" name="object 13"/>
          <p:cNvSpPr txBox="1"/>
          <p:nvPr/>
        </p:nvSpPr>
        <p:spPr>
          <a:xfrm>
            <a:off x="8047609" y="345820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5" y="4972050"/>
            <a:ext cx="1069975" cy="113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2009775"/>
            <a:ext cx="8326755" cy="927735"/>
          </a:xfrm>
        </p:spPr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Memeriksa apakah suatu Stack dalam keadaan penuh</a:t>
            </a:r>
          </a:p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Mengembalikan True jika suatu Stack dalam keadaan penuh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13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IsFull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9" name="Content Placeholder 1"/>
          <p:cNvSpPr>
            <a:spLocks noGrp="1"/>
          </p:cNvSpPr>
          <p:nvPr/>
        </p:nvSpPr>
        <p:spPr>
          <a:xfrm>
            <a:off x="408940" y="2937285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function IsFull(S : Stack)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→ Boolean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if S.Top = IDXMAX - 1 then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→ True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else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→ False</a:t>
            </a:r>
          </a:p>
          <a:p>
            <a:pPr marL="0" indent="0" latinLnBrk="0">
              <a:spcBef>
                <a:spcPts val="600"/>
              </a:spcBef>
              <a:buNone/>
            </a:pP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sp>
        <p:nvSpPr>
          <p:cNvPr id="7" name="object 6"/>
          <p:cNvSpPr txBox="1"/>
          <p:nvPr/>
        </p:nvSpPr>
        <p:spPr>
          <a:xfrm>
            <a:off x="6286500" y="2799207"/>
            <a:ext cx="145097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S3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40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6544436" y="555980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</a:p>
        </p:txBody>
      </p:sp>
      <p:sp>
        <p:nvSpPr>
          <p:cNvPr id="10" name="object 8"/>
          <p:cNvSpPr txBox="1"/>
          <p:nvPr/>
        </p:nvSpPr>
        <p:spPr>
          <a:xfrm>
            <a:off x="6566281" y="517601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4" name="object 9"/>
          <p:cNvSpPr/>
          <p:nvPr/>
        </p:nvSpPr>
        <p:spPr>
          <a:xfrm>
            <a:off x="6254876" y="318998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20" name="object 10"/>
          <p:cNvGraphicFramePr>
            <a:graphicFrameLocks noGrp="1"/>
          </p:cNvGraphicFramePr>
          <p:nvPr/>
        </p:nvGraphicFramePr>
        <p:xfrm>
          <a:off x="7746111" y="389178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T</a:t>
                      </a:r>
                    </a:p>
                  </a:txBody>
                  <a:tcPr marL="0" marR="0" marT="927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E</a:t>
                      </a:r>
                    </a:p>
                  </a:txBody>
                  <a:tcPr marL="0" marR="0" marT="946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 marL="0" marR="0" marT="933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U</a:t>
                      </a:r>
                    </a:p>
                  </a:txBody>
                  <a:tcPr marL="0" marR="0" marT="920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bject 11"/>
          <p:cNvSpPr txBox="1"/>
          <p:nvPr/>
        </p:nvSpPr>
        <p:spPr>
          <a:xfrm>
            <a:off x="7426833" y="5119623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22" name="object 12"/>
          <p:cNvSpPr txBox="1"/>
          <p:nvPr/>
        </p:nvSpPr>
        <p:spPr>
          <a:xfrm>
            <a:off x="7426833" y="4011422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23" name="object 13"/>
          <p:cNvSpPr txBox="1"/>
          <p:nvPr/>
        </p:nvSpPr>
        <p:spPr>
          <a:xfrm>
            <a:off x="8047609" y="345058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40" y="4997450"/>
            <a:ext cx="1069975" cy="113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2009775"/>
            <a:ext cx="8326755" cy="927735"/>
          </a:xfrm>
        </p:spPr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Memeriksa apakah suatu Stack dalam keadaan penuh</a:t>
            </a:r>
          </a:p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Mengembalikan True jika suatu Stack dalam keadaan penuh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74320" latinLnBrk="0">
              <a:spcBef>
                <a:spcPts val="600"/>
              </a:spcBef>
            </a:pP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14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IsFull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9" name="Content Placeholder 1"/>
          <p:cNvSpPr>
            <a:spLocks noGrp="1"/>
          </p:cNvSpPr>
          <p:nvPr/>
        </p:nvSpPr>
        <p:spPr>
          <a:xfrm>
            <a:off x="408940" y="2937285"/>
            <a:ext cx="8326438" cy="402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function IsFull(S : Stack) 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→ Boolean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	if S.Top = IDXMAX - 1 then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→ True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else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→ False</a:t>
            </a:r>
          </a:p>
          <a:p>
            <a:pPr marL="0" indent="0" latinLnBrk="0">
              <a:spcBef>
                <a:spcPts val="600"/>
              </a:spcBef>
              <a:buNone/>
            </a:pP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sp>
        <p:nvSpPr>
          <p:cNvPr id="24" name="object 6"/>
          <p:cNvSpPr txBox="1"/>
          <p:nvPr/>
        </p:nvSpPr>
        <p:spPr>
          <a:xfrm>
            <a:off x="6287770" y="2793492"/>
            <a:ext cx="145097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S4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40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5" name="object 7"/>
          <p:cNvSpPr txBox="1"/>
          <p:nvPr/>
        </p:nvSpPr>
        <p:spPr>
          <a:xfrm>
            <a:off x="6545706" y="5554090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</a:p>
        </p:txBody>
      </p:sp>
      <p:sp>
        <p:nvSpPr>
          <p:cNvPr id="26" name="object 8"/>
          <p:cNvSpPr txBox="1"/>
          <p:nvPr/>
        </p:nvSpPr>
        <p:spPr>
          <a:xfrm>
            <a:off x="6567551" y="5170296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27" name="object 9"/>
          <p:cNvSpPr/>
          <p:nvPr/>
        </p:nvSpPr>
        <p:spPr>
          <a:xfrm>
            <a:off x="6256146" y="3184271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28" name="object 10"/>
          <p:cNvGraphicFramePr>
            <a:graphicFrameLocks noGrp="1"/>
          </p:cNvGraphicFramePr>
          <p:nvPr/>
        </p:nvGraphicFramePr>
        <p:xfrm>
          <a:off x="7747381" y="3886072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</a:p>
                  </a:txBody>
                  <a:tcPr marL="0" marR="0" marT="933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U</a:t>
                      </a:r>
                    </a:p>
                  </a:txBody>
                  <a:tcPr marL="0" marR="0" marT="920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object 11"/>
          <p:cNvSpPr txBox="1"/>
          <p:nvPr/>
        </p:nvSpPr>
        <p:spPr>
          <a:xfrm>
            <a:off x="7428103" y="5113908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30" name="object 12"/>
          <p:cNvSpPr txBox="1"/>
          <p:nvPr/>
        </p:nvSpPr>
        <p:spPr>
          <a:xfrm>
            <a:off x="7428103" y="4005707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31" name="object 13"/>
          <p:cNvSpPr txBox="1"/>
          <p:nvPr/>
        </p:nvSpPr>
        <p:spPr>
          <a:xfrm>
            <a:off x="8048879" y="3444874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5" y="4977765"/>
            <a:ext cx="1069975" cy="113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Memasukkan elemen P kedalam Stack S</a:t>
            </a:r>
          </a:p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Elemen P menjadi elemen puncak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Push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65125" y="2795905"/>
            <a:ext cx="6404610" cy="2138045"/>
          </a:xfrm>
          <a:prstGeom prst="rect">
            <a:avLst/>
          </a:prstGeom>
          <a:ln>
            <a:noFill/>
          </a:ln>
        </p:spPr>
        <p:txBody>
          <a:bodyPr wrap="square" anchor="t">
            <a:spAutoFit/>
          </a:bodyPr>
          <a:lstStyle/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Push(in/out S : Stack; input P : Infotype)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if IsFull(S) then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Output(‘Stack penuh’)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else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S.Top =</a:t>
            </a:r>
            <a:r>
              <a:rPr b="1" spc="229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S.Top + 1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S.info[S.Top] =</a:t>
            </a:r>
            <a:r>
              <a:rPr b="1" spc="229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</a:t>
            </a:r>
          </a:p>
        </p:txBody>
      </p:sp>
      <p:sp>
        <p:nvSpPr>
          <p:cNvPr id="8" name="object 4"/>
          <p:cNvSpPr txBox="1"/>
          <p:nvPr/>
        </p:nvSpPr>
        <p:spPr>
          <a:xfrm>
            <a:off x="6286500" y="2956052"/>
            <a:ext cx="127063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9" name="object 5"/>
          <p:cNvSpPr txBox="1"/>
          <p:nvPr/>
        </p:nvSpPr>
        <p:spPr>
          <a:xfrm>
            <a:off x="6544436" y="5716650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</a:p>
        </p:txBody>
      </p:sp>
      <p:sp>
        <p:nvSpPr>
          <p:cNvPr id="30" name="object 6"/>
          <p:cNvSpPr txBox="1"/>
          <p:nvPr/>
        </p:nvSpPr>
        <p:spPr>
          <a:xfrm>
            <a:off x="6566281" y="5332856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31" name="object 7"/>
          <p:cNvSpPr/>
          <p:nvPr/>
        </p:nvSpPr>
        <p:spPr>
          <a:xfrm>
            <a:off x="6254876" y="3346831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32" name="object 8"/>
          <p:cNvGraphicFramePr>
            <a:graphicFrameLocks noGrp="1"/>
          </p:cNvGraphicFramePr>
          <p:nvPr/>
        </p:nvGraphicFramePr>
        <p:xfrm>
          <a:off x="7746111" y="4048632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K</a:t>
                      </a:r>
                    </a:p>
                  </a:txBody>
                  <a:tcPr marL="0" marR="0" marT="927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A</a:t>
                      </a:r>
                    </a:p>
                  </a:txBody>
                  <a:tcPr marL="0" marR="0" marT="946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M</a:t>
                      </a:r>
                    </a:p>
                  </a:txBody>
                  <a:tcPr marL="0" marR="0" marT="933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U</a:t>
                      </a:r>
                    </a:p>
                  </a:txBody>
                  <a:tcPr marL="0" marR="0" marT="920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object 9"/>
          <p:cNvSpPr txBox="1"/>
          <p:nvPr/>
        </p:nvSpPr>
        <p:spPr>
          <a:xfrm>
            <a:off x="7426833" y="5276468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34" name="object 10"/>
          <p:cNvSpPr txBox="1"/>
          <p:nvPr/>
        </p:nvSpPr>
        <p:spPr>
          <a:xfrm>
            <a:off x="7426833" y="4168267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35" name="object 11"/>
          <p:cNvSpPr txBox="1"/>
          <p:nvPr/>
        </p:nvSpPr>
        <p:spPr>
          <a:xfrm>
            <a:off x="8047609" y="3607434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sp>
        <p:nvSpPr>
          <p:cNvPr id="36" name="object 13"/>
          <p:cNvSpPr txBox="1"/>
          <p:nvPr/>
        </p:nvSpPr>
        <p:spPr>
          <a:xfrm>
            <a:off x="5218557" y="3961003"/>
            <a:ext cx="693420" cy="55626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sz="2400" b="1" dirty="0">
                <a:latin typeface="Arial" panose="02080604020202020204" pitchFamily="34" charset="0"/>
                <a:cs typeface="Arial" panose="02080604020202020204" pitchFamily="34" charset="0"/>
              </a:rPr>
              <a:t>C</a:t>
            </a:r>
          </a:p>
        </p:txBody>
      </p:sp>
      <p:sp>
        <p:nvSpPr>
          <p:cNvPr id="39" name="object 14"/>
          <p:cNvSpPr txBox="1"/>
          <p:nvPr/>
        </p:nvSpPr>
        <p:spPr>
          <a:xfrm>
            <a:off x="5429122" y="3576573"/>
            <a:ext cx="212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P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095" y="1327785"/>
            <a:ext cx="1369695" cy="140017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Memasukkan elemen P kedalam Stack S</a:t>
            </a:r>
          </a:p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Elemen P menjadi elemen puncak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16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Push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65125" y="2795905"/>
            <a:ext cx="6404610" cy="2138045"/>
          </a:xfrm>
          <a:prstGeom prst="rect">
            <a:avLst/>
          </a:prstGeom>
          <a:ln>
            <a:noFill/>
          </a:ln>
        </p:spPr>
        <p:txBody>
          <a:bodyPr wrap="square" anchor="t">
            <a:spAutoFit/>
          </a:bodyPr>
          <a:lstStyle/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Push(in/out S : Stack; input P : Infotype)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if IsFull(S) then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Output(‘Stack penuh’)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else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S.Top =</a:t>
            </a:r>
            <a:r>
              <a:rPr b="1" spc="229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S.Top + 1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S.info[S.Top] =</a:t>
            </a:r>
            <a:r>
              <a:rPr b="1" spc="229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</a:t>
            </a:r>
          </a:p>
        </p:txBody>
      </p:sp>
      <p:sp>
        <p:nvSpPr>
          <p:cNvPr id="9" name="object 4"/>
          <p:cNvSpPr txBox="1"/>
          <p:nvPr/>
        </p:nvSpPr>
        <p:spPr>
          <a:xfrm>
            <a:off x="6286500" y="2956052"/>
            <a:ext cx="127063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6544436" y="5716650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11" name="object 6"/>
          <p:cNvSpPr txBox="1"/>
          <p:nvPr/>
        </p:nvSpPr>
        <p:spPr>
          <a:xfrm>
            <a:off x="6566281" y="5332856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2" name="object 7"/>
          <p:cNvSpPr/>
          <p:nvPr/>
        </p:nvSpPr>
        <p:spPr>
          <a:xfrm>
            <a:off x="6254876" y="3346831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3" name="object 8"/>
          <p:cNvGraphicFramePr>
            <a:graphicFrameLocks noGrp="1"/>
          </p:cNvGraphicFramePr>
          <p:nvPr/>
        </p:nvGraphicFramePr>
        <p:xfrm>
          <a:off x="7746111" y="4048632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A</a:t>
                      </a:r>
                    </a:p>
                  </a:txBody>
                  <a:tcPr marL="0" marR="0" marT="946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M</a:t>
                      </a:r>
                    </a:p>
                  </a:txBody>
                  <a:tcPr marL="0" marR="0" marT="933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U</a:t>
                      </a:r>
                    </a:p>
                  </a:txBody>
                  <a:tcPr marL="0" marR="0" marT="920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9"/>
          <p:cNvSpPr txBox="1"/>
          <p:nvPr/>
        </p:nvSpPr>
        <p:spPr>
          <a:xfrm>
            <a:off x="7426833" y="5276468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15" name="object 10"/>
          <p:cNvSpPr txBox="1"/>
          <p:nvPr/>
        </p:nvSpPr>
        <p:spPr>
          <a:xfrm>
            <a:off x="7426833" y="4168267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16" name="object 11"/>
          <p:cNvSpPr txBox="1"/>
          <p:nvPr/>
        </p:nvSpPr>
        <p:spPr>
          <a:xfrm>
            <a:off x="8047609" y="3607434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sp>
        <p:nvSpPr>
          <p:cNvPr id="17" name="object 13"/>
          <p:cNvSpPr txBox="1"/>
          <p:nvPr/>
        </p:nvSpPr>
        <p:spPr>
          <a:xfrm>
            <a:off x="5218557" y="3961003"/>
            <a:ext cx="693420" cy="55626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735"/>
              </a:spcBef>
            </a:pPr>
            <a:r>
              <a:rPr sz="2400" b="1" dirty="0">
                <a:latin typeface="Arial" panose="02080604020202020204" pitchFamily="34" charset="0"/>
                <a:cs typeface="Arial" panose="02080604020202020204" pitchFamily="34" charset="0"/>
              </a:rPr>
              <a:t>K</a:t>
            </a:r>
          </a:p>
        </p:txBody>
      </p:sp>
      <p:sp>
        <p:nvSpPr>
          <p:cNvPr id="18" name="object 14"/>
          <p:cNvSpPr txBox="1"/>
          <p:nvPr/>
        </p:nvSpPr>
        <p:spPr>
          <a:xfrm>
            <a:off x="5429122" y="3576573"/>
            <a:ext cx="212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P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730" y="1342390"/>
            <a:ext cx="1369695" cy="140017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Memasukkan elemen P kedalam Stack S</a:t>
            </a:r>
          </a:p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Elemen P menjadi elemen puncak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17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Push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65125" y="2795905"/>
            <a:ext cx="6404610" cy="2138045"/>
          </a:xfrm>
          <a:prstGeom prst="rect">
            <a:avLst/>
          </a:prstGeom>
          <a:ln>
            <a:noFill/>
          </a:ln>
        </p:spPr>
        <p:txBody>
          <a:bodyPr wrap="square" anchor="t">
            <a:spAutoFit/>
          </a:bodyPr>
          <a:lstStyle/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Push(in/out S : Stack; input P : Infotype)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if IsFull(S) then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Output(‘Stack penuh’)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else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</a:t>
            </a: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S.Top =</a:t>
            </a:r>
            <a:r>
              <a:rPr b="1" spc="229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S.Top + 1</a:t>
            </a:r>
            <a:endParaRPr lang="en-US" altLang="en-US" dirty="0">
              <a:solidFill>
                <a:schemeClr val="tx1"/>
              </a:solidFill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S.info[S.Top] =</a:t>
            </a:r>
            <a:r>
              <a:rPr b="1" spc="229" dirty="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</a:t>
            </a:r>
          </a:p>
        </p:txBody>
      </p:sp>
      <p:sp>
        <p:nvSpPr>
          <p:cNvPr id="9" name="object 4"/>
          <p:cNvSpPr txBox="1"/>
          <p:nvPr/>
        </p:nvSpPr>
        <p:spPr>
          <a:xfrm>
            <a:off x="6286500" y="2956052"/>
            <a:ext cx="127063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6544436" y="5716650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</a:p>
        </p:txBody>
      </p:sp>
      <p:sp>
        <p:nvSpPr>
          <p:cNvPr id="11" name="object 6"/>
          <p:cNvSpPr txBox="1"/>
          <p:nvPr/>
        </p:nvSpPr>
        <p:spPr>
          <a:xfrm>
            <a:off x="6566281" y="5332856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2" name="object 7"/>
          <p:cNvSpPr/>
          <p:nvPr/>
        </p:nvSpPr>
        <p:spPr>
          <a:xfrm>
            <a:off x="6254876" y="3346831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3" name="object 8"/>
          <p:cNvGraphicFramePr>
            <a:graphicFrameLocks noGrp="1"/>
          </p:cNvGraphicFramePr>
          <p:nvPr/>
        </p:nvGraphicFramePr>
        <p:xfrm>
          <a:off x="7746111" y="4048632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A</a:t>
                      </a:r>
                    </a:p>
                  </a:txBody>
                  <a:tcPr marL="0" marR="0" marT="946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M</a:t>
                      </a:r>
                    </a:p>
                  </a:txBody>
                  <a:tcPr marL="0" marR="0" marT="933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U</a:t>
                      </a:r>
                    </a:p>
                  </a:txBody>
                  <a:tcPr marL="0" marR="0" marT="920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9"/>
          <p:cNvSpPr txBox="1"/>
          <p:nvPr/>
        </p:nvSpPr>
        <p:spPr>
          <a:xfrm>
            <a:off x="7426833" y="5276468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15" name="object 10"/>
          <p:cNvSpPr txBox="1"/>
          <p:nvPr/>
        </p:nvSpPr>
        <p:spPr>
          <a:xfrm>
            <a:off x="7426833" y="4168267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16" name="object 11"/>
          <p:cNvSpPr txBox="1"/>
          <p:nvPr/>
        </p:nvSpPr>
        <p:spPr>
          <a:xfrm>
            <a:off x="8047609" y="3607434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sp>
        <p:nvSpPr>
          <p:cNvPr id="17" name="object 13"/>
          <p:cNvSpPr txBox="1"/>
          <p:nvPr/>
        </p:nvSpPr>
        <p:spPr>
          <a:xfrm>
            <a:off x="5218557" y="3961003"/>
            <a:ext cx="693420" cy="55626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735"/>
              </a:spcBef>
            </a:pPr>
            <a:r>
              <a:rPr sz="2400" b="1" dirty="0">
                <a:latin typeface="Arial" panose="02080604020202020204" pitchFamily="34" charset="0"/>
                <a:cs typeface="Arial" panose="02080604020202020204" pitchFamily="34" charset="0"/>
              </a:rPr>
              <a:t>K</a:t>
            </a:r>
          </a:p>
        </p:txBody>
      </p:sp>
      <p:sp>
        <p:nvSpPr>
          <p:cNvPr id="18" name="object 14"/>
          <p:cNvSpPr txBox="1"/>
          <p:nvPr/>
        </p:nvSpPr>
        <p:spPr>
          <a:xfrm>
            <a:off x="5429122" y="3576573"/>
            <a:ext cx="212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P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185" y="1328420"/>
            <a:ext cx="1369695" cy="140017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Memasukkan elemen P kedalam Stack S</a:t>
            </a:r>
          </a:p>
          <a:p>
            <a:pPr marL="274320" latinLnBrk="0">
              <a:spcBef>
                <a:spcPts val="60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Elemen P menjadi elemen puncak</a:t>
            </a:r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18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Push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65125" y="2795905"/>
            <a:ext cx="6404610" cy="2138045"/>
          </a:xfrm>
          <a:prstGeom prst="rect">
            <a:avLst/>
          </a:prstGeom>
          <a:ln>
            <a:noFill/>
          </a:ln>
        </p:spPr>
        <p:txBody>
          <a:bodyPr wrap="square" anchor="t">
            <a:spAutoFit/>
          </a:bodyPr>
          <a:lstStyle/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Push(in/out S : Stack; input P : Infotype)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if IsFull(S) then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Output(‘Stack penuh’)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else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S.Top =</a:t>
            </a:r>
            <a:r>
              <a:rPr b="1" spc="229" dirty="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S.Top + 1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</a:t>
            </a: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S.info[S.Top] =</a:t>
            </a:r>
            <a:r>
              <a:rPr b="1" spc="229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</a:t>
            </a:r>
          </a:p>
        </p:txBody>
      </p:sp>
      <p:sp>
        <p:nvSpPr>
          <p:cNvPr id="9" name="object 4"/>
          <p:cNvSpPr txBox="1"/>
          <p:nvPr/>
        </p:nvSpPr>
        <p:spPr>
          <a:xfrm>
            <a:off x="6286500" y="2956052"/>
            <a:ext cx="127063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6544436" y="5716650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</a:p>
        </p:txBody>
      </p:sp>
      <p:sp>
        <p:nvSpPr>
          <p:cNvPr id="11" name="object 6"/>
          <p:cNvSpPr txBox="1"/>
          <p:nvPr/>
        </p:nvSpPr>
        <p:spPr>
          <a:xfrm>
            <a:off x="6566281" y="5332856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2" name="object 7"/>
          <p:cNvSpPr/>
          <p:nvPr/>
        </p:nvSpPr>
        <p:spPr>
          <a:xfrm>
            <a:off x="6254876" y="3346831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3" name="object 8"/>
          <p:cNvGraphicFramePr>
            <a:graphicFrameLocks noGrp="1"/>
          </p:cNvGraphicFramePr>
          <p:nvPr/>
        </p:nvGraphicFramePr>
        <p:xfrm>
          <a:off x="7746111" y="4048632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A</a:t>
                      </a:r>
                    </a:p>
                  </a:txBody>
                  <a:tcPr marL="0" marR="0" marT="946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M</a:t>
                      </a:r>
                    </a:p>
                  </a:txBody>
                  <a:tcPr marL="0" marR="0" marT="933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U</a:t>
                      </a:r>
                    </a:p>
                  </a:txBody>
                  <a:tcPr marL="0" marR="0" marT="920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9"/>
          <p:cNvSpPr txBox="1"/>
          <p:nvPr/>
        </p:nvSpPr>
        <p:spPr>
          <a:xfrm>
            <a:off x="7426833" y="5276468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15" name="object 10"/>
          <p:cNvSpPr txBox="1"/>
          <p:nvPr/>
        </p:nvSpPr>
        <p:spPr>
          <a:xfrm>
            <a:off x="7426833" y="4168267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16" name="object 11"/>
          <p:cNvSpPr txBox="1"/>
          <p:nvPr/>
        </p:nvSpPr>
        <p:spPr>
          <a:xfrm>
            <a:off x="8047609" y="3607434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sp>
        <p:nvSpPr>
          <p:cNvPr id="17" name="object 13"/>
          <p:cNvSpPr txBox="1"/>
          <p:nvPr/>
        </p:nvSpPr>
        <p:spPr>
          <a:xfrm>
            <a:off x="5218557" y="3961003"/>
            <a:ext cx="693420" cy="55626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735"/>
              </a:spcBef>
            </a:pPr>
            <a:r>
              <a:rPr sz="2400" b="1" dirty="0">
                <a:latin typeface="Arial" panose="02080604020202020204" pitchFamily="34" charset="0"/>
                <a:cs typeface="Arial" panose="02080604020202020204" pitchFamily="34" charset="0"/>
              </a:rPr>
              <a:t>K</a:t>
            </a:r>
          </a:p>
        </p:txBody>
      </p:sp>
      <p:sp>
        <p:nvSpPr>
          <p:cNvPr id="18" name="object 14"/>
          <p:cNvSpPr txBox="1"/>
          <p:nvPr/>
        </p:nvSpPr>
        <p:spPr>
          <a:xfrm>
            <a:off x="5429122" y="3576573"/>
            <a:ext cx="212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P</a:t>
            </a:r>
          </a:p>
        </p:txBody>
      </p:sp>
      <p:sp>
        <p:nvSpPr>
          <p:cNvPr id="8" name="object 14"/>
          <p:cNvSpPr txBox="1"/>
          <p:nvPr/>
        </p:nvSpPr>
        <p:spPr>
          <a:xfrm>
            <a:off x="7986902" y="4135373"/>
            <a:ext cx="212090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K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820" y="1336675"/>
            <a:ext cx="1369695" cy="140017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 elemen puncak dari Stack</a:t>
            </a:r>
          </a:p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Pop(in/out S : Stack, out P : Infotype)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19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Pop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65125" y="2795905"/>
            <a:ext cx="6404610" cy="2138045"/>
          </a:xfrm>
          <a:prstGeom prst="rect">
            <a:avLst/>
          </a:prstGeom>
          <a:ln>
            <a:noFill/>
          </a:ln>
        </p:spPr>
        <p:txBody>
          <a:bodyPr wrap="square" anchor="t">
            <a:spAutoFit/>
          </a:bodyPr>
          <a:lstStyle/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Pop(in/out S : Stack; output P : Infotype)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if IsEmpty(S) then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Output(‘Stack kosong’)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else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P =</a:t>
            </a:r>
            <a:r>
              <a:rPr b="1" spc="229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S.info[S.Top]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S.Top =</a:t>
            </a:r>
            <a:r>
              <a:rPr b="1" spc="229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S.Top - 1</a:t>
            </a:r>
          </a:p>
        </p:txBody>
      </p:sp>
      <p:sp>
        <p:nvSpPr>
          <p:cNvPr id="8" name="object 4"/>
          <p:cNvSpPr txBox="1"/>
          <p:nvPr/>
        </p:nvSpPr>
        <p:spPr>
          <a:xfrm>
            <a:off x="6286500" y="2956052"/>
            <a:ext cx="127063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6544436" y="5716650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-1</a:t>
            </a:r>
          </a:p>
        </p:txBody>
      </p:sp>
      <p:sp>
        <p:nvSpPr>
          <p:cNvPr id="17" name="object 6"/>
          <p:cNvSpPr txBox="1"/>
          <p:nvPr/>
        </p:nvSpPr>
        <p:spPr>
          <a:xfrm>
            <a:off x="6566281" y="5332856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8" name="object 7"/>
          <p:cNvSpPr/>
          <p:nvPr/>
        </p:nvSpPr>
        <p:spPr>
          <a:xfrm>
            <a:off x="6254876" y="3346831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23" name="object 8"/>
          <p:cNvGraphicFramePr>
            <a:graphicFrameLocks noGrp="1"/>
          </p:cNvGraphicFramePr>
          <p:nvPr/>
        </p:nvGraphicFramePr>
        <p:xfrm>
          <a:off x="7746111" y="4048632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bject 9"/>
          <p:cNvSpPr txBox="1"/>
          <p:nvPr/>
        </p:nvSpPr>
        <p:spPr>
          <a:xfrm>
            <a:off x="7426833" y="5276468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30" name="object 10"/>
          <p:cNvSpPr txBox="1"/>
          <p:nvPr/>
        </p:nvSpPr>
        <p:spPr>
          <a:xfrm>
            <a:off x="7426833" y="4168267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31" name="object 11"/>
          <p:cNvSpPr txBox="1"/>
          <p:nvPr/>
        </p:nvSpPr>
        <p:spPr>
          <a:xfrm>
            <a:off x="8047609" y="3607434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grpSp>
        <p:nvGrpSpPr>
          <p:cNvPr id="32" name="object 12"/>
          <p:cNvGrpSpPr/>
          <p:nvPr/>
        </p:nvGrpSpPr>
        <p:grpSpPr>
          <a:xfrm>
            <a:off x="5199507" y="3941953"/>
            <a:ext cx="731520" cy="594360"/>
            <a:chOff x="5369052" y="3523488"/>
            <a:chExt cx="731520" cy="594360"/>
          </a:xfrm>
        </p:grpSpPr>
        <p:sp>
          <p:nvSpPr>
            <p:cNvPr id="33" name="object 13"/>
            <p:cNvSpPr/>
            <p:nvPr/>
          </p:nvSpPr>
          <p:spPr>
            <a:xfrm>
              <a:off x="5388102" y="3542538"/>
              <a:ext cx="693420" cy="556260"/>
            </a:xfrm>
            <a:custGeom>
              <a:avLst/>
              <a:gdLst/>
              <a:ahLst/>
              <a:cxnLst/>
              <a:rect l="l" t="t" r="r" b="b"/>
              <a:pathLst>
                <a:path w="693420" h="556260">
                  <a:moveTo>
                    <a:pt x="693420" y="0"/>
                  </a:moveTo>
                  <a:lnTo>
                    <a:pt x="0" y="0"/>
                  </a:lnTo>
                  <a:lnTo>
                    <a:pt x="0" y="556260"/>
                  </a:lnTo>
                  <a:lnTo>
                    <a:pt x="693420" y="556260"/>
                  </a:lnTo>
                  <a:lnTo>
                    <a:pt x="693420" y="0"/>
                  </a:lnTo>
                  <a:close/>
                </a:path>
              </a:pathLst>
            </a:custGeom>
            <a:solidFill>
              <a:srgbClr val="0066A0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  <p:sp>
          <p:nvSpPr>
            <p:cNvPr id="34" name="object 14"/>
            <p:cNvSpPr/>
            <p:nvPr/>
          </p:nvSpPr>
          <p:spPr>
            <a:xfrm>
              <a:off x="5388102" y="3542538"/>
              <a:ext cx="693420" cy="556260"/>
            </a:xfrm>
            <a:custGeom>
              <a:avLst/>
              <a:gdLst/>
              <a:ahLst/>
              <a:cxnLst/>
              <a:rect l="l" t="t" r="r" b="b"/>
              <a:pathLst>
                <a:path w="693420" h="556260">
                  <a:moveTo>
                    <a:pt x="0" y="556260"/>
                  </a:moveTo>
                  <a:lnTo>
                    <a:pt x="693420" y="556260"/>
                  </a:lnTo>
                  <a:lnTo>
                    <a:pt x="693420" y="0"/>
                  </a:lnTo>
                  <a:lnTo>
                    <a:pt x="0" y="0"/>
                  </a:lnTo>
                  <a:lnTo>
                    <a:pt x="0" y="55626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</p:grpSp>
      <p:sp>
        <p:nvSpPr>
          <p:cNvPr id="35" name="object 15"/>
          <p:cNvSpPr txBox="1"/>
          <p:nvPr/>
        </p:nvSpPr>
        <p:spPr>
          <a:xfrm>
            <a:off x="5429122" y="3576573"/>
            <a:ext cx="212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P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095" y="1341755"/>
            <a:ext cx="1369695" cy="140017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 elemen puncak dari Stack</a:t>
            </a:r>
          </a:p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Pop(in/out S : Stack, out P : Infotype)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20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Pop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65125" y="2795905"/>
            <a:ext cx="6404610" cy="2138045"/>
          </a:xfrm>
          <a:prstGeom prst="rect">
            <a:avLst/>
          </a:prstGeom>
          <a:ln>
            <a:noFill/>
          </a:ln>
        </p:spPr>
        <p:txBody>
          <a:bodyPr wrap="square" anchor="t">
            <a:spAutoFit/>
          </a:bodyPr>
          <a:lstStyle/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Pop(in/out S : Stack; output P : Infotype)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if IsEmpty(S) then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Output(‘Stack kosong’)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else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P =</a:t>
            </a:r>
            <a:r>
              <a:rPr b="1" spc="229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S.info[S.Top]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S.Top =</a:t>
            </a:r>
            <a:r>
              <a:rPr b="1" spc="229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S.Top - 1</a:t>
            </a:r>
          </a:p>
        </p:txBody>
      </p:sp>
      <p:sp>
        <p:nvSpPr>
          <p:cNvPr id="9" name="object 4"/>
          <p:cNvSpPr txBox="1"/>
          <p:nvPr/>
        </p:nvSpPr>
        <p:spPr>
          <a:xfrm>
            <a:off x="6426835" y="2956052"/>
            <a:ext cx="127063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6684771" y="5716650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</a:p>
        </p:txBody>
      </p:sp>
      <p:sp>
        <p:nvSpPr>
          <p:cNvPr id="12" name="object 6"/>
          <p:cNvSpPr txBox="1"/>
          <p:nvPr/>
        </p:nvSpPr>
        <p:spPr>
          <a:xfrm>
            <a:off x="6706616" y="5332856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3" name="object 7"/>
          <p:cNvSpPr/>
          <p:nvPr/>
        </p:nvSpPr>
        <p:spPr>
          <a:xfrm>
            <a:off x="6395211" y="3346831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4" name="object 8"/>
          <p:cNvGraphicFramePr>
            <a:graphicFrameLocks noGrp="1"/>
          </p:cNvGraphicFramePr>
          <p:nvPr/>
        </p:nvGraphicFramePr>
        <p:xfrm>
          <a:off x="7886446" y="4048632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T</a:t>
                      </a:r>
                    </a:p>
                  </a:txBody>
                  <a:tcPr marL="0" marR="0" marT="933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U</a:t>
                      </a:r>
                    </a:p>
                  </a:txBody>
                  <a:tcPr marL="0" marR="0" marT="920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object 9"/>
          <p:cNvSpPr txBox="1"/>
          <p:nvPr/>
        </p:nvSpPr>
        <p:spPr>
          <a:xfrm>
            <a:off x="7567168" y="5276468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16" name="object 10"/>
          <p:cNvSpPr txBox="1"/>
          <p:nvPr/>
        </p:nvSpPr>
        <p:spPr>
          <a:xfrm>
            <a:off x="7567168" y="4168267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19" name="object 11"/>
          <p:cNvSpPr txBox="1"/>
          <p:nvPr/>
        </p:nvSpPr>
        <p:spPr>
          <a:xfrm>
            <a:off x="8187944" y="3607434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grpSp>
        <p:nvGrpSpPr>
          <p:cNvPr id="20" name="object 12"/>
          <p:cNvGrpSpPr/>
          <p:nvPr/>
        </p:nvGrpSpPr>
        <p:grpSpPr>
          <a:xfrm>
            <a:off x="5339842" y="3941953"/>
            <a:ext cx="731520" cy="594360"/>
            <a:chOff x="5369052" y="3523488"/>
            <a:chExt cx="731520" cy="594360"/>
          </a:xfrm>
        </p:grpSpPr>
        <p:sp>
          <p:nvSpPr>
            <p:cNvPr id="21" name="object 13"/>
            <p:cNvSpPr/>
            <p:nvPr/>
          </p:nvSpPr>
          <p:spPr>
            <a:xfrm>
              <a:off x="5388102" y="3542538"/>
              <a:ext cx="693420" cy="556260"/>
            </a:xfrm>
            <a:custGeom>
              <a:avLst/>
              <a:gdLst/>
              <a:ahLst/>
              <a:cxnLst/>
              <a:rect l="l" t="t" r="r" b="b"/>
              <a:pathLst>
                <a:path w="693420" h="556260">
                  <a:moveTo>
                    <a:pt x="693420" y="0"/>
                  </a:moveTo>
                  <a:lnTo>
                    <a:pt x="0" y="0"/>
                  </a:lnTo>
                  <a:lnTo>
                    <a:pt x="0" y="556260"/>
                  </a:lnTo>
                  <a:lnTo>
                    <a:pt x="693420" y="556260"/>
                  </a:lnTo>
                  <a:lnTo>
                    <a:pt x="693420" y="0"/>
                  </a:lnTo>
                  <a:close/>
                </a:path>
              </a:pathLst>
            </a:custGeom>
            <a:solidFill>
              <a:srgbClr val="0066A0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  <p:sp>
          <p:nvSpPr>
            <p:cNvPr id="22" name="object 14"/>
            <p:cNvSpPr/>
            <p:nvPr/>
          </p:nvSpPr>
          <p:spPr>
            <a:xfrm>
              <a:off x="5388102" y="3542538"/>
              <a:ext cx="693420" cy="556260"/>
            </a:xfrm>
            <a:custGeom>
              <a:avLst/>
              <a:gdLst/>
              <a:ahLst/>
              <a:cxnLst/>
              <a:rect l="l" t="t" r="r" b="b"/>
              <a:pathLst>
                <a:path w="693420" h="556260">
                  <a:moveTo>
                    <a:pt x="0" y="556260"/>
                  </a:moveTo>
                  <a:lnTo>
                    <a:pt x="693420" y="556260"/>
                  </a:lnTo>
                  <a:lnTo>
                    <a:pt x="693420" y="0"/>
                  </a:lnTo>
                  <a:lnTo>
                    <a:pt x="0" y="0"/>
                  </a:lnTo>
                  <a:lnTo>
                    <a:pt x="0" y="55626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</p:grpSp>
      <p:sp>
        <p:nvSpPr>
          <p:cNvPr id="25" name="object 15"/>
          <p:cNvSpPr txBox="1"/>
          <p:nvPr/>
        </p:nvSpPr>
        <p:spPr>
          <a:xfrm>
            <a:off x="5569457" y="3576573"/>
            <a:ext cx="212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P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095" y="1342390"/>
            <a:ext cx="1369695" cy="140017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 elemen puncak dari Stack</a:t>
            </a:r>
          </a:p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Pop(in/out S : Stack, out P : Infotype)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21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Pop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65125" y="2795905"/>
            <a:ext cx="6404610" cy="2138045"/>
          </a:xfrm>
          <a:prstGeom prst="rect">
            <a:avLst/>
          </a:prstGeom>
          <a:ln>
            <a:noFill/>
          </a:ln>
        </p:spPr>
        <p:txBody>
          <a:bodyPr wrap="square" anchor="t">
            <a:spAutoFit/>
          </a:bodyPr>
          <a:lstStyle/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Pop(in/out S : Stack; output P : Infotype)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if IsEmpty(S) then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Output(‘Stack kosong’)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else</a:t>
            </a:r>
            <a:endParaRPr lang="en-US" altLang="en-US" dirty="0">
              <a:solidFill>
                <a:srgbClr val="FF0000"/>
              </a:solidFill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P =</a:t>
            </a:r>
            <a:r>
              <a:rPr b="1" spc="229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S.info[S.Top]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</a:t>
            </a: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S.Top =</a:t>
            </a:r>
            <a:r>
              <a:rPr b="1" spc="229" dirty="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S.Top - 1</a:t>
            </a:r>
          </a:p>
        </p:txBody>
      </p:sp>
      <p:sp>
        <p:nvSpPr>
          <p:cNvPr id="9" name="object 4"/>
          <p:cNvSpPr txBox="1"/>
          <p:nvPr/>
        </p:nvSpPr>
        <p:spPr>
          <a:xfrm>
            <a:off x="6426835" y="2956052"/>
            <a:ext cx="127063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6684771" y="5716650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</a:p>
        </p:txBody>
      </p:sp>
      <p:sp>
        <p:nvSpPr>
          <p:cNvPr id="12" name="object 6"/>
          <p:cNvSpPr txBox="1"/>
          <p:nvPr/>
        </p:nvSpPr>
        <p:spPr>
          <a:xfrm>
            <a:off x="6706616" y="5332856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3" name="object 7"/>
          <p:cNvSpPr/>
          <p:nvPr/>
        </p:nvSpPr>
        <p:spPr>
          <a:xfrm>
            <a:off x="6395211" y="3346831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4" name="object 8"/>
          <p:cNvGraphicFramePr>
            <a:graphicFrameLocks noGrp="1"/>
          </p:cNvGraphicFramePr>
          <p:nvPr/>
        </p:nvGraphicFramePr>
        <p:xfrm>
          <a:off x="7886446" y="4048632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T</a:t>
                      </a:r>
                    </a:p>
                  </a:txBody>
                  <a:tcPr marL="0" marR="0" marT="933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U</a:t>
                      </a:r>
                    </a:p>
                  </a:txBody>
                  <a:tcPr marL="0" marR="0" marT="920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object 9"/>
          <p:cNvSpPr txBox="1"/>
          <p:nvPr/>
        </p:nvSpPr>
        <p:spPr>
          <a:xfrm>
            <a:off x="7567168" y="5276468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16" name="object 10"/>
          <p:cNvSpPr txBox="1"/>
          <p:nvPr/>
        </p:nvSpPr>
        <p:spPr>
          <a:xfrm>
            <a:off x="7567168" y="4168267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19" name="object 11"/>
          <p:cNvSpPr txBox="1"/>
          <p:nvPr/>
        </p:nvSpPr>
        <p:spPr>
          <a:xfrm>
            <a:off x="8187944" y="3607434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grpSp>
        <p:nvGrpSpPr>
          <p:cNvPr id="20" name="object 12"/>
          <p:cNvGrpSpPr/>
          <p:nvPr/>
        </p:nvGrpSpPr>
        <p:grpSpPr>
          <a:xfrm>
            <a:off x="5339842" y="3941953"/>
            <a:ext cx="731520" cy="594360"/>
            <a:chOff x="5369052" y="3523488"/>
            <a:chExt cx="731520" cy="594360"/>
          </a:xfrm>
        </p:grpSpPr>
        <p:sp>
          <p:nvSpPr>
            <p:cNvPr id="21" name="object 13"/>
            <p:cNvSpPr/>
            <p:nvPr/>
          </p:nvSpPr>
          <p:spPr>
            <a:xfrm>
              <a:off x="5388102" y="3542538"/>
              <a:ext cx="693420" cy="556260"/>
            </a:xfrm>
            <a:custGeom>
              <a:avLst/>
              <a:gdLst/>
              <a:ahLst/>
              <a:cxnLst/>
              <a:rect l="l" t="t" r="r" b="b"/>
              <a:pathLst>
                <a:path w="693420" h="556260">
                  <a:moveTo>
                    <a:pt x="693420" y="0"/>
                  </a:moveTo>
                  <a:lnTo>
                    <a:pt x="0" y="0"/>
                  </a:lnTo>
                  <a:lnTo>
                    <a:pt x="0" y="556260"/>
                  </a:lnTo>
                  <a:lnTo>
                    <a:pt x="693420" y="556260"/>
                  </a:lnTo>
                  <a:lnTo>
                    <a:pt x="693420" y="0"/>
                  </a:lnTo>
                  <a:close/>
                </a:path>
              </a:pathLst>
            </a:custGeom>
            <a:solidFill>
              <a:srgbClr val="0066A0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  <p:sp>
          <p:nvSpPr>
            <p:cNvPr id="22" name="object 14"/>
            <p:cNvSpPr/>
            <p:nvPr/>
          </p:nvSpPr>
          <p:spPr>
            <a:xfrm>
              <a:off x="5388102" y="3542538"/>
              <a:ext cx="693420" cy="556260"/>
            </a:xfrm>
            <a:custGeom>
              <a:avLst/>
              <a:gdLst/>
              <a:ahLst/>
              <a:cxnLst/>
              <a:rect l="l" t="t" r="r" b="b"/>
              <a:pathLst>
                <a:path w="693420" h="556260">
                  <a:moveTo>
                    <a:pt x="0" y="556260"/>
                  </a:moveTo>
                  <a:lnTo>
                    <a:pt x="693420" y="556260"/>
                  </a:lnTo>
                  <a:lnTo>
                    <a:pt x="693420" y="0"/>
                  </a:lnTo>
                  <a:lnTo>
                    <a:pt x="0" y="0"/>
                  </a:lnTo>
                  <a:lnTo>
                    <a:pt x="0" y="55626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</p:grpSp>
      <p:sp>
        <p:nvSpPr>
          <p:cNvPr id="25" name="object 15"/>
          <p:cNvSpPr txBox="1"/>
          <p:nvPr/>
        </p:nvSpPr>
        <p:spPr>
          <a:xfrm>
            <a:off x="5569457" y="3576573"/>
            <a:ext cx="212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P</a:t>
            </a:r>
          </a:p>
        </p:txBody>
      </p:sp>
      <p:sp>
        <p:nvSpPr>
          <p:cNvPr id="8" name="object 11"/>
          <p:cNvSpPr txBox="1"/>
          <p:nvPr/>
        </p:nvSpPr>
        <p:spPr>
          <a:xfrm>
            <a:off x="5571744" y="401319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185" y="1363980"/>
            <a:ext cx="1369695" cy="140017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Melepaskan elemen puncak dari Stack</a:t>
            </a:r>
          </a:p>
          <a:p>
            <a:pPr latinLnBrk="0">
              <a:spcBef>
                <a:spcPts val="0"/>
              </a:spcBef>
            </a:pPr>
            <a:r>
              <a:rPr lang="en-US" altLang="en-US" sz="20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Pop(in/out S : Stack, out P : Infotype)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22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Pop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65125" y="2795905"/>
            <a:ext cx="6404610" cy="2138045"/>
          </a:xfrm>
          <a:prstGeom prst="rect">
            <a:avLst/>
          </a:prstGeom>
          <a:ln>
            <a:noFill/>
          </a:ln>
        </p:spPr>
        <p:txBody>
          <a:bodyPr wrap="square" anchor="t">
            <a:spAutoFit/>
          </a:bodyPr>
          <a:lstStyle/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Pop(in/out S : Stack; output P : Infotype)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if IsEmpty(S) then</a:t>
            </a: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Output(‘Stack kosong’)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else</a:t>
            </a:r>
            <a:endParaRPr lang="en-US" altLang="en-US" dirty="0">
              <a:solidFill>
                <a:srgbClr val="FF0000"/>
              </a:solidFill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</a:t>
            </a: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 =</a:t>
            </a:r>
            <a:r>
              <a:rPr b="1" spc="229" dirty="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chemeClr val="tx1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S.info[S.Top]</a:t>
            </a:r>
            <a:endParaRPr lang="en-US" altLang="en-US" dirty="0">
              <a:solidFill>
                <a:srgbClr val="FF0000"/>
              </a:solidFill>
              <a:uFillTx/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S.Top =</a:t>
            </a:r>
            <a:r>
              <a:rPr b="1" spc="229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dirty="0">
                <a:solidFill>
                  <a:srgbClr val="FF0000"/>
                </a:solidFill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S.Top - 1</a:t>
            </a:r>
          </a:p>
        </p:txBody>
      </p:sp>
      <p:sp>
        <p:nvSpPr>
          <p:cNvPr id="9" name="object 4"/>
          <p:cNvSpPr txBox="1"/>
          <p:nvPr/>
        </p:nvSpPr>
        <p:spPr>
          <a:xfrm>
            <a:off x="6426835" y="2956052"/>
            <a:ext cx="127063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6684771" y="5716650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solidFill>
                  <a:srgbClr val="FF0000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12" name="object 6"/>
          <p:cNvSpPr txBox="1"/>
          <p:nvPr/>
        </p:nvSpPr>
        <p:spPr>
          <a:xfrm>
            <a:off x="6706616" y="5332856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3" name="object 7"/>
          <p:cNvSpPr/>
          <p:nvPr/>
        </p:nvSpPr>
        <p:spPr>
          <a:xfrm>
            <a:off x="6395211" y="3346831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4" name="object 8"/>
          <p:cNvGraphicFramePr>
            <a:graphicFrameLocks noGrp="1"/>
          </p:cNvGraphicFramePr>
          <p:nvPr/>
        </p:nvGraphicFramePr>
        <p:xfrm>
          <a:off x="7886446" y="4048632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2400" b="1" dirty="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933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b="1" dirty="0"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U</a:t>
                      </a:r>
                    </a:p>
                  </a:txBody>
                  <a:tcPr marL="0" marR="0" marT="920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object 9"/>
          <p:cNvSpPr txBox="1"/>
          <p:nvPr/>
        </p:nvSpPr>
        <p:spPr>
          <a:xfrm>
            <a:off x="7567168" y="5276468"/>
            <a:ext cx="20637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16" name="object 10"/>
          <p:cNvSpPr txBox="1"/>
          <p:nvPr/>
        </p:nvSpPr>
        <p:spPr>
          <a:xfrm>
            <a:off x="7567168" y="4168267"/>
            <a:ext cx="20637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19" name="object 11"/>
          <p:cNvSpPr txBox="1"/>
          <p:nvPr/>
        </p:nvSpPr>
        <p:spPr>
          <a:xfrm>
            <a:off x="8187944" y="3607434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grpSp>
        <p:nvGrpSpPr>
          <p:cNvPr id="20" name="object 12"/>
          <p:cNvGrpSpPr/>
          <p:nvPr/>
        </p:nvGrpSpPr>
        <p:grpSpPr>
          <a:xfrm>
            <a:off x="5339842" y="3941953"/>
            <a:ext cx="731520" cy="594360"/>
            <a:chOff x="5369052" y="3523488"/>
            <a:chExt cx="731520" cy="594360"/>
          </a:xfrm>
        </p:grpSpPr>
        <p:sp>
          <p:nvSpPr>
            <p:cNvPr id="21" name="object 13"/>
            <p:cNvSpPr/>
            <p:nvPr/>
          </p:nvSpPr>
          <p:spPr>
            <a:xfrm>
              <a:off x="5388102" y="3542538"/>
              <a:ext cx="693420" cy="556260"/>
            </a:xfrm>
            <a:custGeom>
              <a:avLst/>
              <a:gdLst/>
              <a:ahLst/>
              <a:cxnLst/>
              <a:rect l="l" t="t" r="r" b="b"/>
              <a:pathLst>
                <a:path w="693420" h="556260">
                  <a:moveTo>
                    <a:pt x="693420" y="0"/>
                  </a:moveTo>
                  <a:lnTo>
                    <a:pt x="0" y="0"/>
                  </a:lnTo>
                  <a:lnTo>
                    <a:pt x="0" y="556260"/>
                  </a:lnTo>
                  <a:lnTo>
                    <a:pt x="693420" y="556260"/>
                  </a:lnTo>
                  <a:lnTo>
                    <a:pt x="693420" y="0"/>
                  </a:lnTo>
                  <a:close/>
                </a:path>
              </a:pathLst>
            </a:custGeom>
            <a:solidFill>
              <a:srgbClr val="0066A0"/>
            </a:solidFill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  <p:sp>
          <p:nvSpPr>
            <p:cNvPr id="22" name="object 14"/>
            <p:cNvSpPr/>
            <p:nvPr/>
          </p:nvSpPr>
          <p:spPr>
            <a:xfrm>
              <a:off x="5388102" y="3542538"/>
              <a:ext cx="693420" cy="556260"/>
            </a:xfrm>
            <a:custGeom>
              <a:avLst/>
              <a:gdLst/>
              <a:ahLst/>
              <a:cxnLst/>
              <a:rect l="l" t="t" r="r" b="b"/>
              <a:pathLst>
                <a:path w="693420" h="556260">
                  <a:moveTo>
                    <a:pt x="0" y="556260"/>
                  </a:moveTo>
                  <a:lnTo>
                    <a:pt x="693420" y="556260"/>
                  </a:lnTo>
                  <a:lnTo>
                    <a:pt x="693420" y="0"/>
                  </a:lnTo>
                  <a:lnTo>
                    <a:pt x="0" y="0"/>
                  </a:lnTo>
                  <a:lnTo>
                    <a:pt x="0" y="55626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" panose="02080604020202020204" pitchFamily="34" charset="0"/>
                <a:cs typeface="Arial" panose="02080604020202020204" pitchFamily="34" charset="0"/>
              </a:endParaRPr>
            </a:p>
          </p:txBody>
        </p:sp>
      </p:grpSp>
      <p:sp>
        <p:nvSpPr>
          <p:cNvPr id="25" name="object 15"/>
          <p:cNvSpPr txBox="1"/>
          <p:nvPr/>
        </p:nvSpPr>
        <p:spPr>
          <a:xfrm>
            <a:off x="5569457" y="3576573"/>
            <a:ext cx="212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P</a:t>
            </a:r>
          </a:p>
        </p:txBody>
      </p:sp>
      <p:sp>
        <p:nvSpPr>
          <p:cNvPr id="8" name="object 11"/>
          <p:cNvSpPr txBox="1"/>
          <p:nvPr/>
        </p:nvSpPr>
        <p:spPr>
          <a:xfrm>
            <a:off x="5571744" y="401319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185" y="1327785"/>
            <a:ext cx="1369695" cy="140017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indent="-342900">
              <a:lnSpc>
                <a:spcPct val="80000"/>
              </a:lnSpc>
              <a:buFont typeface="Arial" panose="02080604020202020204" pitchFamily="34" charset="0"/>
              <a:buChar char="•"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reateStack(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)</a:t>
            </a:r>
          </a:p>
          <a:p>
            <a:pPr marL="342900" indent="-342900">
              <a:lnSpc>
                <a:spcPct val="80000"/>
              </a:lnSpc>
              <a:buFont typeface="Arial" panose="02080604020202020204" pitchFamily="34" charset="0"/>
              <a:buChar char="•"/>
            </a:pP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23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Operasi pada Stack berbasis Array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713981" y="529818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-1</a:t>
            </a:r>
          </a:p>
        </p:txBody>
      </p:sp>
      <p:sp>
        <p:nvSpPr>
          <p:cNvPr id="9" name="object 5"/>
          <p:cNvSpPr txBox="1"/>
          <p:nvPr/>
        </p:nvSpPr>
        <p:spPr>
          <a:xfrm>
            <a:off x="6735826" y="491439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0" name="object 6"/>
          <p:cNvSpPr/>
          <p:nvPr/>
        </p:nvSpPr>
        <p:spPr>
          <a:xfrm>
            <a:off x="6424421" y="292836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1" name="object 7"/>
          <p:cNvGraphicFramePr>
            <a:graphicFrameLocks noGrp="1"/>
          </p:cNvGraphicFramePr>
          <p:nvPr/>
        </p:nvGraphicFramePr>
        <p:xfrm>
          <a:off x="7915656" y="363016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8"/>
          <p:cNvSpPr txBox="1"/>
          <p:nvPr/>
        </p:nvSpPr>
        <p:spPr>
          <a:xfrm>
            <a:off x="7560818" y="3664838"/>
            <a:ext cx="206375" cy="213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13" name="object 9"/>
          <p:cNvSpPr txBox="1"/>
          <p:nvPr/>
        </p:nvSpPr>
        <p:spPr>
          <a:xfrm>
            <a:off x="6713855" y="2464562"/>
            <a:ext cx="202882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5" name="object 11"/>
          <p:cNvSpPr txBox="1"/>
          <p:nvPr/>
        </p:nvSpPr>
        <p:spPr>
          <a:xfrm>
            <a:off x="8217154" y="318896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reateStack(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IsEmpty(S)		{return True}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57200" indent="0" latinLnBrk="0">
              <a:lnSpc>
                <a:spcPct val="80000"/>
              </a:lnSpc>
              <a:spcBef>
                <a:spcPts val="600"/>
              </a:spcBef>
              <a:buFont typeface="+mj-lt"/>
              <a:buAutoNum type="arabicPeriod"/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24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Operasi pada Stack berbasis Array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713981" y="529818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-1</a:t>
            </a:r>
          </a:p>
        </p:txBody>
      </p:sp>
      <p:sp>
        <p:nvSpPr>
          <p:cNvPr id="9" name="object 5"/>
          <p:cNvSpPr txBox="1"/>
          <p:nvPr/>
        </p:nvSpPr>
        <p:spPr>
          <a:xfrm>
            <a:off x="6735826" y="491439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0" name="object 6"/>
          <p:cNvSpPr/>
          <p:nvPr/>
        </p:nvSpPr>
        <p:spPr>
          <a:xfrm>
            <a:off x="6424421" y="292836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1" name="object 7"/>
          <p:cNvGraphicFramePr>
            <a:graphicFrameLocks noGrp="1"/>
          </p:cNvGraphicFramePr>
          <p:nvPr/>
        </p:nvGraphicFramePr>
        <p:xfrm>
          <a:off x="7915656" y="363016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8"/>
          <p:cNvSpPr txBox="1"/>
          <p:nvPr/>
        </p:nvSpPr>
        <p:spPr>
          <a:xfrm>
            <a:off x="7560818" y="3664838"/>
            <a:ext cx="206375" cy="213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3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2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0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6713855" y="2464562"/>
            <a:ext cx="202882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5" name="object 11"/>
          <p:cNvSpPr txBox="1"/>
          <p:nvPr/>
        </p:nvSpPr>
        <p:spPr>
          <a:xfrm>
            <a:off x="8217154" y="320293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reateStack(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sEmpty(S)</a:t>
            </a: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{return True}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IsFull(S)		{return False}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57200" indent="0" latinLnBrk="0">
              <a:lnSpc>
                <a:spcPct val="80000"/>
              </a:lnSpc>
              <a:spcBef>
                <a:spcPts val="600"/>
              </a:spcBef>
              <a:buFont typeface="+mj-lt"/>
              <a:buAutoNum type="arabicPeriod"/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Operasi pada Stack berbasis Array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713981" y="529818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-1</a:t>
            </a:r>
          </a:p>
        </p:txBody>
      </p:sp>
      <p:sp>
        <p:nvSpPr>
          <p:cNvPr id="9" name="object 5"/>
          <p:cNvSpPr txBox="1"/>
          <p:nvPr/>
        </p:nvSpPr>
        <p:spPr>
          <a:xfrm>
            <a:off x="6735826" y="491439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0" name="object 6"/>
          <p:cNvSpPr/>
          <p:nvPr/>
        </p:nvSpPr>
        <p:spPr>
          <a:xfrm>
            <a:off x="6424421" y="292836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1" name="object 7"/>
          <p:cNvGraphicFramePr>
            <a:graphicFrameLocks noGrp="1"/>
          </p:cNvGraphicFramePr>
          <p:nvPr/>
        </p:nvGraphicFramePr>
        <p:xfrm>
          <a:off x="7915656" y="363016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8"/>
          <p:cNvSpPr txBox="1"/>
          <p:nvPr/>
        </p:nvSpPr>
        <p:spPr>
          <a:xfrm>
            <a:off x="7560818" y="3664838"/>
            <a:ext cx="206375" cy="213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3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2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0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6713855" y="2464562"/>
            <a:ext cx="202882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5" name="object 11"/>
          <p:cNvSpPr txBox="1"/>
          <p:nvPr/>
        </p:nvSpPr>
        <p:spPr>
          <a:xfrm>
            <a:off x="8217154" y="318896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reateStack(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sEmpty(S)</a:t>
            </a: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{return True}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IsFull(S)		{return False}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P)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57200" indent="0" latinLnBrk="0">
              <a:lnSpc>
                <a:spcPct val="80000"/>
              </a:lnSpc>
              <a:spcBef>
                <a:spcPts val="600"/>
              </a:spcBef>
              <a:buFont typeface="+mj-lt"/>
              <a:buAutoNum type="arabicPeriod"/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26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Operasi pada Stack berbasis Array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713981" y="529818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9" name="object 5"/>
          <p:cNvSpPr txBox="1"/>
          <p:nvPr/>
        </p:nvSpPr>
        <p:spPr>
          <a:xfrm>
            <a:off x="6735826" y="491439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0" name="object 6"/>
          <p:cNvSpPr/>
          <p:nvPr/>
        </p:nvSpPr>
        <p:spPr>
          <a:xfrm>
            <a:off x="6424421" y="292836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1" name="object 7"/>
          <p:cNvGraphicFramePr>
            <a:graphicFrameLocks noGrp="1"/>
          </p:cNvGraphicFramePr>
          <p:nvPr/>
        </p:nvGraphicFramePr>
        <p:xfrm>
          <a:off x="7915656" y="363016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8"/>
          <p:cNvSpPr txBox="1"/>
          <p:nvPr/>
        </p:nvSpPr>
        <p:spPr>
          <a:xfrm>
            <a:off x="7560818" y="3664838"/>
            <a:ext cx="206375" cy="213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3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2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0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6713855" y="2464562"/>
            <a:ext cx="202882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88102" y="3542538"/>
            <a:ext cx="693420" cy="400685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73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671184" y="3158108"/>
            <a:ext cx="212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P</a:t>
            </a:r>
          </a:p>
        </p:txBody>
      </p:sp>
      <p:sp>
        <p:nvSpPr>
          <p:cNvPr id="7" name="object 9"/>
          <p:cNvSpPr txBox="1"/>
          <p:nvPr/>
        </p:nvSpPr>
        <p:spPr>
          <a:xfrm>
            <a:off x="8148955" y="5441315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U</a:t>
            </a:r>
          </a:p>
        </p:txBody>
      </p:sp>
      <p:sp>
        <p:nvSpPr>
          <p:cNvPr id="25" name="object 11"/>
          <p:cNvSpPr txBox="1"/>
          <p:nvPr/>
        </p:nvSpPr>
        <p:spPr>
          <a:xfrm>
            <a:off x="8217154" y="318896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reateStack(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sEmpty(S)</a:t>
            </a: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{return True}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IsFull(S)		{return False}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P)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Q)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57200" indent="0" latinLnBrk="0">
              <a:lnSpc>
                <a:spcPct val="80000"/>
              </a:lnSpc>
              <a:spcBef>
                <a:spcPts val="600"/>
              </a:spcBef>
              <a:buFont typeface="+mj-lt"/>
              <a:buAutoNum type="arabicPeriod"/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27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Primitif pada Stack berbasis Array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713981" y="529818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</a:p>
        </p:txBody>
      </p:sp>
      <p:sp>
        <p:nvSpPr>
          <p:cNvPr id="9" name="object 5"/>
          <p:cNvSpPr txBox="1"/>
          <p:nvPr/>
        </p:nvSpPr>
        <p:spPr>
          <a:xfrm>
            <a:off x="6735826" y="491439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0" name="object 6"/>
          <p:cNvSpPr/>
          <p:nvPr/>
        </p:nvSpPr>
        <p:spPr>
          <a:xfrm>
            <a:off x="6424421" y="292836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1" name="object 7"/>
          <p:cNvGraphicFramePr>
            <a:graphicFrameLocks noGrp="1"/>
          </p:cNvGraphicFramePr>
          <p:nvPr/>
        </p:nvGraphicFramePr>
        <p:xfrm>
          <a:off x="7915656" y="363016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8"/>
          <p:cNvSpPr txBox="1"/>
          <p:nvPr/>
        </p:nvSpPr>
        <p:spPr>
          <a:xfrm>
            <a:off x="7560818" y="3664838"/>
            <a:ext cx="206375" cy="213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3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2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0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6713855" y="2464562"/>
            <a:ext cx="202882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88102" y="3542538"/>
            <a:ext cx="693420" cy="400685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73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V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671184" y="3158108"/>
            <a:ext cx="21209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Q</a:t>
            </a:r>
          </a:p>
        </p:txBody>
      </p:sp>
      <p:sp>
        <p:nvSpPr>
          <p:cNvPr id="7" name="object 9"/>
          <p:cNvSpPr txBox="1"/>
          <p:nvPr/>
        </p:nvSpPr>
        <p:spPr>
          <a:xfrm>
            <a:off x="8148955" y="536956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U</a:t>
            </a:r>
          </a:p>
        </p:txBody>
      </p:sp>
      <p:sp>
        <p:nvSpPr>
          <p:cNvPr id="25" name="object 11"/>
          <p:cNvSpPr txBox="1"/>
          <p:nvPr/>
        </p:nvSpPr>
        <p:spPr>
          <a:xfrm>
            <a:off x="8217154" y="318896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sp>
        <p:nvSpPr>
          <p:cNvPr id="14" name="object 9"/>
          <p:cNvSpPr txBox="1"/>
          <p:nvPr/>
        </p:nvSpPr>
        <p:spPr>
          <a:xfrm>
            <a:off x="8149590" y="4812665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V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reateStack(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sEmpty(S)</a:t>
            </a: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{return True}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IsFull(S)		{return False}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P)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Q)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Pop(S, R)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57200" indent="0" latinLnBrk="0">
              <a:lnSpc>
                <a:spcPct val="80000"/>
              </a:lnSpc>
              <a:spcBef>
                <a:spcPts val="600"/>
              </a:spcBef>
              <a:buFont typeface="+mj-lt"/>
              <a:buAutoNum type="arabicPeriod"/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28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Operasi pada Stack berbasis Array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713981" y="529818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alt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0</a:t>
            </a:r>
          </a:p>
        </p:txBody>
      </p:sp>
      <p:sp>
        <p:nvSpPr>
          <p:cNvPr id="9" name="object 5"/>
          <p:cNvSpPr txBox="1"/>
          <p:nvPr/>
        </p:nvSpPr>
        <p:spPr>
          <a:xfrm>
            <a:off x="6735826" y="491439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0" name="object 6"/>
          <p:cNvSpPr/>
          <p:nvPr/>
        </p:nvSpPr>
        <p:spPr>
          <a:xfrm>
            <a:off x="6424421" y="292836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1" name="object 7"/>
          <p:cNvGraphicFramePr>
            <a:graphicFrameLocks noGrp="1"/>
          </p:cNvGraphicFramePr>
          <p:nvPr/>
        </p:nvGraphicFramePr>
        <p:xfrm>
          <a:off x="7915656" y="363016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8"/>
          <p:cNvSpPr txBox="1"/>
          <p:nvPr/>
        </p:nvSpPr>
        <p:spPr>
          <a:xfrm>
            <a:off x="7560818" y="3664838"/>
            <a:ext cx="206375" cy="213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3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2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0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6713855" y="2464562"/>
            <a:ext cx="202882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88102" y="3542538"/>
            <a:ext cx="693420" cy="400685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73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V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671184" y="3158108"/>
            <a:ext cx="21209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R</a:t>
            </a:r>
          </a:p>
        </p:txBody>
      </p:sp>
      <p:sp>
        <p:nvSpPr>
          <p:cNvPr id="7" name="object 9"/>
          <p:cNvSpPr txBox="1"/>
          <p:nvPr/>
        </p:nvSpPr>
        <p:spPr>
          <a:xfrm>
            <a:off x="8148955" y="536956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U</a:t>
            </a:r>
          </a:p>
        </p:txBody>
      </p:sp>
      <p:sp>
        <p:nvSpPr>
          <p:cNvPr id="25" name="object 11"/>
          <p:cNvSpPr txBox="1"/>
          <p:nvPr/>
        </p:nvSpPr>
        <p:spPr>
          <a:xfrm>
            <a:off x="8217154" y="318896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reateStack(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sEmpty(S)</a:t>
            </a: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{return True}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IsFull(S)		{return False}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P)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Q)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Pop(S, R)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K)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57200" indent="0" latinLnBrk="0">
              <a:lnSpc>
                <a:spcPct val="80000"/>
              </a:lnSpc>
              <a:spcBef>
                <a:spcPts val="600"/>
              </a:spcBef>
              <a:buFont typeface="+mj-lt"/>
              <a:buAutoNum type="arabicPeriod"/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29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Operasi pada Stack berbasis Array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713981" y="529818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alt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1</a:t>
            </a:r>
          </a:p>
        </p:txBody>
      </p:sp>
      <p:sp>
        <p:nvSpPr>
          <p:cNvPr id="9" name="object 5"/>
          <p:cNvSpPr txBox="1"/>
          <p:nvPr/>
        </p:nvSpPr>
        <p:spPr>
          <a:xfrm>
            <a:off x="6735826" y="491439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0" name="object 6"/>
          <p:cNvSpPr/>
          <p:nvPr/>
        </p:nvSpPr>
        <p:spPr>
          <a:xfrm>
            <a:off x="6424421" y="292836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1" name="object 7"/>
          <p:cNvGraphicFramePr>
            <a:graphicFrameLocks noGrp="1"/>
          </p:cNvGraphicFramePr>
          <p:nvPr/>
        </p:nvGraphicFramePr>
        <p:xfrm>
          <a:off x="7915656" y="363016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8"/>
          <p:cNvSpPr txBox="1"/>
          <p:nvPr/>
        </p:nvSpPr>
        <p:spPr>
          <a:xfrm>
            <a:off x="7560818" y="3664838"/>
            <a:ext cx="206375" cy="213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3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2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0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6713855" y="2464562"/>
            <a:ext cx="202882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88102" y="3542538"/>
            <a:ext cx="693420" cy="400685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73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L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671184" y="3158108"/>
            <a:ext cx="21209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K</a:t>
            </a:r>
          </a:p>
        </p:txBody>
      </p:sp>
      <p:sp>
        <p:nvSpPr>
          <p:cNvPr id="7" name="object 9"/>
          <p:cNvSpPr txBox="1"/>
          <p:nvPr/>
        </p:nvSpPr>
        <p:spPr>
          <a:xfrm>
            <a:off x="8148955" y="536956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U</a:t>
            </a:r>
          </a:p>
        </p:txBody>
      </p:sp>
      <p:sp>
        <p:nvSpPr>
          <p:cNvPr id="25" name="object 11"/>
          <p:cNvSpPr txBox="1"/>
          <p:nvPr/>
        </p:nvSpPr>
        <p:spPr>
          <a:xfrm>
            <a:off x="8217154" y="318896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sp>
        <p:nvSpPr>
          <p:cNvPr id="14" name="object 9"/>
          <p:cNvSpPr txBox="1"/>
          <p:nvPr/>
        </p:nvSpPr>
        <p:spPr>
          <a:xfrm>
            <a:off x="8148955" y="482727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L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reateStack(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sEmpty(S)</a:t>
            </a: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{return True}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IsFull(S)		{return False}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P)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Q)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Pop(S, R)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K)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L)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57200" indent="0" latinLnBrk="0">
              <a:lnSpc>
                <a:spcPct val="80000"/>
              </a:lnSpc>
              <a:spcBef>
                <a:spcPts val="600"/>
              </a:spcBef>
              <a:buFont typeface="+mj-lt"/>
              <a:buAutoNum type="arabicPeriod"/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30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Operasi pada Stack berbasis Array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713981" y="529818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alt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2</a:t>
            </a:r>
          </a:p>
        </p:txBody>
      </p:sp>
      <p:sp>
        <p:nvSpPr>
          <p:cNvPr id="9" name="object 5"/>
          <p:cNvSpPr txBox="1"/>
          <p:nvPr/>
        </p:nvSpPr>
        <p:spPr>
          <a:xfrm>
            <a:off x="6735826" y="491439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0" name="object 6"/>
          <p:cNvSpPr/>
          <p:nvPr/>
        </p:nvSpPr>
        <p:spPr>
          <a:xfrm>
            <a:off x="6424421" y="292836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1" name="object 7"/>
          <p:cNvGraphicFramePr>
            <a:graphicFrameLocks noGrp="1"/>
          </p:cNvGraphicFramePr>
          <p:nvPr/>
        </p:nvGraphicFramePr>
        <p:xfrm>
          <a:off x="7915656" y="363016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8"/>
          <p:cNvSpPr txBox="1"/>
          <p:nvPr/>
        </p:nvSpPr>
        <p:spPr>
          <a:xfrm>
            <a:off x="7560818" y="3664838"/>
            <a:ext cx="206375" cy="213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3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2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0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6713855" y="2464562"/>
            <a:ext cx="202882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88102" y="3542538"/>
            <a:ext cx="693420" cy="400685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73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671184" y="3158108"/>
            <a:ext cx="21209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L</a:t>
            </a:r>
          </a:p>
        </p:txBody>
      </p:sp>
      <p:sp>
        <p:nvSpPr>
          <p:cNvPr id="7" name="object 9"/>
          <p:cNvSpPr txBox="1"/>
          <p:nvPr/>
        </p:nvSpPr>
        <p:spPr>
          <a:xfrm>
            <a:off x="8148955" y="536956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U</a:t>
            </a:r>
          </a:p>
        </p:txBody>
      </p:sp>
      <p:sp>
        <p:nvSpPr>
          <p:cNvPr id="25" name="object 11"/>
          <p:cNvSpPr txBox="1"/>
          <p:nvPr/>
        </p:nvSpPr>
        <p:spPr>
          <a:xfrm>
            <a:off x="8217154" y="318896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sp>
        <p:nvSpPr>
          <p:cNvPr id="14" name="object 9"/>
          <p:cNvSpPr txBox="1"/>
          <p:nvPr/>
        </p:nvSpPr>
        <p:spPr>
          <a:xfrm>
            <a:off x="8148955" y="482727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L</a:t>
            </a:r>
          </a:p>
        </p:txBody>
      </p:sp>
      <p:sp>
        <p:nvSpPr>
          <p:cNvPr id="17" name="object 9"/>
          <p:cNvSpPr txBox="1"/>
          <p:nvPr/>
        </p:nvSpPr>
        <p:spPr>
          <a:xfrm>
            <a:off x="8148955" y="432054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E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reateStack(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sEmpty(S)</a:t>
            </a: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{return True}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IsFull(S)		{return False}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P)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Q)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Pop(S, R)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K)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L)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M)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57200" indent="0" latinLnBrk="0">
              <a:lnSpc>
                <a:spcPct val="80000"/>
              </a:lnSpc>
              <a:spcBef>
                <a:spcPts val="600"/>
              </a:spcBef>
              <a:buFont typeface="+mj-lt"/>
              <a:buAutoNum type="arabicPeriod"/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31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Operasi pada Stack berbasis Array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713981" y="529818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alt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</a:p>
        </p:txBody>
      </p:sp>
      <p:sp>
        <p:nvSpPr>
          <p:cNvPr id="9" name="object 5"/>
          <p:cNvSpPr txBox="1"/>
          <p:nvPr/>
        </p:nvSpPr>
        <p:spPr>
          <a:xfrm>
            <a:off x="6735826" y="491439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0" name="object 6"/>
          <p:cNvSpPr/>
          <p:nvPr/>
        </p:nvSpPr>
        <p:spPr>
          <a:xfrm>
            <a:off x="6424421" y="292836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1" name="object 7"/>
          <p:cNvGraphicFramePr>
            <a:graphicFrameLocks noGrp="1"/>
          </p:cNvGraphicFramePr>
          <p:nvPr/>
        </p:nvGraphicFramePr>
        <p:xfrm>
          <a:off x="7915656" y="363016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8"/>
          <p:cNvSpPr txBox="1"/>
          <p:nvPr/>
        </p:nvSpPr>
        <p:spPr>
          <a:xfrm>
            <a:off x="7560818" y="3664838"/>
            <a:ext cx="206375" cy="213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3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2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0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6713855" y="2464562"/>
            <a:ext cx="202882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88102" y="3542538"/>
            <a:ext cx="693420" cy="400685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73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671184" y="3158108"/>
            <a:ext cx="21209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M</a:t>
            </a:r>
          </a:p>
        </p:txBody>
      </p:sp>
      <p:sp>
        <p:nvSpPr>
          <p:cNvPr id="7" name="object 9"/>
          <p:cNvSpPr txBox="1"/>
          <p:nvPr/>
        </p:nvSpPr>
        <p:spPr>
          <a:xfrm>
            <a:off x="8148955" y="536956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U</a:t>
            </a:r>
          </a:p>
        </p:txBody>
      </p:sp>
      <p:sp>
        <p:nvSpPr>
          <p:cNvPr id="25" name="object 11"/>
          <p:cNvSpPr txBox="1"/>
          <p:nvPr/>
        </p:nvSpPr>
        <p:spPr>
          <a:xfrm>
            <a:off x="8217154" y="318896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sp>
        <p:nvSpPr>
          <p:cNvPr id="14" name="object 9"/>
          <p:cNvSpPr txBox="1"/>
          <p:nvPr/>
        </p:nvSpPr>
        <p:spPr>
          <a:xfrm>
            <a:off x="8148955" y="482727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L</a:t>
            </a:r>
          </a:p>
        </p:txBody>
      </p:sp>
      <p:sp>
        <p:nvSpPr>
          <p:cNvPr id="17" name="object 9"/>
          <p:cNvSpPr txBox="1"/>
          <p:nvPr/>
        </p:nvSpPr>
        <p:spPr>
          <a:xfrm>
            <a:off x="8148955" y="432054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E</a:t>
            </a:r>
          </a:p>
        </p:txBody>
      </p:sp>
      <p:sp>
        <p:nvSpPr>
          <p:cNvPr id="18" name="object 9"/>
          <p:cNvSpPr txBox="1"/>
          <p:nvPr/>
        </p:nvSpPr>
        <p:spPr>
          <a:xfrm>
            <a:off x="8148955" y="3764915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reateStack(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sEmpty(S)</a:t>
            </a: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{return True}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IsFull(S)		{return False}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P)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Q)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Pop(S, R)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K)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L)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M)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N)		{gagal}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57200" indent="0" latinLnBrk="0">
              <a:lnSpc>
                <a:spcPct val="80000"/>
              </a:lnSpc>
              <a:spcBef>
                <a:spcPts val="600"/>
              </a:spcBef>
              <a:buFont typeface="+mj-lt"/>
              <a:buAutoNum type="arabicPeriod"/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32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Operasi pada Stack berbasis Array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713981" y="529818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alt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</a:p>
        </p:txBody>
      </p:sp>
      <p:sp>
        <p:nvSpPr>
          <p:cNvPr id="9" name="object 5"/>
          <p:cNvSpPr txBox="1"/>
          <p:nvPr/>
        </p:nvSpPr>
        <p:spPr>
          <a:xfrm>
            <a:off x="6735826" y="491439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0" name="object 6"/>
          <p:cNvSpPr/>
          <p:nvPr/>
        </p:nvSpPr>
        <p:spPr>
          <a:xfrm>
            <a:off x="6424421" y="292836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1" name="object 7"/>
          <p:cNvGraphicFramePr>
            <a:graphicFrameLocks noGrp="1"/>
          </p:cNvGraphicFramePr>
          <p:nvPr/>
        </p:nvGraphicFramePr>
        <p:xfrm>
          <a:off x="7915656" y="363016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8"/>
          <p:cNvSpPr txBox="1"/>
          <p:nvPr/>
        </p:nvSpPr>
        <p:spPr>
          <a:xfrm>
            <a:off x="7560818" y="3664838"/>
            <a:ext cx="206375" cy="213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3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2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0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6713855" y="2464562"/>
            <a:ext cx="202882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88102" y="3542538"/>
            <a:ext cx="693420" cy="400685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73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V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671184" y="3158108"/>
            <a:ext cx="21209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N</a:t>
            </a:r>
          </a:p>
        </p:txBody>
      </p:sp>
      <p:sp>
        <p:nvSpPr>
          <p:cNvPr id="7" name="object 9"/>
          <p:cNvSpPr txBox="1"/>
          <p:nvPr/>
        </p:nvSpPr>
        <p:spPr>
          <a:xfrm>
            <a:off x="8148955" y="536956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U</a:t>
            </a:r>
          </a:p>
        </p:txBody>
      </p:sp>
      <p:sp>
        <p:nvSpPr>
          <p:cNvPr id="25" name="object 11"/>
          <p:cNvSpPr txBox="1"/>
          <p:nvPr/>
        </p:nvSpPr>
        <p:spPr>
          <a:xfrm>
            <a:off x="8217154" y="318896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sp>
        <p:nvSpPr>
          <p:cNvPr id="14" name="object 9"/>
          <p:cNvSpPr txBox="1"/>
          <p:nvPr/>
        </p:nvSpPr>
        <p:spPr>
          <a:xfrm>
            <a:off x="8148955" y="482727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L</a:t>
            </a:r>
          </a:p>
        </p:txBody>
      </p:sp>
      <p:sp>
        <p:nvSpPr>
          <p:cNvPr id="17" name="object 9"/>
          <p:cNvSpPr txBox="1"/>
          <p:nvPr/>
        </p:nvSpPr>
        <p:spPr>
          <a:xfrm>
            <a:off x="8148955" y="432054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E</a:t>
            </a:r>
          </a:p>
        </p:txBody>
      </p:sp>
      <p:sp>
        <p:nvSpPr>
          <p:cNvPr id="18" name="object 9"/>
          <p:cNvSpPr txBox="1"/>
          <p:nvPr/>
        </p:nvSpPr>
        <p:spPr>
          <a:xfrm>
            <a:off x="8148955" y="3764915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reateStack(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</a:t>
            </a:r>
            <a:r>
              <a:rPr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sEmpty(S)</a:t>
            </a: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</a:t>
            </a: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{return True}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IsFull(S)		{return False}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P)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Q)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Pop(S, R)</a:t>
            </a: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K)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L)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M)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alt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Push(S, N)		{gagal}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42900" indent="0" latinLnBrk="0">
              <a:lnSpc>
                <a:spcPct val="80000"/>
              </a:lnSpc>
              <a:spcBef>
                <a:spcPts val="600"/>
              </a:spcBef>
              <a:buFont typeface="Arial" panose="02080604020202020204" pitchFamily="34" charset="0"/>
              <a:buChar char="•"/>
            </a:pPr>
            <a:r>
              <a:rPr lang="en-US" sz="2000" spc="-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IsFull(S)		{return True}</a:t>
            </a:r>
            <a:endParaRPr sz="2000" spc="-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57200" indent="0" latinLnBrk="0">
              <a:lnSpc>
                <a:spcPct val="80000"/>
              </a:lnSpc>
              <a:spcBef>
                <a:spcPts val="600"/>
              </a:spcBef>
              <a:buFont typeface="+mj-lt"/>
              <a:buAutoNum type="arabicPeriod"/>
            </a:pPr>
            <a:endParaRPr lang="en-US" altLang="en-US" sz="20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33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Operasi pada Stack berbasis Array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713981" y="5298185"/>
            <a:ext cx="693420" cy="463550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altLang="en-US" sz="2400" b="1" dirty="0">
                <a:latin typeface="Arial" panose="02080604020202020204" pitchFamily="34" charset="0"/>
                <a:cs typeface="Arial" panose="02080604020202020204" pitchFamily="34" charset="0"/>
              </a:rPr>
              <a:t>3</a:t>
            </a:r>
          </a:p>
        </p:txBody>
      </p:sp>
      <p:sp>
        <p:nvSpPr>
          <p:cNvPr id="9" name="object 5"/>
          <p:cNvSpPr txBox="1"/>
          <p:nvPr/>
        </p:nvSpPr>
        <p:spPr>
          <a:xfrm>
            <a:off x="6735826" y="4914391"/>
            <a:ext cx="552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Top</a:t>
            </a:r>
          </a:p>
        </p:txBody>
      </p:sp>
      <p:sp>
        <p:nvSpPr>
          <p:cNvPr id="10" name="object 6"/>
          <p:cNvSpPr/>
          <p:nvPr/>
        </p:nvSpPr>
        <p:spPr>
          <a:xfrm>
            <a:off x="6424421" y="2928366"/>
            <a:ext cx="2479675" cy="3104515"/>
          </a:xfrm>
          <a:custGeom>
            <a:avLst/>
            <a:gdLst/>
            <a:ahLst/>
            <a:cxnLst/>
            <a:rect l="l" t="t" r="r" b="b"/>
            <a:pathLst>
              <a:path w="2479675" h="3104515">
                <a:moveTo>
                  <a:pt x="0" y="3104388"/>
                </a:moveTo>
                <a:lnTo>
                  <a:pt x="2479548" y="3104388"/>
                </a:lnTo>
                <a:lnTo>
                  <a:pt x="2479548" y="0"/>
                </a:lnTo>
                <a:lnTo>
                  <a:pt x="0" y="0"/>
                </a:lnTo>
                <a:lnTo>
                  <a:pt x="0" y="3104388"/>
                </a:lnTo>
                <a:close/>
              </a:path>
            </a:pathLst>
          </a:custGeom>
          <a:ln w="502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1" name="object 7"/>
          <p:cNvGraphicFramePr>
            <a:graphicFrameLocks noGrp="1"/>
          </p:cNvGraphicFramePr>
          <p:nvPr/>
        </p:nvGraphicFramePr>
        <p:xfrm>
          <a:off x="7915656" y="3630167"/>
          <a:ext cx="761365" cy="224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5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8"/>
          <p:cNvSpPr txBox="1"/>
          <p:nvPr/>
        </p:nvSpPr>
        <p:spPr>
          <a:xfrm>
            <a:off x="7560818" y="3664838"/>
            <a:ext cx="206375" cy="213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3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2</a:t>
            </a:r>
            <a:endParaRPr lang="en-US"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b="1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1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0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6713855" y="2464562"/>
            <a:ext cx="2028825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dirty="0">
                <a:latin typeface="Arial" panose="02080604020202020204" pitchFamily="34" charset="0"/>
                <a:cs typeface="Arial" panose="02080604020202020204" pitchFamily="34" charset="0"/>
              </a:rPr>
              <a:t>:</a:t>
            </a:r>
            <a:r>
              <a:rPr sz="2000" b="1" spc="-35" dirty="0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r>
              <a:rPr sz="2000" b="1" spc="-5" dirty="0">
                <a:latin typeface="Arial" panose="02080604020202020204" pitchFamily="34" charset="0"/>
                <a:cs typeface="Arial" panose="02080604020202020204" pitchFamily="34" charset="0"/>
              </a:rPr>
              <a:t>Stack</a:t>
            </a:r>
            <a:endParaRPr sz="200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88102" y="3542538"/>
            <a:ext cx="693420" cy="400685"/>
          </a:xfrm>
          <a:prstGeom prst="rect">
            <a:avLst/>
          </a:prstGeom>
          <a:solidFill>
            <a:srgbClr val="0066A0"/>
          </a:solidFill>
          <a:ln w="38100">
            <a:solidFill>
              <a:srgbClr val="000000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73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V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671184" y="3158108"/>
            <a:ext cx="21209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N</a:t>
            </a:r>
          </a:p>
        </p:txBody>
      </p:sp>
      <p:sp>
        <p:nvSpPr>
          <p:cNvPr id="7" name="object 9"/>
          <p:cNvSpPr txBox="1"/>
          <p:nvPr/>
        </p:nvSpPr>
        <p:spPr>
          <a:xfrm>
            <a:off x="8148955" y="536956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U</a:t>
            </a:r>
          </a:p>
        </p:txBody>
      </p:sp>
      <p:sp>
        <p:nvSpPr>
          <p:cNvPr id="25" name="object 11"/>
          <p:cNvSpPr txBox="1"/>
          <p:nvPr/>
        </p:nvSpPr>
        <p:spPr>
          <a:xfrm>
            <a:off x="8217154" y="3188969"/>
            <a:ext cx="267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  <p:sp>
        <p:nvSpPr>
          <p:cNvPr id="14" name="object 9"/>
          <p:cNvSpPr txBox="1"/>
          <p:nvPr/>
        </p:nvSpPr>
        <p:spPr>
          <a:xfrm>
            <a:off x="8148955" y="482727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L</a:t>
            </a:r>
          </a:p>
        </p:txBody>
      </p:sp>
      <p:sp>
        <p:nvSpPr>
          <p:cNvPr id="17" name="object 9"/>
          <p:cNvSpPr txBox="1"/>
          <p:nvPr/>
        </p:nvSpPr>
        <p:spPr>
          <a:xfrm>
            <a:off x="8148955" y="4320540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E</a:t>
            </a:r>
          </a:p>
        </p:txBody>
      </p:sp>
      <p:sp>
        <p:nvSpPr>
          <p:cNvPr id="18" name="object 9"/>
          <p:cNvSpPr txBox="1"/>
          <p:nvPr/>
        </p:nvSpPr>
        <p:spPr>
          <a:xfrm>
            <a:off x="8148955" y="3764915"/>
            <a:ext cx="227330" cy="320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3270" algn="l">
              <a:lnSpc>
                <a:spcPct val="100000"/>
              </a:lnSpc>
              <a:spcBef>
                <a:spcPts val="105"/>
              </a:spcBef>
            </a:pPr>
            <a:r>
              <a:rPr lang="en-US" altLang="en-US" sz="2000" b="1" dirty="0">
                <a:latin typeface="Arial" panose="02080604020202020204" pitchFamily="34" charset="0"/>
                <a:cs typeface="Arial" panose="02080604020202020204" pitchFamily="34" charset="0"/>
              </a:rPr>
              <a:t>T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</a:rPr>
              <a:t>Question?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5500" y="1977390"/>
            <a:ext cx="2326005" cy="333375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>
                <a:latin typeface="Arial" panose="02080604020202020204" pitchFamily="34" charset="0"/>
                <a:cs typeface="Arial" panose="02080604020202020204" pitchFamily="34" charset="0"/>
              </a:rPr>
              <a:t>Stack - Various Operation - Middle Level</a:t>
            </a:r>
          </a:p>
        </p:txBody>
      </p:sp>
      <p:pic>
        <p:nvPicPr>
          <p:cNvPr id="19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685" y="2143760"/>
            <a:ext cx="3429635" cy="3923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36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Print stack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PrintStack(in/out S : Stack)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{I.S Terdefinisi Stack S yang sudah terisi. Gunakan fungsi isEmpty &amp; pop untuk mencetak setiap elemen stack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F.S Setiap elemen akan dikeluarkan dari Stack dan ditampilkan }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temp : infotype</a:t>
            </a:r>
            <a:endParaRPr lang="en-US" altLang="en-US" sz="14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while (!isEmpty(S))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pop(S, temp)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Output(temp)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755" y="437388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37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Swap Stack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SwapStack(in/out S : Stack, out : tempStack)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{I.S Terdefinisi Stack S yang mungkin kosong. Gunakan fungsi isEmpty, push &amp; pop untuk menukar elemen dalam Stack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F.S Elemen pada index ke i akan bertukar dengan elemen ke i-1 }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temp : infotype</a:t>
            </a:r>
            <a:endParaRPr lang="en-US" altLang="en-US" sz="14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if (isEmpty(S))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Output(‘Stack is empty’)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else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while (!isEmpty(S))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pop(S, temp)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push(tempStack, temp)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755" y="437388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38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Pop element on n-th index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Popth(in/out S : Stack, in index : int, in/out P : infotype)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{I.S Terdefinisi Stack S yang sudah terisi. Gunakan fungsi isEmpty, push &amp; pop untuk mengeluarkan elemen di posisi index ke-n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F.S Elemen pada index ke-n akan dikeluarkan dari dalam Stack }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tempStack : Stack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temp : infotype</a:t>
            </a:r>
            <a:endParaRPr lang="en-US" altLang="en-US" sz="14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while (S.Top != index)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pop(S, temp)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push(tempStack, temp)</a:t>
            </a:r>
          </a:p>
          <a:p>
            <a:pPr marL="0" indent="0" latinLnBrk="0">
              <a:spcBef>
                <a:spcPts val="300"/>
              </a:spcBef>
              <a:buNone/>
            </a:pPr>
            <a:endParaRPr lang="en-US" sz="14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pop(S, P)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(!isEmpty(tempStack))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pop(tempStack, temp)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push(S, temp)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755" y="437388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39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Is Palindrome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function isPalindrome(in S : Stack) </a:t>
            </a:r>
            <a:r>
              <a:rPr lang="en-US" alt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→ Boolean</a:t>
            </a:r>
            <a:endParaRPr lang="en-US" altLang="en-US" sz="14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{I.S Terdefinisi Stack S yang sudah terisi. Gunakan fungsi isEmpty, push dan pop mengecek apakah elemen dalam Stack bernilai palindrom atau tidak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755" y="437388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40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Is Palindrome (cont’)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while (!isEmpty(S))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pop(S, val)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        push(tempStack, val)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       		push(reversedStack, val)</a:t>
            </a:r>
          </a:p>
          <a:p>
            <a:pPr marL="0" indent="0" latinLnBrk="0">
              <a:spcBef>
                <a:spcPts val="300"/>
              </a:spcBef>
              <a:buNone/>
            </a:pPr>
            <a:endParaRPr lang="en-US" sz="14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(!isEmpty(tempStack)) 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        pop(tempStack, val)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       		push(S, val)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(!isEmpty(S) &amp;&amp; !isEmpty(reversedStack) &amp;&amp; palindrome)         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        pop(S, valOri)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       		pop(reversedStack, valRev)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       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        if (valOri != valRev) 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       		    palindrome = false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   return palindrome;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755" y="437388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41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10/21/2025</a:t>
            </a:fld>
            <a:endParaRPr 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65125" y="1140837"/>
            <a:ext cx="8326438" cy="641239"/>
          </a:xfrm>
        </p:spPr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Push Sort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78244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Popth(in/out S : Stack, in index : int, in/out P : infotype)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{I.S Terdefinisi Stack S yang mungkin penuh. Gunakan fungsi isEmpty, push &amp; pop untuk mengurutkan isi Stack pada saat proses pop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F.S Stack S dalam keadaan terurut secara ascending }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tempStack : Stack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tempVal : infotype</a:t>
            </a:r>
            <a:endParaRPr lang="en-US" altLang="en-US" sz="14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if (isFull(S)) 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       		Output(“Stack is full”)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else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       		while ((S.info[S.Top] &gt; P) &amp;&amp; (!isEmpty(S))) 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           		pop(S, tempVal)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	push(tempStack, tempVal)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        push(S, P);</a:t>
            </a:r>
          </a:p>
          <a:p>
            <a:pPr marL="0" indent="0" latinLnBrk="0">
              <a:spcBef>
                <a:spcPts val="300"/>
              </a:spcBef>
              <a:buNone/>
            </a:pP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       while (!isEmpty(tempStack)) 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           pop(tempStack, tempVal)</a:t>
            </a: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            push(S, tempVal);</a:t>
            </a:r>
          </a:p>
          <a:p>
            <a:pPr marL="0" indent="0" latinLnBrk="0">
              <a:spcBef>
                <a:spcPts val="300"/>
              </a:spcBef>
              <a:buNone/>
            </a:pP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755" y="437388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358775" cy="365125"/>
          </a:xfrm>
        </p:spPr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t>42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1643063" cy="365125"/>
          </a:xfrm>
        </p:spPr>
        <p:txBody>
          <a:bodyPr/>
          <a:lstStyle/>
          <a:p>
            <a:pPr>
              <a:defRPr/>
            </a:pPr>
            <a:fld id="{BDF9ACDF-1E6F-4801-9B61-F59A09F6E115}" type="datetime1">
              <a:rPr lang="en-US" smtClean="0"/>
              <a:t>10/21/2025</a:t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1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6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3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4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5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6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7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8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0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1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3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4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25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6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7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7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9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4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9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8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0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6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1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5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29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0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3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4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35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ieee_presentation_template.pot</Template>
  <TotalTime>0</TotalTime>
  <Words>2543</Words>
  <Application>Microsoft Office PowerPoint</Application>
  <PresentationFormat>On-screen Show (4:3)</PresentationFormat>
  <Paragraphs>689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38</vt:i4>
      </vt:variant>
      <vt:variant>
        <vt:lpstr>Slide Titles</vt:lpstr>
      </vt:variant>
      <vt:variant>
        <vt:i4>42</vt:i4>
      </vt:variant>
    </vt:vector>
  </HeadingPairs>
  <TitlesOfParts>
    <vt:vector size="87" baseType="lpstr">
      <vt:lpstr>Andika</vt:lpstr>
      <vt:lpstr>Arial</vt:lpstr>
      <vt:lpstr>Brush Script Std</vt:lpstr>
      <vt:lpstr>Calibri</vt:lpstr>
      <vt:lpstr>Lucida Grande</vt:lpstr>
      <vt:lpstr>Verdana</vt:lpstr>
      <vt:lpstr>Wingdings</vt:lpstr>
      <vt:lpstr>template_informatika_slide</vt:lpstr>
      <vt:lpstr>42_template_informatika_slide</vt:lpstr>
      <vt:lpstr>1_template_informatika_slide</vt:lpstr>
      <vt:lpstr>31_template_informatika_slide</vt:lpstr>
      <vt:lpstr>66_template_informatika_slide</vt:lpstr>
      <vt:lpstr>2_template_informatika_slide</vt:lpstr>
      <vt:lpstr>13_template_informatika_slide</vt:lpstr>
      <vt:lpstr>14_template_informatika_slide</vt:lpstr>
      <vt:lpstr>15_template_informatika_slide</vt:lpstr>
      <vt:lpstr>16_template_informatika_slide</vt:lpstr>
      <vt:lpstr>17_template_informatika_slide</vt:lpstr>
      <vt:lpstr>18_template_informatika_slide</vt:lpstr>
      <vt:lpstr>20_template_informatika_slide</vt:lpstr>
      <vt:lpstr>21_template_informatika_slide</vt:lpstr>
      <vt:lpstr>22_template_informatika_slide</vt:lpstr>
      <vt:lpstr>23_template_informatika_slide</vt:lpstr>
      <vt:lpstr>24_template_informatika_slide</vt:lpstr>
      <vt:lpstr>25_template_informatika_slide</vt:lpstr>
      <vt:lpstr>26_template_informatika_slide</vt:lpstr>
      <vt:lpstr>27_template_informatika_slide</vt:lpstr>
      <vt:lpstr>7_template_informatika_slide</vt:lpstr>
      <vt:lpstr>9_template_informatika_slide</vt:lpstr>
      <vt:lpstr>8_template_informatika_slide</vt:lpstr>
      <vt:lpstr>4_template_informatika_slide</vt:lpstr>
      <vt:lpstr>19_template_informatika_slide</vt:lpstr>
      <vt:lpstr>28_template_informatika_slide</vt:lpstr>
      <vt:lpstr>10_template_informatika_slide</vt:lpstr>
      <vt:lpstr>6_template_informatika_slide</vt:lpstr>
      <vt:lpstr>11_template_informatika_slide</vt:lpstr>
      <vt:lpstr>5_template_informatika_slide</vt:lpstr>
      <vt:lpstr>3_template_informatika_slide</vt:lpstr>
      <vt:lpstr>12_template_informatika_slide</vt:lpstr>
      <vt:lpstr>29_template_informatika_slide</vt:lpstr>
      <vt:lpstr>30_template_informatika_slide</vt:lpstr>
      <vt:lpstr>32_template_informatika_slide</vt:lpstr>
      <vt:lpstr>33_template_informatika_slide</vt:lpstr>
      <vt:lpstr>34_template_informatika_slide</vt:lpstr>
      <vt:lpstr>35_template_informatika_slide</vt:lpstr>
      <vt:lpstr>CDK2AAB4 - Struktur Data Stack</vt:lpstr>
      <vt:lpstr>Stack</vt:lpstr>
      <vt:lpstr>Today Discussion</vt:lpstr>
      <vt:lpstr>Stack</vt:lpstr>
      <vt:lpstr>Stack</vt:lpstr>
      <vt:lpstr>Terminologi pada Stack</vt:lpstr>
      <vt:lpstr>ADT Stack menggunakan Array </vt:lpstr>
      <vt:lpstr>Primitif pada Stack berbasis Array</vt:lpstr>
      <vt:lpstr>Primitif tambahan </vt:lpstr>
      <vt:lpstr>Prosedur / Fungsi pembuatan Stack berbasis Array</vt:lpstr>
      <vt:lpstr>IsEmpty</vt:lpstr>
      <vt:lpstr>IsEmpty</vt:lpstr>
      <vt:lpstr>IsFull</vt:lpstr>
      <vt:lpstr>IsFull</vt:lpstr>
      <vt:lpstr>Push</vt:lpstr>
      <vt:lpstr>Push</vt:lpstr>
      <vt:lpstr>Push</vt:lpstr>
      <vt:lpstr>Push</vt:lpstr>
      <vt:lpstr>Pop</vt:lpstr>
      <vt:lpstr>Pop</vt:lpstr>
      <vt:lpstr>Pop</vt:lpstr>
      <vt:lpstr>Pop</vt:lpstr>
      <vt:lpstr>Operasi pada Stack berbasis Array</vt:lpstr>
      <vt:lpstr>Operasi pada Stack berbasis Array</vt:lpstr>
      <vt:lpstr>Operasi pada Stack berbasis Array</vt:lpstr>
      <vt:lpstr>Operasi pada Stack berbasis Array</vt:lpstr>
      <vt:lpstr>Primitif pada Stack berbasis Array</vt:lpstr>
      <vt:lpstr>Operasi pada Stack berbasis Array</vt:lpstr>
      <vt:lpstr>Operasi pada Stack berbasis Array</vt:lpstr>
      <vt:lpstr>Operasi pada Stack berbasis Array</vt:lpstr>
      <vt:lpstr>Operasi pada Stack berbasis Array</vt:lpstr>
      <vt:lpstr>Operasi pada Stack berbasis Array</vt:lpstr>
      <vt:lpstr>Operasi pada Stack berbasis Array</vt:lpstr>
      <vt:lpstr>Question?</vt:lpstr>
      <vt:lpstr>Stack - Various Operation - Middle Level</vt:lpstr>
      <vt:lpstr>Print stack</vt:lpstr>
      <vt:lpstr>Swap Stack</vt:lpstr>
      <vt:lpstr>Pop element on n-th index</vt:lpstr>
      <vt:lpstr>Is Palindrome</vt:lpstr>
      <vt:lpstr>Is Palindrome (cont’)</vt:lpstr>
      <vt:lpstr>Push Sort</vt:lpstr>
      <vt:lpstr>PowerPoint Presentation</vt:lpstr>
    </vt:vector>
  </TitlesOfParts>
  <Company>IEEE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anditya.arifianto@gmail.com</dc:creator>
  <cp:lastModifiedBy>02_103032400036_Sheren Aulia Azahra</cp:lastModifiedBy>
  <cp:revision>2431</cp:revision>
  <dcterms:created xsi:type="dcterms:W3CDTF">2025-10-17T02:38:03Z</dcterms:created>
  <dcterms:modified xsi:type="dcterms:W3CDTF">2025-10-21T13:41:57Z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