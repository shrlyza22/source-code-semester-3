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7" r:id="rId3"/>
    <p:sldMasterId id="2147483666" r:id="rId4"/>
    <p:sldMasterId id="2147483675" r:id="rId5"/>
    <p:sldMasterId id="2147483684" r:id="rId6"/>
    <p:sldMasterId id="2147483693" r:id="rId7"/>
    <p:sldMasterId id="2147483702" r:id="rId8"/>
    <p:sldMasterId id="2147483711" r:id="rId9"/>
    <p:sldMasterId id="2147483720" r:id="rId10"/>
    <p:sldMasterId id="2147483729" r:id="rId11"/>
    <p:sldMasterId id="2147483738" r:id="rId12"/>
    <p:sldMasterId id="2147483747" r:id="rId13"/>
    <p:sldMasterId id="2147483756" r:id="rId14"/>
    <p:sldMasterId id="2147483765" r:id="rId15"/>
    <p:sldMasterId id="2147483774" r:id="rId16"/>
  </p:sldMasterIdLst>
  <p:notesMasterIdLst>
    <p:notesMasterId r:id="rId42"/>
  </p:notesMasterIdLst>
  <p:handoutMasterIdLst>
    <p:handoutMasterId r:id="rId43"/>
  </p:handoutMasterIdLst>
  <p:sldIdLst>
    <p:sldId id="284" r:id="rId17"/>
    <p:sldId id="473" r:id="rId18"/>
    <p:sldId id="754" r:id="rId19"/>
    <p:sldId id="755" r:id="rId20"/>
    <p:sldId id="756" r:id="rId21"/>
    <p:sldId id="757" r:id="rId22"/>
    <p:sldId id="758" r:id="rId23"/>
    <p:sldId id="759" r:id="rId24"/>
    <p:sldId id="736" r:id="rId25"/>
    <p:sldId id="705" r:id="rId26"/>
    <p:sldId id="707" r:id="rId27"/>
    <p:sldId id="740" r:id="rId28"/>
    <p:sldId id="708" r:id="rId29"/>
    <p:sldId id="726" r:id="rId30"/>
    <p:sldId id="709" r:id="rId31"/>
    <p:sldId id="737" r:id="rId32"/>
    <p:sldId id="710" r:id="rId33"/>
    <p:sldId id="738" r:id="rId34"/>
    <p:sldId id="741" r:id="rId35"/>
    <p:sldId id="742" r:id="rId36"/>
    <p:sldId id="743" r:id="rId37"/>
    <p:sldId id="744" r:id="rId38"/>
    <p:sldId id="696" r:id="rId39"/>
    <p:sldId id="732" r:id="rId40"/>
    <p:sldId id="258" r:id="rId4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panose="020B0604030504040204" charset="0"/>
        <a:ea typeface="MS PGothic" charset="0"/>
        <a:cs typeface="MS PGothic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22" autoAdjust="0"/>
  </p:normalViewPr>
  <p:slideViewPr>
    <p:cSldViewPr snapToGrid="0" snapToObjects="1">
      <p:cViewPr varScale="1">
        <p:scale>
          <a:sx n="59" d="100"/>
          <a:sy n="59" d="100"/>
        </p:scale>
        <p:origin x="1602" y="42"/>
      </p:cViewPr>
      <p:guideLst>
        <p:guide orient="horz" pos="2208"/>
        <p:guide pos="285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943"/>
        <p:guide pos="213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25.xml"/><Relationship Id="rId40" Type="http://schemas.openxmlformats.org/officeDocument/2006/relationships/slide" Target="slides/slide2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3.xml"/><Relationship Id="rId38" Type="http://schemas.openxmlformats.org/officeDocument/2006/relationships/slide" Target="slides/slide22.xml"/><Relationship Id="rId37" Type="http://schemas.openxmlformats.org/officeDocument/2006/relationships/slide" Target="slides/slide21.xml"/><Relationship Id="rId36" Type="http://schemas.openxmlformats.org/officeDocument/2006/relationships/slide" Target="slides/slide20.xml"/><Relationship Id="rId35" Type="http://schemas.openxmlformats.org/officeDocument/2006/relationships/slide" Target="slides/slide19.xml"/><Relationship Id="rId34" Type="http://schemas.openxmlformats.org/officeDocument/2006/relationships/slide" Target="slides/slide18.xml"/><Relationship Id="rId33" Type="http://schemas.openxmlformats.org/officeDocument/2006/relationships/slide" Target="slides/slide17.xml"/><Relationship Id="rId32" Type="http://schemas.openxmlformats.org/officeDocument/2006/relationships/slide" Target="slides/slide16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slide" Target="slides/slide2.xml"/><Relationship Id="rId17" Type="http://schemas.openxmlformats.org/officeDocument/2006/relationships/slide" Target="slides/slide1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B9219-4A66-4B41-AFAD-B4DCC55121D3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99D96-90C2-44B4-8DCF-3216EB4C362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6F5A-DA36-4202-8F3F-DA89D0431918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BABC4-D3F8-4FEC-A081-17F891AA9F9F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ystogan\Downloads\Compressed\2917_internet_ppt\template_main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85" b="11855"/>
          <a:stretch>
            <a:fillRect/>
          </a:stretch>
        </p:blipFill>
        <p:spPr bwMode="auto">
          <a:xfrm>
            <a:off x="43394" y="3251531"/>
            <a:ext cx="3848669" cy="309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0" baseline="0">
                <a:solidFill>
                  <a:schemeClr val="tx1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 panose="020B0604030504040204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3E34E7C-67C8-447B-BFF2-5F493545B4A9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A0FCE97-1E5D-3942-9893-29D29393C492}" type="slidenum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9144000" cy="1269242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C:\Users\Mystogan\Pictures\Untitled-1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05" y="216578"/>
            <a:ext cx="3264827" cy="64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884EB-C6E3-684C-A39B-0E652C4E0E60}" type="slidenum">
              <a:rPr lang="en-US"/>
            </a:fld>
            <a:endParaRPr lang="en-US" dirty="0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372B2-DF04-45E7-9FAA-EB25E1652E34}" type="datetime1">
              <a:rPr lang="en-US" smtClean="0"/>
            </a:fld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40D16-EBF5-0D44-A21F-B32E9F609578}" type="slidenum">
              <a:rPr lang="en-US"/>
            </a:fld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F842B-8AA4-46C4-862C-D20F42E2A3DE}" type="datetime1">
              <a:rPr lang="en-US" smtClean="0"/>
            </a:fld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67590-0BC9-4B4A-95A3-307D97AD4B4F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79633-03C2-46A6-8858-4501C60B6D22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3C417-35D1-DE4B-9003-F2E94344F58E}" type="slidenum">
              <a:rPr lang="en-US"/>
            </a:fld>
            <a:endParaRPr lang="en-US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DB8BC-F81B-4C9F-809F-D353B8ED8859}" type="datetime1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0"/>
          <p:cNvSpPr>
            <a:spLocks noGrp="1"/>
          </p:cNvSpPr>
          <p:nvPr>
            <p:ph type="body" sz="quarter" idx="28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defRPr sz="2000"/>
            </a:lvl1pPr>
          </a:lstStyle>
          <a:p>
            <a:pPr lvl="0"/>
            <a:r>
              <a:rPr lang="en-US" noProof="0" dirty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A4596-0E95-4845-A51E-381771D71C5B}" type="slidenum">
              <a:rPr lang="en-US"/>
            </a:fld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E0565-1EC7-4B91-8C98-E5DE0747F8C9}" type="datetime1">
              <a:rPr lang="en-US" smtClean="0"/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 smtClean="0"/>
              <a:t>Kode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Nama</a:t>
            </a:r>
            <a:r>
              <a:rPr lang="en-US" dirty="0" smtClean="0"/>
              <a:t> </a:t>
            </a:r>
            <a:r>
              <a:rPr lang="en-US" dirty="0" err="1" smtClean="0"/>
              <a:t>mata</a:t>
            </a:r>
            <a:r>
              <a:rPr lang="en-US" dirty="0" smtClean="0"/>
              <a:t> </a:t>
            </a:r>
            <a:r>
              <a:rPr lang="en-US" dirty="0" err="1" smtClean="0"/>
              <a:t>Kuliah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 userDrawn="1"/>
        </p:nvSpPr>
        <p:spPr bwMode="auto">
          <a:xfrm>
            <a:off x="434548" y="4489331"/>
            <a:ext cx="8326438" cy="2119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latin typeface="+mj-lt"/>
                <a:ea typeface="MS PGothic" charset="0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anose="020B0604030504040204" charset="0"/>
                <a:ea typeface="MS PGothic" charset="0"/>
                <a:cs typeface="MS PGothic" charset="0"/>
              </a:defRPr>
            </a:lvl9pPr>
          </a:lstStyle>
          <a:p>
            <a:pPr algn="ctr"/>
            <a:r>
              <a:rPr lang="en-US" sz="5400" dirty="0" smtClean="0">
                <a:solidFill>
                  <a:srgbClr val="C00000"/>
                </a:solidFill>
                <a:latin typeface="Brush Script Std" pitchFamily="66" charset="0"/>
              </a:rPr>
              <a:t>THANK YOU</a:t>
            </a:r>
            <a:endParaRPr lang="en-US" sz="5400" dirty="0">
              <a:solidFill>
                <a:srgbClr val="C00000"/>
              </a:solidFill>
              <a:latin typeface="Brush Script Std" pitchFamily="66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489" y="4670967"/>
            <a:ext cx="9141923" cy="9368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74" name="Picture 2" descr="C:\Users\Mystogan\Pictures\red-digital-background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0" b="13980"/>
          <a:stretch>
            <a:fillRect/>
          </a:stretch>
        </p:blipFill>
        <p:spPr bwMode="auto">
          <a:xfrm>
            <a:off x="-2566" y="0"/>
            <a:ext cx="9144000" cy="467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Mystogan\Pictures\logo-whit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92" y="142946"/>
            <a:ext cx="3039184" cy="60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AE4D-9F18-48CE-B6F6-2B22F0B29E1A}" type="datetimeFigureOut">
              <a:rPr lang="id-ID" smtClean="0"/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611FC-4EAD-4BE5-9F04-74D04A4AFB7C}" type="slidenum">
              <a:rPr lang="id-ID" smtClean="0"/>
            </a:fld>
            <a:endParaRPr lang="id-ID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4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3" Type="http://schemas.openxmlformats.org/officeDocument/2006/relationships/theme" Target="../theme/theme6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3" Type="http://schemas.openxmlformats.org/officeDocument/2006/relationships/theme" Target="../theme/theme7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4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8.xml"/><Relationship Id="rId13" Type="http://schemas.openxmlformats.org/officeDocument/2006/relationships/theme" Target="../theme/theme8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57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6.xml"/><Relationship Id="rId13" Type="http://schemas.openxmlformats.org/officeDocument/2006/relationships/theme" Target="../theme/theme9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65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3" Type="http://schemas.openxmlformats.org/officeDocument/2006/relationships/theme" Target="../theme/theme10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73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2.xml"/><Relationship Id="rId13" Type="http://schemas.openxmlformats.org/officeDocument/2006/relationships/theme" Target="../theme/theme11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8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12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89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3" Type="http://schemas.openxmlformats.org/officeDocument/2006/relationships/theme" Target="../theme/theme13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97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6.xml"/><Relationship Id="rId13" Type="http://schemas.openxmlformats.org/officeDocument/2006/relationships/theme" Target="../theme/theme14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05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4.xml"/><Relationship Id="rId13" Type="http://schemas.openxmlformats.org/officeDocument/2006/relationships/theme" Target="../theme/theme15.xml"/><Relationship Id="rId12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slideLayout" Target="../slideLayouts/slideLayout1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399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6" name="Title Placeholder 9"/>
          <p:cNvSpPr>
            <a:spLocks noGrp="1" noChangeAspect="1"/>
          </p:cNvSpPr>
          <p:nvPr>
            <p:ph type="title"/>
          </p:nvPr>
        </p:nvSpPr>
        <p:spPr bwMode="auto">
          <a:xfrm>
            <a:off x="365125" y="1336417"/>
            <a:ext cx="8326438" cy="641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5" name="Picture 2" descr="C:\Users\Mystogan\Pictures\75_big.jp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8401"/>
            <a:ext cx="9143999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389908" y="6451886"/>
            <a:ext cx="358775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2B1F015-1154-6F45-9F5A-29B4836DF7ED}" type="slidenum">
              <a:rPr lang="en-US" smtClean="0"/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810596" y="6451886"/>
            <a:ext cx="1643062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05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40A50DB-D761-4238-B936-994C278C4685}" type="datetime1">
              <a:rPr lang="en-US" smtClean="0"/>
            </a:fld>
            <a:endParaRPr lang="en-US" dirty="0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 rot="-5400000">
            <a:off x="9449594" y="5911057"/>
            <a:ext cx="1709737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600" dirty="0">
                <a:solidFill>
                  <a:srgbClr val="7F7F7F"/>
                </a:solidFill>
              </a:rPr>
              <a:t>12-CRS-0106 REVISED </a:t>
            </a:r>
            <a:r>
              <a:rPr lang="en-US" sz="600" dirty="0" smtClean="0">
                <a:solidFill>
                  <a:srgbClr val="7F7F7F"/>
                </a:solidFill>
              </a:rPr>
              <a:t>8 </a:t>
            </a:r>
            <a:r>
              <a:rPr lang="en-US" sz="600" dirty="0">
                <a:solidFill>
                  <a:srgbClr val="7F7F7F"/>
                </a:solidFill>
              </a:rPr>
              <a:t>FEB 2013</a:t>
            </a:r>
            <a:endParaRPr lang="en-US" sz="600" dirty="0">
              <a:solidFill>
                <a:srgbClr val="7F7F7F"/>
              </a:solidFill>
            </a:endParaRPr>
          </a:p>
        </p:txBody>
      </p:sp>
      <p:sp>
        <p:nvSpPr>
          <p:cNvPr id="1031" name="Text Placeholder 11"/>
          <p:cNvSpPr>
            <a:spLocks noGrp="1"/>
          </p:cNvSpPr>
          <p:nvPr>
            <p:ph type="body" idx="1"/>
          </p:nvPr>
        </p:nvSpPr>
        <p:spPr bwMode="auto">
          <a:xfrm>
            <a:off x="365125" y="1977656"/>
            <a:ext cx="8326438" cy="4054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" y="0"/>
            <a:ext cx="9143993" cy="124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</p:sldLayoutIdLst>
  <p:transition spd="slow"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MS PGothic" charset="0"/>
          <a:cs typeface="MS PGothic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charset="0"/>
          <a:ea typeface="MS PGothic" charset="0"/>
          <a:cs typeface="MS PGothic" charset="0"/>
        </a:defRPr>
      </a:lvl9pPr>
    </p:titleStyle>
    <p:bodyStyle>
      <a:lvl1pPr marL="346075" indent="-346075" algn="l" defTabSz="457200" rtl="0" eaLnBrk="1" fontAlgn="base" hangingPunct="1">
        <a:spcBef>
          <a:spcPts val="1800"/>
        </a:spcBef>
        <a:spcAft>
          <a:spcPct val="0"/>
        </a:spcAft>
        <a:buSzPct val="135000"/>
        <a:buBlip>
          <a:blip r:embed="rId12"/>
        </a:buBlip>
        <a:defRPr sz="2400" kern="12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593725" indent="-182880" algn="l" defTabSz="457200" rtl="0" eaLnBrk="1" fontAlgn="base" hangingPunct="1">
        <a:spcBef>
          <a:spcPts val="800"/>
        </a:spcBef>
        <a:spcAft>
          <a:spcPct val="0"/>
        </a:spcAft>
        <a:buClr>
          <a:srgbClr val="595959"/>
        </a:buClr>
        <a:buFont typeface="Lucida Grande" charset="0"/>
        <a:buChar char="–"/>
        <a:defRPr sz="2000" kern="1200">
          <a:solidFill>
            <a:schemeClr val="tx1"/>
          </a:solidFill>
          <a:latin typeface="+mn-lt"/>
          <a:ea typeface="MS PGothic" charset="0"/>
          <a:cs typeface="+mn-cs"/>
        </a:defRPr>
      </a:lvl2pPr>
      <a:lvl3pPr marL="822325" indent="-182880" algn="l" defTabSz="457200" rtl="0" eaLnBrk="1" fontAlgn="base" hangingPunct="1">
        <a:spcBef>
          <a:spcPts val="700"/>
        </a:spcBef>
        <a:spcAft>
          <a:spcPct val="0"/>
        </a:spcAft>
        <a:buClr>
          <a:srgbClr val="595959"/>
        </a:buClr>
        <a:buFont typeface="Wingdings" charset="0"/>
        <a:buChar char="§"/>
        <a:defRPr kern="1200">
          <a:solidFill>
            <a:schemeClr val="tx1"/>
          </a:solidFill>
          <a:latin typeface="+mn-lt"/>
          <a:ea typeface="MS PGothic" charset="0"/>
          <a:cs typeface="+mn-cs"/>
        </a:defRPr>
      </a:lvl3pPr>
      <a:lvl4pPr marL="105092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595959"/>
        </a:buClr>
        <a:buFont typeface="Arial" panose="02080604020202020204" pitchFamily="34" charset="0"/>
        <a:buChar char="–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4pPr>
      <a:lvl5pPr marL="1233805" indent="-182880" algn="l" defTabSz="457200" rtl="0" eaLnBrk="1" fontAlgn="base" hangingPunct="1">
        <a:spcBef>
          <a:spcPts val="600"/>
        </a:spcBef>
        <a:spcAft>
          <a:spcPct val="0"/>
        </a:spcAft>
        <a:buClr>
          <a:srgbClr val="7F7F7F"/>
        </a:buClr>
        <a:buFont typeface="Wingdings" charset="0"/>
        <a:buChar char="§"/>
        <a:defRPr sz="1600" kern="1200">
          <a:solidFill>
            <a:schemeClr val="tx1"/>
          </a:solidFill>
          <a:latin typeface="+mn-lt"/>
          <a:ea typeface="MS PGothic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8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4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0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8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6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4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1234440" y="1730375"/>
            <a:ext cx="6535420" cy="765175"/>
          </a:xfrm>
        </p:spPr>
        <p:txBody>
          <a:bodyPr/>
          <a:lstStyle/>
          <a:p>
            <a:r>
              <a:rPr 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CDK2AAB4</a:t>
            </a: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</a:rPr>
              <a:t> - </a:t>
            </a:r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S</a:t>
            </a:r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truktur Data</a:t>
            </a:r>
            <a:b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</a:br>
            <a:b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</a:br>
            <a:r>
              <a:rPr lang="en-US" alt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Searching, Sorting, </a:t>
            </a:r>
            <a:br>
              <a:rPr lang="en-US" alt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</a:br>
            <a:r>
              <a:rPr lang="en-US" alt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Split &amp; Merge on Single Linked List</a:t>
            </a:r>
            <a:endParaRPr lang="en-US" altLang="en-US" sz="24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Single Linked List</a:t>
            </a:r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29335" y="2837180"/>
            <a:ext cx="6998335" cy="118364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2185670"/>
            <a:ext cx="8314055" cy="4057015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just">
              <a:lnSpc>
                <a:spcPct val="100000"/>
              </a:lnSpc>
              <a:spcBef>
                <a:spcPts val="100"/>
              </a:spcBef>
            </a:pPr>
            <a:endParaRPr lang="en-US" sz="18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elementList : &lt;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..terdefinisi, 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Deklarasi Struktur Data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520" y="1846580"/>
            <a:ext cx="4790440" cy="217551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2969260" y="4839970"/>
            <a:ext cx="26568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/>
          <p:cNvSpPr>
            <a:spLocks noGrp="1"/>
          </p:cNvSpPr>
          <p:nvPr/>
        </p:nvSpPr>
        <p:spPr>
          <a:xfrm>
            <a:off x="5768975" y="4307840"/>
            <a:ext cx="2979420" cy="14116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Diisi dengan tipe data apapun misal string, integer, tipe data bentukan, dll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65125" y="1978660"/>
            <a:ext cx="8314055" cy="4264660"/>
          </a:xfrm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Ojol : &lt;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driver: string,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rating: float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ement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List : &lt;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Ojol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Deklarasi Struktur Data - Tipe data bentukan</a:t>
            </a:r>
            <a:endParaRPr lang="en-US" altLang="en-US" sz="24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65125" y="5501640"/>
            <a:ext cx="1169035" cy="382905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5170170" y="1877060"/>
            <a:ext cx="2979420" cy="13804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425" y="4977765"/>
            <a:ext cx="1143000" cy="12141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Elbow Connector 8"/>
          <p:cNvCxnSpPr>
            <a:stCxn id="10" idx="3"/>
            <a:endCxn id="12" idx="2"/>
          </p:cNvCxnSpPr>
          <p:nvPr/>
        </p:nvCxnSpPr>
        <p:spPr>
          <a:xfrm flipV="1">
            <a:off x="1534160" y="3257550"/>
            <a:ext cx="5125720" cy="24358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371475" y="2164080"/>
            <a:ext cx="8314055" cy="1511935"/>
          </a:xfrm>
          <a:ln>
            <a:solidFill>
              <a:schemeClr val="accent1"/>
            </a:solidFill>
          </a:ln>
        </p:spPr>
        <p:txBody>
          <a:bodyPr/>
          <a:lstStyle/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procedure CreateList(in/out : L : List)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</a:rPr>
              <a:t>algoritma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</a:rPr>
              <a:t>	L.first =</a:t>
            </a: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 NIL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		</a:t>
            </a:r>
            <a:endParaRPr lang="en-US" altLang="en-US" sz="1800" dirty="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Prosedur pembuatan List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peech Bubble: Oval 12"/>
              <p:cNvSpPr/>
              <p:nvPr/>
            </p:nvSpPr>
            <p:spPr>
              <a:xfrm>
                <a:off x="3297308" y="3257940"/>
                <a:ext cx="3229066" cy="1889813"/>
              </a:xfrm>
              <a:prstGeom prst="wedgeEllipseCallout">
                <a:avLst>
                  <a:gd name="adj1" fmla="val -75222"/>
                  <a:gd name="adj2" fmla="val -47601"/>
                </a:avLst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r>
                  <a:rPr lang="en-US" sz="1200" dirty="0" err="1"/>
                  <a:t>Penulisan</a:t>
                </a:r>
                <a:r>
                  <a:rPr lang="en-US" sz="1200" dirty="0"/>
                  <a:t> pseudocode </a:t>
                </a:r>
                <a:r>
                  <a:rPr lang="en-US" sz="1200" dirty="0" err="1"/>
                  <a:t>untuk</a:t>
                </a:r>
                <a:r>
                  <a:rPr lang="en-US" sz="1200" dirty="0"/>
                  <a:t> assignment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highlight>
                          <a:srgbClr val="FFFF00"/>
                        </a:highlight>
                        <a:latin typeface="DejaVu Math TeX Gyre" panose="02000503000000000000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diubah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menjadi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b="1" dirty="0">
                    <a:highlight>
                      <a:srgbClr val="FFFF00"/>
                    </a:highlight>
                    <a:sym typeface="Wingdings" panose="05000000000000000000" pitchFamily="2" charset="2"/>
                  </a:rPr>
                  <a:t>=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untuk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menghindari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kebingungan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karena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kita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akan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pakai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banyak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tanda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panah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mulai</a:t>
                </a:r>
                <a:r>
                  <a:rPr lang="en-US" sz="1200" dirty="0">
                    <a:sym typeface="Wingdings" panose="05000000000000000000" pitchFamily="2" charset="2"/>
                  </a:rPr>
                  <a:t> </a:t>
                </a:r>
                <a:r>
                  <a:rPr lang="en-US" sz="1200" dirty="0" err="1">
                    <a:sym typeface="Wingdings" panose="05000000000000000000" pitchFamily="2" charset="2"/>
                  </a:rPr>
                  <a:t>sekarang</a:t>
                </a:r>
                <a:r>
                  <a:rPr lang="en-US" sz="1200" dirty="0">
                    <a:sym typeface="Wingdings" panose="05000000000000000000" pitchFamily="2" charset="2"/>
                  </a:rPr>
                  <a:t>.</a:t>
                </a:r>
                <a:endParaRPr lang="en-ID" sz="1200" dirty="0"/>
              </a:p>
            </p:txBody>
          </p:sp>
        </mc:Choice>
        <mc:Fallback>
          <p:sp>
            <p:nvSpPr>
              <p:cNvPr id="10" name="Speech Bubble: 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308" y="3257940"/>
                <a:ext cx="3229066" cy="1889813"/>
              </a:xfrm>
              <a:prstGeom prst="wedgeEllipseCallout">
                <a:avLst>
                  <a:gd name="adj1" fmla="val -75222"/>
                  <a:gd name="adj2" fmla="val -47601"/>
                </a:avLst>
              </a:prstGeom>
              <a:blipFill rotWithShape="1">
                <a:blip r:embed="rId1"/>
                <a:stretch>
                  <a:fillRect l="-26422" t="-995" r="-1185" b="-3068"/>
                </a:stretch>
              </a:blip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7027819" y="2380455"/>
            <a:ext cx="826305" cy="938949"/>
            <a:chOff x="7347099" y="2291159"/>
            <a:chExt cx="749221" cy="883840"/>
          </a:xfrm>
        </p:grpSpPr>
        <p:sp>
          <p:nvSpPr>
            <p:cNvPr id="20" name="Rectangle 7"/>
            <p:cNvSpPr/>
            <p:nvPr/>
          </p:nvSpPr>
          <p:spPr>
            <a:xfrm>
              <a:off x="7347099" y="2291159"/>
              <a:ext cx="749221" cy="88384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b"/>
            <a:p>
              <a:pPr algn="ctr"/>
              <a:endParaRPr lang="en-US" dirty="0"/>
            </a:p>
            <a:p>
              <a:pPr algn="ctr"/>
              <a:r>
                <a:rPr lang="en-US" sz="1400" dirty="0"/>
                <a:t>first</a:t>
              </a:r>
              <a:endParaRPr lang="en-US" dirty="0"/>
            </a:p>
          </p:txBody>
        </p:sp>
        <p:sp>
          <p:nvSpPr>
            <p:cNvPr id="21" name="Rectangle 9"/>
            <p:cNvSpPr/>
            <p:nvPr/>
          </p:nvSpPr>
          <p:spPr>
            <a:xfrm>
              <a:off x="7442790" y="2358849"/>
              <a:ext cx="569516" cy="53591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en-US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2" name="Rectangle 10"/>
          <p:cNvSpPr/>
          <p:nvPr/>
        </p:nvSpPr>
        <p:spPr>
          <a:xfrm>
            <a:off x="7284518" y="333535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dirty="0"/>
              <a:t>L</a:t>
            </a:r>
            <a:endParaRPr lang="en-US" dirty="0"/>
          </a:p>
        </p:txBody>
      </p:sp>
      <p:sp>
        <p:nvSpPr>
          <p:cNvPr id="23" name="Rectangle 11"/>
          <p:cNvSpPr/>
          <p:nvPr/>
        </p:nvSpPr>
        <p:spPr>
          <a:xfrm>
            <a:off x="7302979" y="2573073"/>
            <a:ext cx="288862" cy="369332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dirty="0"/>
              <a:t>/</a:t>
            </a:r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Prosedur pembuatan element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"/>
              <p:cNvSpPr>
                <a:spLocks noGrp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6075" indent="-346075" algn="l" defTabSz="457200" rtl="0" eaLnBrk="1" fontAlgn="base" hangingPunct="1">
                  <a:spcBef>
                    <a:spcPts val="1800"/>
                  </a:spcBef>
                  <a:spcAft>
                    <a:spcPct val="0"/>
                  </a:spcAft>
                  <a:buSzPct val="135000"/>
                  <a:buBlip>
                    <a:blip r:embed="rId1"/>
                  </a:buBlip>
                  <a:defRPr sz="24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MS PGothic" charset="0"/>
                  </a:defRPr>
                </a:lvl1pPr>
                <a:lvl2pPr marL="593725" indent="-182880" algn="l" defTabSz="457200" rtl="0" eaLnBrk="1" fontAlgn="base" hangingPunct="1">
                  <a:spcBef>
                    <a:spcPts val="800"/>
                  </a:spcBef>
                  <a:spcAft>
                    <a:spcPct val="0"/>
                  </a:spcAft>
                  <a:buClr>
                    <a:srgbClr val="595959"/>
                  </a:buClr>
                  <a:buFont typeface="Lucida Grande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2pPr>
                <a:lvl3pPr marL="822325" indent="-182880" algn="l" defTabSz="457200" rtl="0" eaLnBrk="1" fontAlgn="base" hangingPunct="1">
                  <a:spcBef>
                    <a:spcPts val="700"/>
                  </a:spcBef>
                  <a:spcAft>
                    <a:spcPct val="0"/>
                  </a:spcAft>
                  <a:buClr>
                    <a:srgbClr val="595959"/>
                  </a:buClr>
                  <a:buFont typeface="Wingdings" charset="0"/>
                  <a:buChar char="§"/>
                  <a:defRPr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3pPr>
                <a:lvl4pPr marL="105092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595959"/>
                  </a:buClr>
                  <a:buFont typeface="Arial" panose="0208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4pPr>
                <a:lvl5pPr marL="123380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7F7F7F"/>
                  </a:buClr>
                  <a:buFont typeface="Wingdings" charset="0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function Alokasi(data : Infotype) 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</a:rPr>
                  <a:t>→ Address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kamus</a:t>
                </a:r>
                <a:endParaRPr lang="en-US" altLang="en-US" sz="1800" u="sng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: Address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algoritma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=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 new elementList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info = data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next = NIL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return P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14" name="Content Placeholder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blipFill rotWithShape="1">
                <a:blip r:embed="rId2"/>
                <a:stretch>
                  <a:fillRect l="-61" t="-193" r="-53" b="-1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1"/>
          <p:cNvSpPr>
            <a:spLocks noGrp="1"/>
          </p:cNvSpPr>
          <p:nvPr/>
        </p:nvSpPr>
        <p:spPr>
          <a:xfrm>
            <a:off x="7212330" y="2235200"/>
            <a:ext cx="96329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cxnSp>
        <p:nvCxnSpPr>
          <p:cNvPr id="19" name="Straight Arrow Connector 18"/>
          <p:cNvCxnSpPr>
            <a:stCxn id="18" idx="2"/>
          </p:cNvCxnSpPr>
          <p:nvPr/>
        </p:nvCxnSpPr>
        <p:spPr>
          <a:xfrm>
            <a:off x="7694295" y="2745105"/>
            <a:ext cx="0" cy="559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/>
          <p:cNvGraphicFramePr/>
          <p:nvPr/>
        </p:nvGraphicFramePr>
        <p:xfrm>
          <a:off x="6940550" y="3475355"/>
          <a:ext cx="1504950" cy="63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650"/>
                <a:gridCol w="501650"/>
                <a:gridCol w="501650"/>
              </a:tblGrid>
              <a:tr h="6394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10</a:t>
                      </a:r>
                      <a:endParaRPr lang="en-US" altLang="en-US" b="0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>
                          <a:solidFill>
                            <a:schemeClr val="tx1"/>
                          </a:solidFill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altLang="en-US">
                        <a:solidFill>
                          <a:schemeClr val="tx1"/>
                        </a:solidFill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Prosedur pembuatan element (record)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660"/>
            <a:ext cx="8314055" cy="4264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NIL : Null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Address : pointer to elementList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Ojol : &lt;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driver: string,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rating: float</a:t>
            </a:r>
            <a:endParaRPr lang="en-US" alt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Type el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ement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List : &lt;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info: </a:t>
            </a:r>
            <a:r>
              <a:rPr lang="en-US" alt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Ojol</a:t>
            </a: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next: Address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spc="-35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&gt;</a:t>
            </a:r>
            <a:endParaRPr lang="en-US" sz="2000"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2000" dirty="0">
                <a:latin typeface="Arial" panose="02080604020202020204" pitchFamily="34" charset="0"/>
                <a:cs typeface="Arial" panose="02080604020202020204" pitchFamily="34" charset="0"/>
              </a:rPr>
              <a:t>Type List : &lt;First: Address&gt;</a:t>
            </a:r>
            <a:endParaRPr 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</a:rPr>
              <a:t>L : List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/>
        </p:nvSpPr>
        <p:spPr>
          <a:xfrm>
            <a:off x="5170170" y="1877060"/>
            <a:ext cx="2979420" cy="13804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just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20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Hanya  melakukan alokasi memori untuk pointer First</a:t>
            </a:r>
            <a:endParaRPr lang="en-US" altLang="en-US" sz="20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</p:txBody>
      </p:sp>
      <p:cxnSp>
        <p:nvCxnSpPr>
          <p:cNvPr id="9" name="Elbow Connector 8"/>
          <p:cNvCxnSpPr>
            <a:endCxn id="12" idx="2"/>
          </p:cNvCxnSpPr>
          <p:nvPr/>
        </p:nvCxnSpPr>
        <p:spPr>
          <a:xfrm flipV="1">
            <a:off x="1534160" y="3257550"/>
            <a:ext cx="5125720" cy="24358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fld id="{3137D54C-61CE-1041-9449-8583DE2630BB}" type="datetime1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Prosedur pembuatan element (record)</a:t>
            </a:r>
            <a:endParaRPr lang="en-US" alt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"/>
              <p:cNvSpPr>
                <a:spLocks noGrp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6075" indent="-346075" algn="l" defTabSz="457200" rtl="0" eaLnBrk="1" fontAlgn="base" hangingPunct="1">
                  <a:spcBef>
                    <a:spcPts val="1800"/>
                  </a:spcBef>
                  <a:spcAft>
                    <a:spcPct val="0"/>
                  </a:spcAft>
                  <a:buSzPct val="135000"/>
                  <a:buBlip>
                    <a:blip r:embed="rId1"/>
                  </a:buBlip>
                  <a:defRPr sz="24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MS PGothic" charset="0"/>
                  </a:defRPr>
                </a:lvl1pPr>
                <a:lvl2pPr marL="593725" indent="-182880" algn="l" defTabSz="457200" rtl="0" eaLnBrk="1" fontAlgn="base" hangingPunct="1">
                  <a:spcBef>
                    <a:spcPts val="800"/>
                  </a:spcBef>
                  <a:spcAft>
                    <a:spcPct val="0"/>
                  </a:spcAft>
                  <a:buClr>
                    <a:srgbClr val="595959"/>
                  </a:buClr>
                  <a:buFont typeface="Lucida Grande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2pPr>
                <a:lvl3pPr marL="822325" indent="-182880" algn="l" defTabSz="457200" rtl="0" eaLnBrk="1" fontAlgn="base" hangingPunct="1">
                  <a:spcBef>
                    <a:spcPts val="700"/>
                  </a:spcBef>
                  <a:spcAft>
                    <a:spcPct val="0"/>
                  </a:spcAft>
                  <a:buClr>
                    <a:srgbClr val="595959"/>
                  </a:buClr>
                  <a:buFont typeface="Wingdings" charset="0"/>
                  <a:buChar char="§"/>
                  <a:defRPr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3pPr>
                <a:lvl4pPr marL="105092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595959"/>
                  </a:buClr>
                  <a:buFont typeface="Arial" panose="02080604020202020204" pitchFamily="34" charset="0"/>
                  <a:buChar char="–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4pPr>
                <a:lvl5pPr marL="1233805" indent="-182880" algn="l" defTabSz="457200" rtl="0" eaLnBrk="1" fontAlgn="base" hangingPunct="1">
                  <a:spcBef>
                    <a:spcPts val="600"/>
                  </a:spcBef>
                  <a:spcAft>
                    <a:spcPct val="0"/>
                  </a:spcAft>
                  <a:buClr>
                    <a:srgbClr val="7F7F7F"/>
                  </a:buClr>
                  <a:buFont typeface="Wingdings" charset="0"/>
                  <a:buChar char="§"/>
                  <a:defRPr sz="1600" kern="1200">
                    <a:solidFill>
                      <a:schemeClr val="tx1"/>
                    </a:solidFill>
                    <a:latin typeface="+mn-lt"/>
                    <a:ea typeface="MS PGothic" charset="0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function Alokasi(data : Infotype) 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</a:rPr>
                  <a:t>→ Address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kamus</a:t>
                </a:r>
                <a:endParaRPr lang="en-US" altLang="en-US" sz="1800" u="sng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: Address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u="sng" dirty="0">
                    <a:latin typeface="Arial" panose="02080604020202020204" pitchFamily="34" charset="0"/>
                    <a:cs typeface="Arial" panose="02080604020202020204" pitchFamily="34" charset="0"/>
                  </a:rPr>
                  <a:t>algoritma</a:t>
                </a:r>
                <a:endParaRPr lang="en-US" altLang="en-US" sz="1800" dirty="0">
                  <a:latin typeface="Arial" panose="02080604020202020204" pitchFamily="34" charset="0"/>
                  <a:cs typeface="Arial" panose="02080604020202020204" pitchFamily="34" charset="0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cs typeface="Arial" panose="02080604020202020204" pitchFamily="34" charset="0"/>
                  </a:rPr>
                  <a:t>	P =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 new elementList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(</a:t>
                </a: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info).nama = “Budi”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(P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info).rating = 5.0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P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→</m:t>
                    </m:r>
                  </m:oMath>
                </a14:m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next = NIL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  <a:p>
                <a:pPr marL="29210" marR="292735" indent="0" algn="just">
                  <a:lnSpc>
                    <a:spcPct val="100000"/>
                  </a:lnSpc>
                  <a:spcBef>
                    <a:spcPts val="100"/>
                  </a:spcBef>
                  <a:buNone/>
                </a:pPr>
                <a:r>
                  <a:rPr lang="en-US" altLang="en-US" sz="1800" dirty="0">
                    <a:latin typeface="Arial" panose="02080604020202020204" pitchFamily="34" charset="0"/>
                    <a:ea typeface="AR PL UKai CN" panose="02000503000000000000" charset="-122"/>
                    <a:cs typeface="Arial" panose="02080604020202020204" pitchFamily="34" charset="0"/>
                    <a:sym typeface="+mn-ea"/>
                  </a:rPr>
                  <a:t>	return P</a:t>
                </a:r>
                <a:endParaRPr lang="en-US" altLang="en-US" sz="1800" dirty="0">
                  <a:latin typeface="Arial" panose="02080604020202020204" pitchFamily="34" charset="0"/>
                  <a:ea typeface="AR PL UKai CN" panose="02000503000000000000" charset="-122"/>
                  <a:cs typeface="Arial" panose="0208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14" name="Content Placeholder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15" y="2112010"/>
                <a:ext cx="8314055" cy="2634615"/>
              </a:xfrm>
              <a:prstGeom prst="rect">
                <a:avLst/>
              </a:prstGeom>
              <a:blipFill rotWithShape="1">
                <a:blip r:embed="rId2"/>
                <a:stretch>
                  <a:fillRect l="-61" t="-193" r="-53" b="-1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Linked List - Various Operation - Middle Level</a:t>
            </a:r>
            <a:endParaRPr lang="en-US" sz="24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3685" y="2143760"/>
            <a:ext cx="3429635" cy="392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Show Linked List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Show(in L : List)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if (L.first &lt;&gt; NIL) then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while (P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&lt;&gt;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NIL) do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Output(P→info)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P→next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end while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Output(‘Empty’)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25" y="2727960"/>
            <a:ext cx="4775200" cy="9582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390" y="4276725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Show Linked List - Odd only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ShowOdd(in L : List)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if (L.first &lt;&gt; NIL) then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while (P &lt;&gt; NIL) do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if ((P→info)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%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2 ==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1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) then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	Output(P→info)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P→ne</a:t>
            </a: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xt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end while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Output(‘Empty’)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25" y="2699385"/>
            <a:ext cx="4775200" cy="9582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845" y="426212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Kelipatan Bilangan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Kelipatan(in L : List, in Num: Infotype)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if (L.first &lt;&gt; NIL) then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while (P &lt;&gt; NIL) do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if ((P→info)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%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Num == 0) then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	Output(P→info)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</a:t>
            </a: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end while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else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Output(‘Empty’)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25" y="2727960"/>
            <a:ext cx="4775200" cy="9582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390" y="4276725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Search by Info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Search(L : List, X : Infotype)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Address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NILL) do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if (P→info == X) then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return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</a:t>
            </a: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return NIL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Prec </a:t>
            </a:r>
            <a:r>
              <a:rPr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Search(L, 40)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InsertAfter(L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Prec, P)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80" y="2950210"/>
            <a:ext cx="4775200" cy="9582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8785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Search by Pointer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Search(L : List, X : Address)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Address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NILL) do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if (P == X) then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return P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 =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</a:t>
            </a:r>
            <a:r>
              <a:rPr lang="en-US" alt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alt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return NIL</a:t>
            </a: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endParaRPr lang="en-US" alt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Prec </a:t>
            </a:r>
            <a:r>
              <a:rPr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</a:t>
            </a:r>
            <a:r>
              <a:rPr lang="en-US" sz="18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Search(L, X)</a:t>
            </a:r>
            <a:endParaRPr lang="en-US" sz="18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procedure InsertAfter(L</a:t>
            </a: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, Prec, P)</a:t>
            </a:r>
            <a:endParaRPr lang="en-US" sz="18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80" y="2950210"/>
            <a:ext cx="4775200" cy="9582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755" y="438785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Count element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CountElement(L : List) </a:t>
            </a:r>
            <a:r>
              <a:rPr lang="en-US" altLang="en-US" sz="18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integer</a:t>
            </a:r>
            <a:endParaRPr lang="en-US" altLang="en-US" sz="18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8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 : integer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8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i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0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if (L.first &lt;&gt; NIL) then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NIL) do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i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i + 1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return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i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else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return i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80" y="2950210"/>
            <a:ext cx="4775200" cy="9582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845" y="438785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Count element - Even Only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CountElement(L : List) 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integer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6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6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 : integer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temp </a:t>
            </a:r>
            <a:r>
              <a:rPr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←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0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if (L.first &lt;&gt; NIL) then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NIL) do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if ((P→info) % 2 = 0) then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	temp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temp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+ 1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return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temp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457200" lvl="1" indent="0" latinLnBrk="0">
              <a:spcBef>
                <a:spcPts val="300"/>
              </a:spcBef>
              <a:buNone/>
            </a:pP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else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return temp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80" y="2950210"/>
            <a:ext cx="4775200" cy="9582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845" y="438785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Minimum data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function MinData(L : List) </a:t>
            </a: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</a:rPr>
              <a:t>→ Address</a:t>
            </a:r>
            <a:endParaRPr lang="en-US" altLang="en-US" sz="16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6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P, min : Address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min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irst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altLang="en-US" sz="16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NIL) do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if ((P→info) &lt; (min→info)) then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min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P =</a:t>
            </a:r>
            <a:r>
              <a:rPr 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P→n</a:t>
            </a:r>
            <a:r>
              <a:rPr lang="en-US" altLang="en-US" sz="16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ext</a:t>
            </a:r>
            <a:endParaRPr lang="en-US" altLang="en-US" sz="16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6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return min</a:t>
            </a:r>
            <a:endParaRPr lang="en-US" altLang="en-US" sz="16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3758989" y="3405835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357530" y="275396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9" name="Straight Arrow Connector 9"/>
          <p:cNvCxnSpPr>
            <a:stCxn id="38" idx="2"/>
            <a:endCxn id="37" idx="1"/>
          </p:cNvCxnSpPr>
          <p:nvPr/>
        </p:nvCxnSpPr>
        <p:spPr>
          <a:xfrm rot="5400000" flipV="1">
            <a:off x="3427413" y="3245803"/>
            <a:ext cx="466725" cy="2247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263110" y="3407096"/>
          <a:ext cx="109102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36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20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1" name="Straight Arrow Connector 9"/>
          <p:cNvCxnSpPr>
            <a:endCxn id="40" idx="1"/>
          </p:cNvCxnSpPr>
          <p:nvPr/>
        </p:nvCxnSpPr>
        <p:spPr>
          <a:xfrm>
            <a:off x="4723783" y="3592516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029233" y="3412508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672202" y="3407096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10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5" name="Straight Arrow Connector 9"/>
          <p:cNvCxnSpPr>
            <a:endCxn id="34" idx="1"/>
          </p:cNvCxnSpPr>
          <p:nvPr/>
        </p:nvCxnSpPr>
        <p:spPr>
          <a:xfrm>
            <a:off x="6190582" y="3582940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900170" y="2376805"/>
          <a:ext cx="823595" cy="3771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3595"/>
              </a:tblGrid>
              <a:tr h="37719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min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>
            <a:stCxn id="45" idx="2"/>
          </p:cNvCxnSpPr>
          <p:nvPr/>
        </p:nvCxnSpPr>
        <p:spPr>
          <a:xfrm>
            <a:off x="4312285" y="2753995"/>
            <a:ext cx="0" cy="47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9"/>
          <p:cNvCxnSpPr/>
          <p:nvPr/>
        </p:nvCxnSpPr>
        <p:spPr>
          <a:xfrm>
            <a:off x="7533607" y="3593100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4264660" y="3895090"/>
            <a:ext cx="82423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"/>
          <p:cNvSpPr>
            <a:spLocks noGrp="1"/>
          </p:cNvSpPr>
          <p:nvPr/>
        </p:nvSpPr>
        <p:spPr>
          <a:xfrm>
            <a:off x="4551680" y="4271010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31064" y="2376704"/>
          <a:ext cx="35433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330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P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>
            <a:off x="5808345" y="2747645"/>
            <a:ext cx="0" cy="48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latin typeface="Arial" panose="02080604020202020204" pitchFamily="34" charset="0"/>
                <a:cs typeface="Arial" panose="02080604020202020204" pitchFamily="34" charset="0"/>
              </a:rPr>
              <a:t>Linked List - Various Operation - Mythic Level</a:t>
            </a:r>
            <a:endParaRPr lang="en-US" sz="2400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1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3685" y="2143760"/>
            <a:ext cx="3429635" cy="392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Split List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SplitList(in/out L, L2 : List)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list L yang tidak kosong dan list L2 dalam kondisi kosong. Gunakan fungsi countElement untuk menghitung total jumlah elemen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Elemen list L akan dipisahkan ke list L2, jumlah elemen yang dipisahkan adalah total elemen L dibagi setelah numOfElmt}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: Address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i, numOfElmt : integer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numOfElmt : </a:t>
            </a:r>
            <a:r>
              <a:rPr 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countElement(L)</a:t>
            </a:r>
            <a:endParaRPr 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 = 1</a:t>
            </a:r>
            <a:endParaRPr 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=</a:t>
            </a: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L.first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(i &lt; numOfElmt div 2) do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 = i + 1 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 P→next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L2.first = P→next</a:t>
            </a:r>
            <a:endParaRPr 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P→next =</a:t>
            </a: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Nil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Split Ganjil Genap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SplitGanjilGenap(in/out L, LGenap, LGanjil : List)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list L yang tidak kosong dan list LGenap dan list LGanjil dalam kondisi kosong.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List LGenap berisi elemen bilangan genap, list LGanjil berisi elemen bilangan ganjil. Gunakan procedure DeleteFirst dan InsertFirst untuk memindahkan elemen}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P, Q : Address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= L.first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Nil) do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if (P→info %2 = 0) then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DeleteFirst(L, Q)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InsertFirst(LGenap, Q)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else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</a:t>
            </a: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DeleteFirst(L, Q)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InsertFirst(LGanjil, Q)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 P</a:t>
            </a: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→next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5125" y="1168777"/>
            <a:ext cx="8326438" cy="641239"/>
          </a:xfrm>
        </p:spPr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Merge List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81038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MergeList(in/out L1, L2, L : List)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sebuah List L1 dan L2 yang tidak kosong. 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</a:t>
            </a: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Pindahkan satu persatu elemen dari L1 kemudian diikuti elemen L2 ke list L. List L1 dan L2 menjadi kosong. Manfaatkan procedure DeleteFirst &amp; InsertFirst</a:t>
            </a:r>
            <a:r>
              <a:rPr lang="en-US" altLang="en-US" sz="14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}</a:t>
            </a:r>
            <a:endParaRPr lang="en-US" altLang="en-US" sz="14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P1, P2,  Q : Address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4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P1 = L1.first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P2 = L2.first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</a:t>
            </a:r>
            <a:r>
              <a:rPr lang="en-US" sz="14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while (P1 &lt;&gt; Nil) or (P2 &lt;&gt; Nil) do</a:t>
            </a:r>
            <a:endParaRPr lang="en-US" sz="14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DeleteFirst(L1, Q)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InsertFirst(L, Q)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DeleteFirst(L2, Q)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InsertFirst(L, Q)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P1 = First(L1)</a:t>
            </a:r>
            <a:endParaRPr lang="en-US" altLang="en-US" sz="14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4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P2 = First(L2)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4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sz="14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65125" y="1070987"/>
            <a:ext cx="8326438" cy="641239"/>
          </a:xfrm>
        </p:spPr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Merge List Sorted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71259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MergeList(in/out L1, L2, L : List)</a:t>
            </a:r>
            <a:endParaRPr lang="en-US" altLang="en-US" sz="12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{I.S Terdefinisi sebuah List L1 dan L2 yang tidak kosong. L1 dan L2 berisi data angka terurut descending.</a:t>
            </a:r>
            <a:endParaRPr lang="en-US" altLang="en-US" sz="12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F.S Pindahkan satu persatu data dari L1 dan L2 ke list L dengan tetap memperhatikan keterurutan pada list L. List L akan berisi data Descending, list L1 dan L2 menjadi kosong. Manfaatkan procedure DeleteFirst &amp; InsertFirst}</a:t>
            </a:r>
            <a:endParaRPr lang="en-US" altLang="en-US" sz="12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2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P1, P2,  Q : Address</a:t>
            </a:r>
            <a:endParaRPr lang="en-US" altLang="en-US" sz="12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2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P1 = First(L1)</a:t>
            </a:r>
            <a:endParaRPr lang="en-US" altLang="en-US" sz="12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P2 = First(L2)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(P1 &lt;&gt; Nil) or (P2 &lt;&gt; Nil) do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if (P1→info &gt; P2→info) then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P1 = P1→next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DeleteFirst(L1, Q)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InsertFirst(L, Q)			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else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P2 = P2→next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</a:t>
            </a: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DeleteFirst(L2, Q)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InsertFirst(L, Q)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</a:t>
            </a: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P1 = L1.first</a:t>
            </a:r>
            <a:endParaRPr lang="en-US" altLang="en-US" sz="12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	P2 = L2.first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 while</a:t>
            </a:r>
            <a:endParaRPr lang="en-US" sz="12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5" y="4373880"/>
            <a:ext cx="1550035" cy="15843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quarter" idx="14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461" y="2009775"/>
            <a:ext cx="4681765" cy="40259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1F2884EB-C6E3-684C-A39B-0E652C4E0E60}" type="slidenum">
              <a:rPr lang="en-US" smtClean="0"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/>
            </a:pPr>
            <a:endParaRPr lang="en-US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80604020202020204" pitchFamily="34" charset="0"/>
                <a:cs typeface="Arial" panose="02080604020202020204" pitchFamily="34" charset="0"/>
              </a:rPr>
              <a:t>Selection Sort</a:t>
            </a:r>
            <a:endParaRPr lang="en-US" dirty="0" smtClean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id-ID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1F2884EB-C6E3-684C-A39B-0E652C4E0E60}" type="slidenum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pPr>
              <a:defRPr>
                <a:uFillTx/>
              </a:defRPr>
            </a:pPr>
            <a:fld id="{515372B2-DF04-45E7-9FAA-EB25E1652E34}" type="datetime1">
              <a:rPr lang="en-US" smtClean="0">
                <a:uFillTx/>
                <a:latin typeface="Arial" panose="02080604020202020204" pitchFamily="34" charset="0"/>
                <a:cs typeface="Arial" panose="02080604020202020204" pitchFamily="34" charset="0"/>
              </a:rPr>
            </a:fld>
            <a:endParaRPr lang="en-US" dirty="0" smtClean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Minimum Sort</a:t>
            </a:r>
            <a:endParaRPr lang="en-US" altLang="en-US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/>
        </p:nvSpPr>
        <p:spPr>
          <a:xfrm>
            <a:off x="365125" y="1978025"/>
            <a:ext cx="8326755" cy="43154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uFillTx/>
                <a:latin typeface="Arial" panose="02080604020202020204" pitchFamily="34" charset="0"/>
                <a:cs typeface="Arial" panose="02080604020202020204" pitchFamily="34" charset="0"/>
              </a:rPr>
              <a:t>procedure MinimumSort(in/out L : List)</a:t>
            </a:r>
            <a:endParaRPr lang="en-US" altLang="en-US" sz="1200" dirty="0">
              <a:uFillTx/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kamus</a:t>
            </a:r>
            <a:endParaRPr lang="en-US" altLang="en-US" sz="12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P, Q, idx : Address</a:t>
            </a:r>
            <a:endParaRPr lang="en-US" altLang="en-US" sz="1200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infotype : temp</a:t>
            </a:r>
            <a:endParaRPr lang="en-US" altLang="en-US" sz="12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u="sng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algoritma</a:t>
            </a:r>
            <a:endParaRPr lang="en-US" altLang="en-US" sz="12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	P =</a:t>
            </a: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L.f</a:t>
            </a:r>
            <a:r>
              <a:rPr lang="en-US" alt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irst</a:t>
            </a:r>
            <a:endParaRPr lang="en-US" altLang="en-US" sz="1200" u="sng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while (P &lt;&gt; NIL) do</a:t>
            </a:r>
            <a:endParaRPr lang="en-US" altLang="en-US" sz="12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idx =</a:t>
            </a: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Q = P→next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while (Q &lt;&gt; Nil) do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if (Q→info &lt; idx→info) then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	idx = Q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	Q = Q→next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endwhile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altLang="en-US" sz="12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temp =</a:t>
            </a: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P→info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P→info =</a:t>
            </a: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idx→info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idx→info =</a:t>
            </a:r>
            <a:r>
              <a:rPr lang="en-US" sz="1200"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 temp</a:t>
            </a: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endParaRPr lang="en-US" sz="1200"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	P = P→next</a:t>
            </a:r>
            <a:endParaRPr lang="en-US" sz="12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  <a:p>
            <a:pPr marL="0" indent="0" latinLnBrk="0">
              <a:spcBef>
                <a:spcPts val="300"/>
              </a:spcBef>
              <a:buNone/>
            </a:pPr>
            <a:r>
              <a:rPr lang="en-US" sz="1200" dirty="0">
                <a:uFillTx/>
                <a:latin typeface="Arial" panose="02080604020202020204" pitchFamily="34" charset="0"/>
                <a:ea typeface="AR PL UKai CN" panose="02000503000000000000" charset="-122"/>
                <a:cs typeface="Arial" panose="02080604020202020204" pitchFamily="34" charset="0"/>
                <a:sym typeface="+mn-ea"/>
              </a:rPr>
              <a:t>	endwhile</a:t>
            </a:r>
            <a:endParaRPr lang="en-US" sz="1200" dirty="0">
              <a:uFillTx/>
              <a:latin typeface="Arial" panose="02080604020202020204" pitchFamily="34" charset="0"/>
              <a:ea typeface="AR PL UKai CN" panose="02000503000000000000" charset="-122"/>
              <a:cs typeface="Arial" panose="02080604020202020204" pitchFamily="34" charset="0"/>
              <a:sym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55" y="4425315"/>
            <a:ext cx="1550035" cy="158432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758989" y="3503625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40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357530" y="2851759"/>
          <a:ext cx="354495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49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L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6" name="Straight Arrow Connector 9"/>
          <p:cNvCxnSpPr>
            <a:stCxn id="15" idx="2"/>
            <a:endCxn id="10" idx="1"/>
          </p:cNvCxnSpPr>
          <p:nvPr/>
        </p:nvCxnSpPr>
        <p:spPr>
          <a:xfrm rot="5400000" flipV="1">
            <a:off x="3427413" y="3343593"/>
            <a:ext cx="466725" cy="224790"/>
          </a:xfrm>
          <a:prstGeom prst="bentConnector2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263110" y="3504886"/>
          <a:ext cx="109102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36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20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8" name="Straight Arrow Connector 9"/>
          <p:cNvCxnSpPr>
            <a:endCxn id="17" idx="1"/>
          </p:cNvCxnSpPr>
          <p:nvPr/>
        </p:nvCxnSpPr>
        <p:spPr>
          <a:xfrm>
            <a:off x="4723783" y="3690306"/>
            <a:ext cx="53932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029233" y="3510298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15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r>
                        <a:rPr 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/</a:t>
                      </a:r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672202" y="3504886"/>
          <a:ext cx="109075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1095"/>
                <a:gridCol w="32965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en-US" dirty="0">
                          <a:uFillTx/>
                          <a:latin typeface="Arial" panose="02080604020202020204" pitchFamily="34" charset="0"/>
                          <a:cs typeface="Arial" panose="02080604020202020204" pitchFamily="34" charset="0"/>
                        </a:rPr>
                        <a:t>10</a:t>
                      </a:r>
                      <a:endParaRPr lang="en-US" alt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/>
                      <a:endParaRPr lang="en-US" dirty="0">
                        <a:uFillTx/>
                        <a:latin typeface="Arial" panose="02080604020202020204" pitchFamily="34" charset="0"/>
                        <a:cs typeface="Arial" panose="0208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1" name="Straight Arrow Connector 9"/>
          <p:cNvCxnSpPr>
            <a:endCxn id="20" idx="1"/>
          </p:cNvCxnSpPr>
          <p:nvPr/>
        </p:nvCxnSpPr>
        <p:spPr>
          <a:xfrm>
            <a:off x="6190582" y="3680730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9"/>
          <p:cNvCxnSpPr/>
          <p:nvPr/>
        </p:nvCxnSpPr>
        <p:spPr>
          <a:xfrm>
            <a:off x="7533607" y="3690890"/>
            <a:ext cx="495590" cy="9576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4264660" y="3992880"/>
            <a:ext cx="0" cy="332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1"/>
          <p:cNvSpPr>
            <a:spLocks noGrp="1"/>
          </p:cNvSpPr>
          <p:nvPr/>
        </p:nvSpPr>
        <p:spPr>
          <a:xfrm>
            <a:off x="3636010" y="4425315"/>
            <a:ext cx="1256665" cy="509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593725" indent="-182880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2pPr>
            <a:lvl3pPr marL="822325" indent="-182880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3pPr>
            <a:lvl4pPr marL="105092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panose="0208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4pPr>
            <a:lvl5pPr marL="1233805" indent="-182880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MS PGothic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altLang="en-US" sz="1800" dirty="0">
                <a:latin typeface="Arial" panose="02080604020202020204" pitchFamily="34" charset="0"/>
                <a:cs typeface="Arial" panose="02080604020202020204" pitchFamily="34" charset="0"/>
                <a:sym typeface="+mn-ea"/>
              </a:rPr>
              <a:t>First</a:t>
            </a:r>
            <a:endParaRPr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29210" marR="292735" indent="0" algn="ctr">
              <a:lnSpc>
                <a:spcPct val="100000"/>
              </a:lnSpc>
              <a:spcBef>
                <a:spcPts val="100"/>
              </a:spcBef>
              <a:buNone/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spc="-35" dirty="0">
              <a:latin typeface="Arial" panose="02080604020202020204" pitchFamily="34" charset="0"/>
              <a:cs typeface="Arial" panose="02080604020202020204" pitchFamily="34" charset="0"/>
              <a:sym typeface="+mn-ea"/>
            </a:endParaRPr>
          </a:p>
          <a:p>
            <a:pPr marL="374650" marR="292735" indent="-345440" algn="ctr">
              <a:lnSpc>
                <a:spcPct val="100000"/>
              </a:lnSpc>
              <a:spcBef>
                <a:spcPts val="100"/>
              </a:spcBef>
            </a:pPr>
            <a:endParaRPr lang="en-US" altLang="id-ID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358775" cy="365125"/>
          </a:xfrm>
        </p:spPr>
        <p:txBody>
          <a:bodyPr/>
          <a:lstStyle/>
          <a:p>
            <a:pPr>
              <a:defRPr/>
            </a:pPr>
            <a:fld id="{1F2884EB-C6E3-684C-A39B-0E652C4E0E60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1643063" cy="365125"/>
          </a:xfrm>
        </p:spPr>
        <p:txBody>
          <a:bodyPr/>
          <a:lstStyle/>
          <a:p>
            <a:pPr>
              <a:defRPr/>
            </a:pPr>
            <a:fld id="{BDF9ACDF-1E6F-4801-9B61-F59A09F6E115}" type="datetime1">
              <a:rPr lang="en-US" smtClean="0"/>
            </a:fld>
            <a:endParaRPr lang="en-US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2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8_template_informatika_slide">
  <a:themeElements>
    <a:clrScheme name="IEEE Corporate">
      <a:dk1>
        <a:sysClr val="windowText" lastClr="000000"/>
      </a:dk1>
      <a:lt1>
        <a:sysClr val="window" lastClr="FFFFFF"/>
      </a:lt1>
      <a:dk2>
        <a:srgbClr val="00678F"/>
      </a:dk2>
      <a:lt2>
        <a:srgbClr val="EEECE1"/>
      </a:lt2>
      <a:accent1>
        <a:srgbClr val="0066A1"/>
      </a:accent1>
      <a:accent2>
        <a:srgbClr val="E37222"/>
      </a:accent2>
      <a:accent3>
        <a:srgbClr val="71953D"/>
      </a:accent3>
      <a:accent4>
        <a:srgbClr val="6B1F7C"/>
      </a:accent4>
      <a:accent5>
        <a:srgbClr val="009FDB"/>
      </a:accent5>
      <a:accent6>
        <a:srgbClr val="810031"/>
      </a:accent6>
      <a:hlink>
        <a:srgbClr val="0066A1"/>
      </a:hlink>
      <a:folHlink>
        <a:srgbClr val="541868"/>
      </a:folHlink>
    </a:clrScheme>
    <a:fontScheme name="Office">
      <a:majorFont>
        <a:latin typeface="Verdan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/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ieee_presentation_template.pot</Template>
  <TotalTime>0</TotalTime>
  <Words>5974</Words>
  <Application>WPS Presentation</Application>
  <PresentationFormat>On-screen Show (4:3)</PresentationFormat>
  <Paragraphs>470</Paragraphs>
  <Slides>25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15</vt:i4>
      </vt:variant>
      <vt:variant>
        <vt:lpstr>幻灯片标题</vt:lpstr>
      </vt:variant>
      <vt:variant>
        <vt:i4>25</vt:i4>
      </vt:variant>
    </vt:vector>
  </HeadingPairs>
  <TitlesOfParts>
    <vt:vector size="62" baseType="lpstr">
      <vt:lpstr>Arial</vt:lpstr>
      <vt:lpstr>SimSun</vt:lpstr>
      <vt:lpstr>Wingdings</vt:lpstr>
      <vt:lpstr>Verdana</vt:lpstr>
      <vt:lpstr>Ubuntu Light</vt:lpstr>
      <vt:lpstr>MS PGothic</vt:lpstr>
      <vt:lpstr>Gubbi</vt:lpstr>
      <vt:lpstr>Lucida Grande</vt:lpstr>
      <vt:lpstr>Wingdings</vt:lpstr>
      <vt:lpstr>DejaVu Sans</vt:lpstr>
      <vt:lpstr>Arial</vt:lpstr>
      <vt:lpstr>OpenSymbol</vt:lpstr>
      <vt:lpstr>Verdana</vt:lpstr>
      <vt:lpstr>Brush Script Std</vt:lpstr>
      <vt:lpstr>AR PL UKai CN</vt:lpstr>
      <vt:lpstr>DejaVu Math TeX Gyre</vt:lpstr>
      <vt:lpstr>Microsoft YaHei</vt:lpstr>
      <vt:lpstr>Droid Sans Fallback</vt:lpstr>
      <vt:lpstr>Arial Unicode MS</vt:lpstr>
      <vt:lpstr>Calibri</vt:lpstr>
      <vt:lpstr>Ubuntu</vt:lpstr>
      <vt:lpstr>Noto Serif CJK HK</vt:lpstr>
      <vt:lpstr>template_informatika_slide</vt:lpstr>
      <vt:lpstr>42_template_informatika_slide</vt:lpstr>
      <vt:lpstr>20_template_informatika_slide</vt:lpstr>
      <vt:lpstr>2_template_informatika_slide</vt:lpstr>
      <vt:lpstr>1_template_informatika_slide</vt:lpstr>
      <vt:lpstr>3_template_informatika_slide</vt:lpstr>
      <vt:lpstr>4_template_informatika_slide</vt:lpstr>
      <vt:lpstr>5_template_informatika_slide</vt:lpstr>
      <vt:lpstr>7_template_informatika_slide</vt:lpstr>
      <vt:lpstr>9_template_informatika_slide</vt:lpstr>
      <vt:lpstr>6_template_informatika_slide</vt:lpstr>
      <vt:lpstr>10_template_informatika_slide</vt:lpstr>
      <vt:lpstr>11_template_informatika_slide</vt:lpstr>
      <vt:lpstr>12_template_informatika_slide</vt:lpstr>
      <vt:lpstr>8_template_informatika_slide</vt:lpstr>
      <vt:lpstr>CDK2AAB4 - Struktur Data  Searching, Sorting,  Split &amp; Merge on Single Linked List</vt:lpstr>
      <vt:lpstr>Single Linked List</vt:lpstr>
      <vt:lpstr>Deklarasi Struktur Data</vt:lpstr>
      <vt:lpstr>Deklarasi Struktur Data - Tipe data bentukan</vt:lpstr>
      <vt:lpstr>Prosedur pembuatan List</vt:lpstr>
      <vt:lpstr>Prosedur pembuatan element</vt:lpstr>
      <vt:lpstr>Prosedur pembuatan element (record)</vt:lpstr>
      <vt:lpstr>Prosedur pembuatan element (record)</vt:lpstr>
      <vt:lpstr>Linked List - Various Operation - Middle Level</vt:lpstr>
      <vt:lpstr>Show Linked List</vt:lpstr>
      <vt:lpstr>Show Linked List - Odd only</vt:lpstr>
      <vt:lpstr>Kelipatan Bilangan</vt:lpstr>
      <vt:lpstr>Search by Info</vt:lpstr>
      <vt:lpstr>Search by Pointer</vt:lpstr>
      <vt:lpstr>Count element</vt:lpstr>
      <vt:lpstr>Count element - Even Only</vt:lpstr>
      <vt:lpstr>Minimum data</vt:lpstr>
      <vt:lpstr>Linked List - Various Operation - Mythic Level</vt:lpstr>
      <vt:lpstr>Split List</vt:lpstr>
      <vt:lpstr>Split Ganjil Genap</vt:lpstr>
      <vt:lpstr>Merge List</vt:lpstr>
      <vt:lpstr>Merge List Sorted</vt:lpstr>
      <vt:lpstr>Selection Sort</vt:lpstr>
      <vt:lpstr>Minimum Sort</vt:lpstr>
      <vt:lpstr>PowerPoint 演示文稿</vt:lpstr>
    </vt:vector>
  </TitlesOfParts>
  <Company>IEEE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anditya.arifianto@gmail.com</dc:creator>
  <cp:lastModifiedBy>bintang</cp:lastModifiedBy>
  <cp:revision>1480</cp:revision>
  <dcterms:created xsi:type="dcterms:W3CDTF">2025-10-11T02:40:26Z</dcterms:created>
  <dcterms:modified xsi:type="dcterms:W3CDTF">2025-10-11T02:40:26Z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