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57" r:id="rId3"/>
    <p:sldMasterId id="2147483666" r:id="rId4"/>
    <p:sldMasterId id="2147483675" r:id="rId5"/>
    <p:sldMasterId id="2147483684" r:id="rId6"/>
    <p:sldMasterId id="2147483693" r:id="rId7"/>
  </p:sldMasterIdLst>
  <p:notesMasterIdLst>
    <p:notesMasterId r:id="rId16"/>
  </p:notesMasterIdLst>
  <p:handoutMasterIdLst>
    <p:handoutMasterId r:id="rId42"/>
  </p:handoutMasterIdLst>
  <p:sldIdLst>
    <p:sldId id="304" r:id="rId8"/>
    <p:sldId id="305" r:id="rId9"/>
    <p:sldId id="296" r:id="rId10"/>
    <p:sldId id="315" r:id="rId11"/>
    <p:sldId id="316" r:id="rId12"/>
    <p:sldId id="297" r:id="rId13"/>
    <p:sldId id="300" r:id="rId14"/>
    <p:sldId id="323" r:id="rId15"/>
    <p:sldId id="30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02" r:id="rId36"/>
    <p:sldId id="345" r:id="rId37"/>
    <p:sldId id="346" r:id="rId38"/>
    <p:sldId id="347" r:id="rId39"/>
    <p:sldId id="348" r:id="rId40"/>
    <p:sldId id="258" r:id="rId4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678" y="72"/>
      </p:cViewPr>
      <p:guideLst>
        <p:guide orient="horz" pos="2160"/>
        <p:guide pos="285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3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3.xml"/><Relationship Id="rId40" Type="http://schemas.openxmlformats.org/officeDocument/2006/relationships/slide" Target="slides/slide3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B9219-4A66-4B41-AFAD-B4DCC55121D3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99D96-90C2-44B4-8DCF-3216EB4C3627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96F5A-DA36-4202-8F3F-DA89D0431918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BABC4-D3F8-4FEC-A081-17F891AA9F9F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2 == constant then print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empty </a:t>
            </a:r>
            <a:r>
              <a:rPr lang="en-US">
                <a:sym typeface="Wingdings" panose="05000000000000000000" pitchFamily="2" charset="2"/>
              </a:rPr>
              <a:t> 2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* == operator then push because empty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* </a:t>
            </a:r>
            <a:r>
              <a:rPr lang="en-US">
                <a:sym typeface="Wingdings" panose="05000000000000000000" pitchFamily="2" charset="2"/>
              </a:rPr>
              <a:t> 2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3 == constant then print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* </a:t>
            </a:r>
            <a:r>
              <a:rPr lang="en-US">
                <a:sym typeface="Wingdings" panose="05000000000000000000" pitchFamily="2" charset="2"/>
              </a:rPr>
              <a:t> 23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/ == operator then pop and push because / precedence is not higher than top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/ </a:t>
            </a:r>
            <a:r>
              <a:rPr lang="en-US">
                <a:sym typeface="Wingdings" panose="05000000000000000000" pitchFamily="2" charset="2"/>
              </a:rPr>
              <a:t> 23*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( == delimiter then push because it is opening delimiter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/( </a:t>
            </a:r>
            <a:r>
              <a:rPr lang="en-US">
                <a:sym typeface="Wingdings" panose="05000000000000000000" pitchFamily="2" charset="2"/>
              </a:rPr>
              <a:t> 23*</a:t>
            </a: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/>
              <a:t>2 == constant then print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/( </a:t>
            </a:r>
            <a:r>
              <a:rPr lang="en-US">
                <a:sym typeface="Wingdings" panose="05000000000000000000" pitchFamily="2" charset="2"/>
              </a:rPr>
              <a:t> 23*2</a:t>
            </a: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/>
              <a:t>- == operator then push because top is opening delimiter </a:t>
            </a:r>
            <a:r>
              <a:rPr lang="en-US">
                <a:sym typeface="Wingdings" panose="05000000000000000000" pitchFamily="2" charset="2"/>
              </a:rPr>
              <a:t> stack = /(-  23*2</a:t>
            </a:r>
            <a:endParaRPr lang="en-US"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/>
              <a:t>1 == constant then print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/(- </a:t>
            </a:r>
            <a:r>
              <a:rPr lang="en-US">
                <a:sym typeface="Wingdings" panose="05000000000000000000" pitchFamily="2" charset="2"/>
              </a:rPr>
              <a:t> 23*21</a:t>
            </a: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/>
              <a:t>) == delimiter then pop and print until opening delimiter is found </a:t>
            </a:r>
            <a:r>
              <a:rPr lang="en-US">
                <a:sym typeface="Wingdings" panose="05000000000000000000" pitchFamily="2" charset="2"/>
              </a:rPr>
              <a:t> stack = /  23*21-</a:t>
            </a:r>
            <a:endParaRPr lang="en-US"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>
                <a:sym typeface="Wingdings" panose="05000000000000000000" pitchFamily="2" charset="2"/>
              </a:rPr>
              <a:t>+ == operator then pop and push because + precedence is not higher than top  stack  = +  23*21/</a:t>
            </a:r>
            <a:endParaRPr lang="en-US"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/>
              <a:t>5 == constant then print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=+ </a:t>
            </a:r>
            <a:r>
              <a:rPr lang="en-US">
                <a:sym typeface="Wingdings" panose="05000000000000000000" pitchFamily="2" charset="2"/>
              </a:rPr>
              <a:t> 23*21/5</a:t>
            </a:r>
            <a:endParaRPr lang="en-US"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>
                <a:sym typeface="Wingdings" panose="05000000000000000000" pitchFamily="2" charset="2"/>
              </a:rPr>
              <a:t>* == operator then push because * operator is higher than top  stack = +*  23*21/5</a:t>
            </a:r>
            <a:endParaRPr lang="en-US"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/>
              <a:t>3 == constant then print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=+* </a:t>
            </a:r>
            <a:r>
              <a:rPr lang="en-US">
                <a:sym typeface="Wingdings" panose="05000000000000000000" pitchFamily="2" charset="2"/>
              </a:rPr>
              <a:t> 23*21/53</a:t>
            </a:r>
            <a:endParaRPr lang="en-US"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>
                <a:sym typeface="Wingdings" panose="05000000000000000000" pitchFamily="2" charset="2"/>
              </a:rPr>
              <a:t>Pop all  stack = empty  23*21/53*+</a:t>
            </a:r>
            <a:endParaRPr lang="en-US"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lang="en-US"/>
          </a:p>
          <a:p>
            <a:pPr marL="228600" indent="-228600">
              <a:buAutoNum type="arabicPeriod"/>
            </a:pPr>
            <a:endParaRPr lang="en-US"/>
          </a:p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4 == constant then push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4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5 == constant then push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4 5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+ == operator then pop, pop, evaluate, then push eval. result 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9</a:t>
            </a: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/>
              <a:t>7 == constant then push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9 7</a:t>
            </a: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/>
              <a:t>2 == constant then push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9 7 2</a:t>
            </a: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>
                <a:sym typeface="Wingdings" panose="05000000000000000000" pitchFamily="2" charset="2"/>
              </a:rPr>
              <a:t>- == operator then pop, pop, evaluate, then push eval. result  stack  = 9 5</a:t>
            </a:r>
            <a:endParaRPr lang="en-US"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>
                <a:sym typeface="Wingdings" panose="05000000000000000000" pitchFamily="2" charset="2"/>
              </a:rPr>
              <a:t>* == operator then pop, pop, evaluate, then push eval. result  stack  = 45</a:t>
            </a:r>
            <a:endParaRPr lang="en-US"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lang="en-US"/>
          </a:p>
          <a:p>
            <a:pPr marL="228600" indent="-228600">
              <a:buAutoNum type="arabicPeriod"/>
            </a:pPr>
            <a:endParaRPr lang="en-US"/>
          </a:p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4 == constant then push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4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5 == constant then push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4 5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+ == operator then pop, pop, evaluate, then push eval. result 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9</a:t>
            </a: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/>
              <a:t>7 == constant then push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9 7</a:t>
            </a: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/>
              <a:t>2 == constant then push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stack = 9 7 2</a:t>
            </a: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>
                <a:sym typeface="Wingdings" panose="05000000000000000000" pitchFamily="2" charset="2"/>
              </a:rPr>
              <a:t>- == operator then pop, pop, evaluate, then push eval. result  stack  = 9 5</a:t>
            </a:r>
            <a:endParaRPr lang="en-US"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>
                <a:sym typeface="Wingdings" panose="05000000000000000000" pitchFamily="2" charset="2"/>
              </a:rPr>
              <a:t>* == operator then pop, pop, evaluate, then push eval. result  stack  = 45</a:t>
            </a:r>
            <a:endParaRPr lang="en-US"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lang="en-US"/>
          </a:p>
          <a:p>
            <a:pPr marL="228600" indent="-228600">
              <a:buAutoNum type="arabicPeriod"/>
            </a:pPr>
            <a:endParaRPr lang="en-US"/>
          </a:p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3" Type="http://schemas.openxmlformats.org/officeDocument/2006/relationships/theme" Target="../theme/theme3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4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33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3" Type="http://schemas.openxmlformats.org/officeDocument/2006/relationships/theme" Target="../theme/theme6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</p:sldLayoutIdLst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erlin Sans FB Demi" panose="020E0802020502020306" pitchFamily="34" charset="0"/>
                <a:cs typeface="Aharoni" panose="02010803020104030203" pitchFamily="2" charset="-79"/>
              </a:rPr>
              <a:t>CSG2A3</a:t>
            </a:r>
            <a:br>
              <a:rPr lang="en-US" dirty="0">
                <a:latin typeface="Berlin Sans FB Demi" panose="020E0802020502020306" pitchFamily="34" charset="0"/>
                <a:cs typeface="Aharoni" panose="02010803020104030203" pitchFamily="2" charset="-79"/>
              </a:rPr>
            </a:br>
            <a:r>
              <a:rPr lang="en-US" dirty="0" smtClean="0">
                <a:latin typeface="Berlin Sans FB Demi" panose="020E0802020502020306" pitchFamily="34" charset="0"/>
                <a:cs typeface="Aharoni" panose="02010803020104030203" pitchFamily="2" charset="-79"/>
              </a:rPr>
              <a:t>ALGORITMA </a:t>
            </a:r>
            <a:r>
              <a:rPr lang="en-US" dirty="0" err="1" smtClean="0">
                <a:latin typeface="Berlin Sans FB Demi" panose="020E0802020502020306" pitchFamily="34" charset="0"/>
                <a:cs typeface="Aharoni" panose="02010803020104030203" pitchFamily="2" charset="-79"/>
              </a:rPr>
              <a:t>dan</a:t>
            </a:r>
            <a:r>
              <a:rPr lang="en-US" dirty="0" smtClean="0">
                <a:latin typeface="Berlin Sans FB Demi" panose="020E0802020502020306" pitchFamily="34" charset="0"/>
                <a:cs typeface="Aharoni" panose="02010803020104030203" pitchFamily="2" charset="-79"/>
              </a:rPr>
              <a:t> STRUKTUR DATA</a:t>
            </a:r>
            <a:br>
              <a:rPr lang="en-US" dirty="0" smtClean="0">
                <a:latin typeface="Berlin Sans FB Demi" panose="020E0802020502020306" pitchFamily="34" charset="0"/>
                <a:cs typeface="Aharoni" panose="02010803020104030203" pitchFamily="2" charset="-79"/>
              </a:rPr>
            </a:br>
            <a:r>
              <a:rPr lang="en-US" dirty="0" smtClean="0">
                <a:latin typeface="Berlin Sans FB Demi" panose="020E0802020502020306" pitchFamily="34" charset="0"/>
                <a:cs typeface="Aharoni" panose="02010803020104030203" pitchFamily="2" charset="-79"/>
              </a:rPr>
              <a:t>STACK - INFIX, PREFIX, POSTFIX</a:t>
            </a:r>
            <a:endParaRPr lang="en-US" dirty="0" smtClean="0">
              <a:latin typeface="Berlin Sans FB Demi" panose="020E0802020502020306" pitchFamily="34" charset="0"/>
              <a:cs typeface="Aharoni" panose="02010803020104030203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id-ID" dirty="0"/>
              <a:t>Infix, Prefix dan Postfix adalah </a:t>
            </a:r>
            <a:r>
              <a:rPr lang="en-US" altLang="id-ID" b="1" dirty="0"/>
              <a:t>cara penulisan</a:t>
            </a:r>
            <a:r>
              <a:rPr lang="en-US" altLang="id-ID" dirty="0"/>
              <a:t> dari </a:t>
            </a:r>
            <a:r>
              <a:rPr lang="en-US" altLang="id-ID" b="1" dirty="0"/>
              <a:t>notasi matematika</a:t>
            </a:r>
            <a:r>
              <a:rPr lang="en-US" altLang="id-ID" dirty="0"/>
              <a:t> yang terdiri dari operator dan operand</a:t>
            </a:r>
            <a:endParaRPr lang="en-US" altLang="id-ID" dirty="0"/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id-ID" dirty="0"/>
              <a:t>Prefix dan Postfix lebih mudah untuk dilakukan </a:t>
            </a:r>
            <a:r>
              <a:rPr lang="en-US" altLang="id-ID" b="1" dirty="0"/>
              <a:t>komputasi di komputer</a:t>
            </a:r>
            <a:endParaRPr lang="en-US" altLang="id-ID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 smtClean="0"/>
              <a:t>Pengertian</a:t>
            </a:r>
            <a:endParaRPr lang="id-ID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/>
              <a:t>Infix, Postfix and Prefix Expressions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id-ID" b="1" dirty="0"/>
              <a:t>INFIX:</a:t>
            </a:r>
            <a:r>
              <a:rPr lang="en-US" altLang="id-ID" dirty="0"/>
              <a:t> </a:t>
            </a:r>
            <a:endParaRPr lang="en-US" altLang="id-ID" dirty="0" smtClean="0"/>
          </a:p>
          <a:p>
            <a:pPr lvl="1">
              <a:lnSpc>
                <a:spcPct val="80000"/>
              </a:lnSpc>
              <a:buFont typeface="Arial" panose="02080604020202020204" pitchFamily="34" charset="0"/>
              <a:buChar char="•"/>
            </a:pPr>
            <a:r>
              <a:rPr lang="en-US" altLang="id-ID" dirty="0" smtClean="0"/>
              <a:t>operands </a:t>
            </a:r>
            <a:r>
              <a:rPr lang="en-US" altLang="id-ID" dirty="0"/>
              <a:t>surround the operator, </a:t>
            </a:r>
            <a:endParaRPr lang="en-US" altLang="id-ID" dirty="0" smtClean="0"/>
          </a:p>
          <a:p>
            <a:pPr lvl="1">
              <a:lnSpc>
                <a:spcPct val="80000"/>
              </a:lnSpc>
              <a:buFont typeface="Arial" panose="02080604020202020204" pitchFamily="34" charset="0"/>
              <a:buChar char="•"/>
            </a:pPr>
            <a:r>
              <a:rPr lang="en-US" altLang="id-ID" dirty="0" err="1" smtClean="0"/>
              <a:t>x+y</a:t>
            </a:r>
            <a:r>
              <a:rPr lang="en-US" altLang="id-ID" dirty="0"/>
              <a:t>, </a:t>
            </a:r>
            <a:r>
              <a:rPr lang="en-US" altLang="id-ID" dirty="0" smtClean="0"/>
              <a:t>6*3 etc</a:t>
            </a:r>
            <a:r>
              <a:rPr lang="en-US" altLang="id-ID" dirty="0"/>
              <a:t>.</a:t>
            </a:r>
            <a:endParaRPr lang="en-US" altLang="id-ID" dirty="0" smtClean="0"/>
          </a:p>
          <a:p>
            <a:pPr>
              <a:lnSpc>
                <a:spcPct val="80000"/>
              </a:lnSpc>
            </a:pPr>
            <a:r>
              <a:rPr lang="en-US" altLang="id-ID" b="1" dirty="0" smtClean="0"/>
              <a:t>POSTFIX</a:t>
            </a:r>
            <a:r>
              <a:rPr lang="en-US" altLang="id-ID" dirty="0"/>
              <a:t>: </a:t>
            </a:r>
            <a:endParaRPr lang="en-US" altLang="id-ID" dirty="0" smtClean="0"/>
          </a:p>
          <a:p>
            <a:pPr lvl="1">
              <a:lnSpc>
                <a:spcPct val="80000"/>
              </a:lnSpc>
              <a:buFont typeface="Arial" panose="02080604020202020204" pitchFamily="34" charset="0"/>
              <a:buChar char="•"/>
            </a:pPr>
            <a:r>
              <a:rPr lang="en-US" altLang="id-ID" dirty="0" smtClean="0"/>
              <a:t>Reverse </a:t>
            </a:r>
            <a:r>
              <a:rPr lang="en-US" altLang="id-ID" dirty="0"/>
              <a:t>Polish Notation (RPN). </a:t>
            </a:r>
            <a:endParaRPr lang="en-US" altLang="id-ID" dirty="0" smtClean="0"/>
          </a:p>
          <a:p>
            <a:pPr lvl="1">
              <a:lnSpc>
                <a:spcPct val="80000"/>
              </a:lnSpc>
              <a:buFont typeface="Arial" panose="02080604020202020204" pitchFamily="34" charset="0"/>
              <a:buChar char="•"/>
            </a:pPr>
            <a:r>
              <a:rPr lang="en-US" altLang="id-ID" dirty="0" smtClean="0"/>
              <a:t>operator </a:t>
            </a:r>
            <a:r>
              <a:rPr lang="en-US" altLang="id-ID" dirty="0"/>
              <a:t>comes after the operands, </a:t>
            </a:r>
            <a:endParaRPr lang="en-US" altLang="id-ID" dirty="0" smtClean="0"/>
          </a:p>
          <a:p>
            <a:pPr lvl="1">
              <a:lnSpc>
                <a:spcPct val="80000"/>
              </a:lnSpc>
              <a:buFont typeface="Arial" panose="02080604020202020204" pitchFamily="34" charset="0"/>
              <a:buChar char="•"/>
            </a:pPr>
            <a:r>
              <a:rPr lang="en-US" altLang="id-ID" dirty="0" err="1" smtClean="0"/>
              <a:t>xy</a:t>
            </a:r>
            <a:r>
              <a:rPr lang="en-US" altLang="id-ID" dirty="0"/>
              <a:t>+, xyz+* etc.</a:t>
            </a:r>
            <a:endParaRPr lang="en-US" altLang="id-ID" dirty="0"/>
          </a:p>
          <a:p>
            <a:pPr>
              <a:lnSpc>
                <a:spcPct val="80000"/>
              </a:lnSpc>
            </a:pPr>
            <a:r>
              <a:rPr lang="en-US" altLang="id-ID" b="1" dirty="0" smtClean="0"/>
              <a:t>PREFIX</a:t>
            </a:r>
            <a:r>
              <a:rPr lang="en-US" altLang="id-ID" b="1" dirty="0"/>
              <a:t>:</a:t>
            </a:r>
            <a:r>
              <a:rPr lang="en-US" altLang="id-ID" dirty="0"/>
              <a:t> </a:t>
            </a:r>
            <a:endParaRPr lang="en-US" altLang="id-ID" dirty="0" smtClean="0"/>
          </a:p>
          <a:p>
            <a:pPr lvl="1">
              <a:lnSpc>
                <a:spcPct val="80000"/>
              </a:lnSpc>
              <a:buFont typeface="Arial" panose="02080604020202020204" pitchFamily="34" charset="0"/>
              <a:buChar char="•"/>
            </a:pPr>
            <a:r>
              <a:rPr lang="en-US" altLang="id-ID" dirty="0" smtClean="0"/>
              <a:t>Polish </a:t>
            </a:r>
            <a:r>
              <a:rPr lang="en-US" altLang="id-ID" dirty="0"/>
              <a:t>notation</a:t>
            </a:r>
            <a:r>
              <a:rPr lang="en-US" altLang="id-ID" dirty="0" smtClean="0"/>
              <a:t>.</a:t>
            </a:r>
            <a:endParaRPr lang="en-US" altLang="id-ID" dirty="0" smtClean="0"/>
          </a:p>
          <a:p>
            <a:pPr lvl="1">
              <a:lnSpc>
                <a:spcPct val="80000"/>
              </a:lnSpc>
              <a:buFont typeface="Arial" panose="02080604020202020204" pitchFamily="34" charset="0"/>
              <a:buChar char="•"/>
            </a:pPr>
            <a:r>
              <a:rPr lang="en-US" altLang="id-ID" dirty="0" smtClean="0"/>
              <a:t>operator </a:t>
            </a:r>
            <a:r>
              <a:rPr lang="en-US" altLang="id-ID" dirty="0"/>
              <a:t>comes before the operands, </a:t>
            </a:r>
            <a:endParaRPr lang="en-US" altLang="id-ID" dirty="0" smtClean="0"/>
          </a:p>
          <a:p>
            <a:pPr lvl="1">
              <a:lnSpc>
                <a:spcPct val="80000"/>
              </a:lnSpc>
              <a:buFont typeface="Arial" panose="02080604020202020204" pitchFamily="34" charset="0"/>
              <a:buChar char="•"/>
            </a:pPr>
            <a:r>
              <a:rPr lang="en-US" altLang="id-ID" dirty="0" smtClean="0"/>
              <a:t>+</a:t>
            </a:r>
            <a:r>
              <a:rPr lang="en-US" altLang="id-ID" dirty="0" err="1"/>
              <a:t>xy</a:t>
            </a:r>
            <a:r>
              <a:rPr lang="en-US" altLang="id-ID" dirty="0"/>
              <a:t>, *+xyz etc</a:t>
            </a:r>
            <a:r>
              <a:rPr lang="en-US" altLang="id-ID" dirty="0" smtClean="0"/>
              <a:t>.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Prefix or Postfix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>
                <a:solidFill>
                  <a:schemeClr val="hlink"/>
                </a:solidFill>
              </a:rPr>
              <a:t>INFIX </a:t>
            </a:r>
            <a:r>
              <a:rPr lang="en-US" dirty="0"/>
              <a:t>notations are not as simple as they seem specially while evaluating them. </a:t>
            </a:r>
            <a:endParaRPr lang="en-US" dirty="0" smtClean="0"/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 smtClean="0"/>
              <a:t>To </a:t>
            </a:r>
            <a:r>
              <a:rPr lang="en-US" dirty="0"/>
              <a:t>evaluate an infix expression we need to consider Operators’ Priority and Associative property</a:t>
            </a:r>
            <a:endParaRPr lang="en-US" dirty="0"/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>
                <a:solidFill>
                  <a:schemeClr val="hlink"/>
                </a:solidFill>
              </a:rPr>
              <a:t>For example</a:t>
            </a:r>
            <a:r>
              <a:rPr lang="en-US" dirty="0"/>
              <a:t>  expression 3+5*4 evaluate to 32 i.e. </a:t>
            </a:r>
            <a:r>
              <a:rPr lang="en-US" dirty="0">
                <a:solidFill>
                  <a:schemeClr val="hlink"/>
                </a:solidFill>
              </a:rPr>
              <a:t>(3+5)*4</a:t>
            </a:r>
            <a:r>
              <a:rPr lang="en-US" dirty="0"/>
              <a:t> 	</a:t>
            </a:r>
            <a:r>
              <a:rPr lang="en-US" dirty="0" smtClean="0"/>
              <a:t>or </a:t>
            </a:r>
            <a:r>
              <a:rPr lang="en-US" dirty="0"/>
              <a:t>to 23 i.e. </a:t>
            </a:r>
            <a:r>
              <a:rPr lang="en-US" dirty="0">
                <a:solidFill>
                  <a:schemeClr val="hlink"/>
                </a:solidFill>
              </a:rPr>
              <a:t>3+(5*4).</a:t>
            </a:r>
            <a:r>
              <a:rPr lang="en-US" dirty="0"/>
              <a:t> </a:t>
            </a:r>
            <a:endParaRPr lang="en-US" dirty="0"/>
          </a:p>
          <a:p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Infix Expression Is Hard To Parse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ko-KR" dirty="0">
                <a:ea typeface="굴림" panose="020B0600000101010101" pitchFamily="34" charset="-127"/>
              </a:rPr>
              <a:t>Need operator priorities, tie breaker, and delimiters.</a:t>
            </a:r>
            <a:endParaRPr lang="en-US" altLang="ko-KR" dirty="0">
              <a:ea typeface="굴림" panose="020B0600000101010101" pitchFamily="34" charset="-127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ko-KR" dirty="0">
                <a:ea typeface="굴림" panose="020B0600000101010101" pitchFamily="34" charset="-127"/>
              </a:rPr>
              <a:t>This makes computer evaluation more difficult than is necessary.</a:t>
            </a:r>
            <a:endParaRPr lang="en-US" altLang="ko-KR" dirty="0">
              <a:ea typeface="굴림" panose="020B0600000101010101" pitchFamily="34" charset="-127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ko-KR" dirty="0">
                <a:solidFill>
                  <a:srgbClr val="FF3300"/>
                </a:solidFill>
                <a:ea typeface="굴림" panose="020B0600000101010101" pitchFamily="34" charset="-127"/>
              </a:rPr>
              <a:t>Postfix</a:t>
            </a:r>
            <a:r>
              <a:rPr lang="en-US" altLang="ko-KR" dirty="0">
                <a:ea typeface="굴림" panose="020B0600000101010101" pitchFamily="34" charset="-127"/>
              </a:rPr>
              <a:t> and </a:t>
            </a:r>
            <a:r>
              <a:rPr lang="en-US" altLang="ko-KR" dirty="0">
                <a:solidFill>
                  <a:srgbClr val="FF3300"/>
                </a:solidFill>
                <a:ea typeface="굴림" panose="020B0600000101010101" pitchFamily="34" charset="-127"/>
              </a:rPr>
              <a:t>prefix</a:t>
            </a:r>
            <a:r>
              <a:rPr lang="en-US" altLang="ko-KR" dirty="0">
                <a:ea typeface="굴림" panose="020B0600000101010101" pitchFamily="34" charset="-127"/>
              </a:rPr>
              <a:t> expression forms do not rely on operator priorities, a tie breaker, or delimiters.</a:t>
            </a:r>
            <a:endParaRPr lang="en-US" altLang="ko-KR" dirty="0">
              <a:ea typeface="굴림" panose="020B0600000101010101" pitchFamily="34" charset="-127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ko-KR" dirty="0">
                <a:ea typeface="굴림" panose="020B0600000101010101" pitchFamily="34" charset="-127"/>
              </a:rPr>
              <a:t>So it is easier to evaluate expressions that are in these forms.</a:t>
            </a:r>
            <a:endParaRPr lang="en-US" altLang="ko-KR" dirty="0">
              <a:ea typeface="굴림" panose="020B0600000101010101" pitchFamily="34" charset="-127"/>
            </a:endParaRPr>
          </a:p>
          <a:p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Operator </a:t>
            </a:r>
            <a:r>
              <a:rPr lang="en-US" altLang="ko-KR" dirty="0" smtClean="0">
                <a:ea typeface="굴림" panose="020B0600000101010101" pitchFamily="34" charset="-127"/>
              </a:rPr>
              <a:t>Priorities</a:t>
            </a:r>
            <a:endParaRPr lang="en-US" altLang="ko-KR" dirty="0" smtClean="0">
              <a:ea typeface="굴림" panose="020B0600000101010101" pitchFamily="34" charset="-127"/>
            </a:endParaRPr>
          </a:p>
          <a:p>
            <a:pPr lvl="1"/>
            <a:r>
              <a:rPr lang="id-ID" dirty="0"/>
              <a:t>priority(*) = priority(/) &gt; priority(+) = priority(-)</a:t>
            </a:r>
            <a:endParaRPr lang="id-ID" dirty="0"/>
          </a:p>
          <a:p>
            <a:r>
              <a:rPr lang="en-US" altLang="ko-KR" dirty="0">
                <a:ea typeface="굴림" panose="020B0600000101010101" pitchFamily="34" charset="-127"/>
              </a:rPr>
              <a:t>Tie </a:t>
            </a:r>
            <a:r>
              <a:rPr lang="en-US" altLang="ko-KR" dirty="0" smtClean="0">
                <a:ea typeface="굴림" panose="020B0600000101010101" pitchFamily="34" charset="-127"/>
              </a:rPr>
              <a:t>Breaker</a:t>
            </a:r>
            <a:endParaRPr lang="en-US" altLang="ko-KR" dirty="0" smtClean="0">
              <a:ea typeface="굴림" panose="020B0600000101010101" pitchFamily="34" charset="-127"/>
            </a:endParaRPr>
          </a:p>
          <a:p>
            <a:pPr lvl="1"/>
            <a:r>
              <a:rPr lang="en-US" altLang="ko-KR" dirty="0">
                <a:ea typeface="굴림" panose="020B0600000101010101" pitchFamily="34" charset="-127"/>
              </a:rPr>
              <a:t>When an operand lies between two operators that have the same priority, the operand associates with the operator </a:t>
            </a:r>
            <a:r>
              <a:rPr lang="en-US" altLang="ko-KR" dirty="0">
                <a:solidFill>
                  <a:srgbClr val="FF3300"/>
                </a:solidFill>
                <a:ea typeface="굴림" panose="020B0600000101010101" pitchFamily="34" charset="-127"/>
              </a:rPr>
              <a:t>on the left</a:t>
            </a:r>
            <a:r>
              <a:rPr lang="en-US" altLang="ko-KR" dirty="0">
                <a:ea typeface="굴림" panose="020B0600000101010101" pitchFamily="34" charset="-127"/>
              </a:rPr>
              <a:t>.	</a:t>
            </a:r>
            <a:endParaRPr lang="en-US" altLang="ko-KR" dirty="0">
              <a:ea typeface="굴림" panose="020B0600000101010101" pitchFamily="34" charset="-127"/>
            </a:endParaRPr>
          </a:p>
          <a:p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infix to prefix and post fix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  <p:graphicFrame>
        <p:nvGraphicFramePr>
          <p:cNvPr id="8" name="Group 3"/>
          <p:cNvGraphicFramePr>
            <a:graphicFrameLocks noGrp="1"/>
          </p:cNvGraphicFramePr>
          <p:nvPr/>
        </p:nvGraphicFramePr>
        <p:xfrm>
          <a:off x="762000" y="2418081"/>
          <a:ext cx="7274559" cy="233222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611120"/>
                <a:gridCol w="2238586"/>
                <a:gridCol w="2424853"/>
              </a:tblGrid>
              <a:tr h="4312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Infix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PostFix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Prefix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</a:tr>
              <a:tr h="6250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A+B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AB+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+AB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</a:tr>
              <a:tr h="6250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(A+B) * (C + D)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AB+CD+*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*+AB+CD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</a:tr>
              <a:tr h="6250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A-B/(C*D^E)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ABCDE^*/-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-A/B*C^DE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: Infix to Postfix</a:t>
            </a:r>
            <a:endParaRPr lang="en-ID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graphicFrame>
        <p:nvGraphicFramePr>
          <p:cNvPr id="11" name="Content Placeholder 23"/>
          <p:cNvGraphicFramePr/>
          <p:nvPr/>
        </p:nvGraphicFramePr>
        <p:xfrm>
          <a:off x="7097776" y="2150560"/>
          <a:ext cx="1493520" cy="4128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3520"/>
              </a:tblGrid>
              <a:tr h="27520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Output </a:t>
                      </a:r>
                      <a:endParaRPr lang="id-ID"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Content Placeholder 23"/>
          <p:cNvGraphicFramePr/>
          <p:nvPr/>
        </p:nvGraphicFramePr>
        <p:xfrm>
          <a:off x="5165265" y="2150560"/>
          <a:ext cx="1533097" cy="4128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164"/>
                <a:gridCol w="1266933"/>
              </a:tblGrid>
              <a:tr h="275209">
                <a:tc>
                  <a:txBody>
                    <a:bodyPr/>
                    <a:lstStyle/>
                    <a:p>
                      <a:pPr algn="ctr"/>
                      <a:endParaRPr lang="id-ID"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Stack</a:t>
                      </a:r>
                      <a:endParaRPr lang="id-ID"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75209">
                <a:tc rowSpan="14">
                  <a:txBody>
                    <a:bodyPr/>
                    <a:lstStyle/>
                    <a:p>
                      <a:pPr algn="ctr"/>
                      <a:r>
                        <a:rPr lang="en-US" sz="1100"/>
                        <a:t>(bottom</a:t>
                      </a:r>
                      <a:r>
                        <a:rPr lang="en-US" sz="1100" baseline="0"/>
                        <a:t> stack)</a:t>
                      </a:r>
                      <a:endParaRPr lang="id-ID" sz="1100"/>
                    </a:p>
                  </a:txBody>
                  <a:tcPr vert="eaVert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</a:tbl>
          </a:graphicData>
        </a:graphic>
      </p:graphicFrame>
      <p:graphicFrame>
        <p:nvGraphicFramePr>
          <p:cNvPr id="13" name="Content Placeholder 23"/>
          <p:cNvGraphicFramePr/>
          <p:nvPr/>
        </p:nvGraphicFramePr>
        <p:xfrm>
          <a:off x="3662760" y="2150560"/>
          <a:ext cx="1024561" cy="4128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4561"/>
              </a:tblGrid>
              <a:tr h="27520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Expression</a:t>
                      </a:r>
                      <a:endParaRPr lang="id-ID"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019296" y="2382763"/>
            <a:ext cx="4856480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tabLst>
                <a:tab pos="1943100" algn="ctr"/>
                <a:tab pos="3089275" algn="l"/>
              </a:tabLst>
            </a:pPr>
            <a:r>
              <a:rPr lang="en-US" dirty="0">
                <a:latin typeface="Times New Roman"/>
                <a:ea typeface="MS PGothic"/>
                <a:cs typeface="Times New Roman"/>
              </a:rPr>
              <a:t>2</a:t>
            </a:r>
            <a:endParaRPr lang="en-US" dirty="0">
              <a:latin typeface="Times New Roman"/>
              <a:ea typeface="MS PGothic"/>
              <a:cs typeface="Times New Roman"/>
            </a:endParaRPr>
          </a:p>
          <a:p>
            <a:pPr>
              <a:tabLst>
                <a:tab pos="1943100" algn="ctr"/>
                <a:tab pos="30892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1943100" algn="ctr"/>
                <a:tab pos="3089275" algn="l"/>
              </a:tabLst>
            </a:pPr>
            <a:r>
              <a:rPr lang="en-US" dirty="0">
                <a:latin typeface="Times New Roman"/>
                <a:ea typeface="MS PGothic"/>
                <a:cs typeface="Times New Roman"/>
              </a:rPr>
              <a:t>3</a:t>
            </a:r>
            <a:endParaRPr lang="en-US" dirty="0">
              <a:latin typeface="Times New Roman"/>
              <a:ea typeface="MS PGothic"/>
              <a:cs typeface="Times New Roman"/>
            </a:endParaRPr>
          </a:p>
          <a:p>
            <a:pPr>
              <a:tabLst>
                <a:tab pos="1943100" algn="ctr"/>
                <a:tab pos="30892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1943100" algn="ctr"/>
                <a:tab pos="3089275" algn="l"/>
              </a:tabLst>
            </a:pPr>
            <a:r>
              <a:rPr lang="en-US" dirty="0">
                <a:latin typeface="Times New Roman"/>
                <a:ea typeface="MS PGothic"/>
                <a:cs typeface="Times New Roman"/>
              </a:rPr>
              <a:t>(</a:t>
            </a:r>
            <a:endParaRPr lang="en-US" dirty="0">
              <a:latin typeface="Times New Roman"/>
              <a:ea typeface="MS PGothic"/>
              <a:cs typeface="Times New Roman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	/( 	23*2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	/(-	23*2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	/(- 	23*21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	/ 	23*21-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	+	23*21-/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	+ 	23*21-/5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	+*	23*21-/5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/>
                <a:ea typeface="MS PGothic"/>
                <a:cs typeface="Times New Roman"/>
              </a:rPr>
              <a:t>                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+* </a:t>
            </a:r>
            <a:r>
              <a:rPr lang="en-US" dirty="0">
                <a:latin typeface="Times New Roman"/>
                <a:ea typeface="MS PGothic"/>
                <a:cs typeface="Times New Roman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23*21-/53</a:t>
            </a:r>
            <a:endParaRPr lang="id-ID" dirty="0">
              <a:latin typeface="Times New Roman"/>
              <a:ea typeface="MS PGothic"/>
              <a:cs typeface="Times New Roman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 dirty="0">
                <a:latin typeface="Times New Roman"/>
                <a:ea typeface="MS PGothic"/>
                <a:cs typeface="Times New Roman"/>
              </a:rPr>
              <a:t> 	Empty 	23*21-/53*+</a:t>
            </a:r>
            <a:endParaRPr lang="en-US" dirty="0">
              <a:latin typeface="Times New Roman"/>
              <a:ea typeface="MS PGothic"/>
              <a:cs typeface="Times New Roman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22976" y="2382763"/>
            <a:ext cx="10325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/( 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97776" y="2382763"/>
            <a:ext cx="14935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23*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23*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125" y="2150560"/>
            <a:ext cx="30131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id-ID" sz="2400">
                <a:solidFill>
                  <a:schemeClr val="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2*3/(2-1)+5*3</a:t>
            </a:r>
            <a:endParaRPr lang="en-US" altLang="id-ID" sz="2400">
              <a:solidFill>
                <a:schemeClr val="hlin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id-ID" sz="2400">
              <a:latin typeface="+mj-lt"/>
              <a:cs typeface="Times New Roman" panose="02020603050405020304" pitchFamily="18" charset="0"/>
            </a:endParaRPr>
          </a:p>
          <a:p>
            <a:r>
              <a:rPr lang="en-US" altLang="id-ID" sz="2400">
                <a:latin typeface="+mj-lt"/>
                <a:cs typeface="Times New Roman" panose="02020603050405020304" pitchFamily="18" charset="0"/>
              </a:rPr>
              <a:t>Rules:</a:t>
            </a:r>
            <a:endParaRPr lang="en-US" altLang="id-ID" sz="2400">
              <a:latin typeface="+mj-lt"/>
              <a:cs typeface="Times New Roman" panose="02020603050405020304" pitchFamily="18" charset="0"/>
            </a:endParaRPr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altLang="id-ID" sz="1600" b="1">
                <a:latin typeface="+mj-lt"/>
                <a:cs typeface="Times New Roman" panose="02020603050405020304" pitchFamily="18" charset="0"/>
              </a:rPr>
              <a:t>Operand</a:t>
            </a:r>
            <a:r>
              <a:rPr lang="en-US" altLang="id-ID" sz="1600">
                <a:latin typeface="+mj-lt"/>
                <a:cs typeface="Times New Roman" panose="02020603050405020304" pitchFamily="18" charset="0"/>
              </a:rPr>
              <a:t>, no push, “print” only</a:t>
            </a:r>
            <a:endParaRPr lang="en-US" altLang="id-ID" sz="1600">
              <a:latin typeface="+mj-lt"/>
              <a:cs typeface="Times New Roman" panose="02020603050405020304" pitchFamily="18" charset="0"/>
            </a:endParaRPr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altLang="id-ID" sz="1600" b="1">
                <a:latin typeface="+mj-lt"/>
                <a:cs typeface="Times New Roman" panose="02020603050405020304" pitchFamily="18" charset="0"/>
              </a:rPr>
              <a:t>Operator</a:t>
            </a:r>
            <a:r>
              <a:rPr lang="en-US" altLang="id-ID" sz="1600">
                <a:latin typeface="+mj-lt"/>
                <a:cs typeface="Times New Roman" panose="02020603050405020304" pitchFamily="18" charset="0"/>
              </a:rPr>
              <a:t>, push to stack (if op. has higher precedence than top, or pop &amp; push if lower/same)</a:t>
            </a:r>
            <a:endParaRPr lang="en-US" altLang="id-ID" sz="1600">
              <a:latin typeface="+mj-lt"/>
              <a:cs typeface="Times New Roman" panose="02020603050405020304" pitchFamily="18" charset="0"/>
            </a:endParaRPr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altLang="id-ID" sz="1600" b="1">
                <a:latin typeface="+mj-lt"/>
                <a:cs typeface="Times New Roman" panose="02020603050405020304" pitchFamily="18" charset="0"/>
              </a:rPr>
              <a:t>Delimiter</a:t>
            </a:r>
            <a:r>
              <a:rPr lang="en-US" altLang="id-ID" sz="1600">
                <a:latin typeface="+mj-lt"/>
                <a:cs typeface="Times New Roman" panose="02020603050405020304" pitchFamily="18" charset="0"/>
              </a:rPr>
              <a:t>, push (opening) or pop &amp; “print" (closing) until opening </a:t>
            </a:r>
            <a:r>
              <a:rPr lang="en-US" altLang="id-ID" sz="1600" err="1">
                <a:latin typeface="+mj-lt"/>
                <a:cs typeface="Times New Roman" panose="02020603050405020304" pitchFamily="18" charset="0"/>
              </a:rPr>
              <a:t>delim</a:t>
            </a:r>
            <a:r>
              <a:rPr lang="en-US" altLang="id-ID" sz="1600">
                <a:latin typeface="+mj-lt"/>
                <a:cs typeface="Times New Roman" panose="02020603050405020304" pitchFamily="18" charset="0"/>
              </a:rPr>
              <a:t>. found. Delimiter is not printed.</a:t>
            </a:r>
            <a:endParaRPr lang="en-US" altLang="id-ID" sz="2400">
              <a:latin typeface="+mj-lt"/>
              <a:cs typeface="Times New Roman" panose="02020603050405020304" pitchFamily="18" charset="0"/>
            </a:endParaRPr>
          </a:p>
          <a:p>
            <a:pPr marL="342900" indent="-342900">
              <a:buFont typeface="Arial" panose="02080604020202020204" pitchFamily="34" charset="0"/>
              <a:buChar char="•"/>
            </a:pPr>
            <a:endParaRPr lang="en-US" altLang="id-ID" sz="2400"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0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10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Evaluating a postfix Expression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stack to evaluate an expression in postfix notation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  <p:pic>
        <p:nvPicPr>
          <p:cNvPr id="7" name="Picture 3" descr="A:\stacks_fig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124" y="2892460"/>
            <a:ext cx="6060440" cy="332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: Postfix Evaluation</a:t>
            </a:r>
            <a:endParaRPr lang="en-ID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graphicFrame>
        <p:nvGraphicFramePr>
          <p:cNvPr id="12" name="Content Placeholder 23"/>
          <p:cNvGraphicFramePr/>
          <p:nvPr/>
        </p:nvGraphicFramePr>
        <p:xfrm>
          <a:off x="6896094" y="2150560"/>
          <a:ext cx="1533097" cy="2201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164"/>
                <a:gridCol w="1266933"/>
              </a:tblGrid>
              <a:tr h="275209">
                <a:tc>
                  <a:txBody>
                    <a:bodyPr/>
                    <a:lstStyle/>
                    <a:p>
                      <a:pPr algn="ctr"/>
                      <a:endParaRPr lang="id-ID"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Stack</a:t>
                      </a:r>
                      <a:endParaRPr lang="id-ID"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75209">
                <a:tc rowSpan="7">
                  <a:txBody>
                    <a:bodyPr/>
                    <a:lstStyle/>
                    <a:p>
                      <a:pPr algn="ctr"/>
                      <a:r>
                        <a:rPr lang="en-US" sz="1100"/>
                        <a:t>(bottom</a:t>
                      </a:r>
                      <a:r>
                        <a:rPr lang="en-US" sz="1100" baseline="0"/>
                        <a:t> stack)</a:t>
                      </a:r>
                      <a:endParaRPr lang="id-ID" sz="1100"/>
                    </a:p>
                  </a:txBody>
                  <a:tcPr vert="eaVert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5209">
                <a:tc v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</a:tbl>
          </a:graphicData>
        </a:graphic>
      </p:graphicFrame>
      <p:graphicFrame>
        <p:nvGraphicFramePr>
          <p:cNvPr id="13" name="Content Placeholder 23"/>
          <p:cNvGraphicFramePr/>
          <p:nvPr/>
        </p:nvGraphicFramePr>
        <p:xfrm>
          <a:off x="5393589" y="2150560"/>
          <a:ext cx="1024561" cy="2201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4561"/>
              </a:tblGrid>
              <a:tr h="27520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Expression</a:t>
                      </a:r>
                      <a:endParaRPr lang="id-ID"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  <a:tr h="275209">
                <a:tc>
                  <a:txBody>
                    <a:bodyPr/>
                    <a:lstStyle/>
                    <a:p>
                      <a:endParaRPr lang="id-ID" sz="1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750125" y="2382763"/>
            <a:ext cx="48564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943100" algn="ctr"/>
                <a:tab pos="3089275" algn="l"/>
              </a:tabLs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1943100" algn="ctr"/>
                <a:tab pos="3089275" algn="l"/>
              </a:tabLs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1943100" algn="ctr"/>
                <a:tab pos="3089275" algn="l"/>
              </a:tabLs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1943100" algn="ctr"/>
                <a:tab pos="3089275" algn="l"/>
              </a:tabLs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1943100" algn="ctr"/>
                <a:tab pos="3089275" algn="l"/>
              </a:tabLs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	9 5	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*	45	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09600">
              <a:tabLst>
                <a:tab pos="1485900" algn="l"/>
                <a:tab pos="3089275" algn="l"/>
              </a:tabLs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id-ID"/>
          </a:p>
        </p:txBody>
      </p:sp>
      <p:sp>
        <p:nvSpPr>
          <p:cNvPr id="15" name="Rectangle 14"/>
          <p:cNvSpPr/>
          <p:nvPr/>
        </p:nvSpPr>
        <p:spPr>
          <a:xfrm>
            <a:off x="7253805" y="2382763"/>
            <a:ext cx="10325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4 5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9 7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9 7 2</a:t>
            </a:r>
            <a:endParaRPr lang="id-ID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125" y="2150560"/>
            <a:ext cx="47620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id-ID" sz="2400">
                <a:solidFill>
                  <a:schemeClr val="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45+72-*</a:t>
            </a:r>
            <a:endParaRPr lang="en-US" altLang="id-ID" sz="2400">
              <a:solidFill>
                <a:schemeClr val="hlin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id-ID" sz="2400">
              <a:latin typeface="+mj-lt"/>
              <a:cs typeface="Times New Roman" panose="02020603050405020304" pitchFamily="18" charset="0"/>
            </a:endParaRPr>
          </a:p>
          <a:p>
            <a:r>
              <a:rPr lang="en-US" altLang="id-ID" sz="2400">
                <a:latin typeface="+mj-lt"/>
                <a:cs typeface="Times New Roman" panose="02020603050405020304" pitchFamily="18" charset="0"/>
              </a:rPr>
              <a:t>Rules:</a:t>
            </a:r>
            <a:endParaRPr lang="en-US" altLang="id-ID" sz="2400">
              <a:latin typeface="+mj-lt"/>
              <a:cs typeface="Times New Roman" panose="02020603050405020304" pitchFamily="18" charset="0"/>
            </a:endParaRPr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altLang="id-ID" sz="1600" b="1">
                <a:latin typeface="+mj-lt"/>
                <a:cs typeface="Times New Roman" panose="02020603050405020304" pitchFamily="18" charset="0"/>
              </a:rPr>
              <a:t>Operand</a:t>
            </a:r>
            <a:r>
              <a:rPr lang="en-US" altLang="id-ID" sz="1600">
                <a:latin typeface="+mj-lt"/>
                <a:cs typeface="Times New Roman" panose="02020603050405020304" pitchFamily="18" charset="0"/>
              </a:rPr>
              <a:t>, push</a:t>
            </a:r>
            <a:endParaRPr lang="en-US" altLang="id-ID" sz="1600">
              <a:latin typeface="+mj-lt"/>
              <a:cs typeface="Times New Roman" panose="02020603050405020304" pitchFamily="18" charset="0"/>
            </a:endParaRPr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altLang="id-ID" sz="1600" b="1">
                <a:latin typeface="+mj-lt"/>
                <a:cs typeface="Times New Roman" panose="02020603050405020304" pitchFamily="18" charset="0"/>
              </a:rPr>
              <a:t>Operator</a:t>
            </a:r>
            <a:r>
              <a:rPr lang="en-US" altLang="id-ID" sz="1600">
                <a:latin typeface="+mj-lt"/>
                <a:cs typeface="Times New Roman" panose="02020603050405020304" pitchFamily="18" charset="0"/>
              </a:rPr>
              <a:t>, pop &amp; evaluate, push evaluation result</a:t>
            </a:r>
            <a:endParaRPr lang="en-US" altLang="id-ID" sz="2400">
              <a:latin typeface="+mj-lt"/>
              <a:cs typeface="Times New Roman" panose="02020603050405020304" pitchFamily="18" charset="0"/>
            </a:endParaRPr>
          </a:p>
          <a:p>
            <a:pPr marL="342900" indent="-342900">
              <a:buFont typeface="Arial" panose="02080604020202020204" pitchFamily="34" charset="0"/>
              <a:buChar char="•"/>
            </a:pPr>
            <a:endParaRPr lang="en-US" altLang="id-ID" sz="24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2" name="Picture 3" descr="A:\stacks_fig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96" y="4187328"/>
            <a:ext cx="3895785" cy="2137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Evaluation: Postfix to Infix</a:t>
            </a:r>
            <a:endParaRPr lang="en-ID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65125" y="2150560"/>
            <a:ext cx="821281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id-ID" sz="2400" u="sng">
                <a:latin typeface="+mj-lt"/>
                <a:cs typeface="Times New Roman" panose="02020603050405020304" pitchFamily="18" charset="0"/>
              </a:rPr>
              <a:t>Evaluate the postfix expression: </a:t>
            </a:r>
            <a:r>
              <a:rPr lang="en-US" altLang="id-ID" sz="2400" b="1" u="sng">
                <a:latin typeface="Courier New" panose="02070309020205020404" pitchFamily="49" charset="0"/>
                <a:cs typeface="Courier New" panose="02070309020205020404" pitchFamily="49" charset="0"/>
              </a:rPr>
              <a:t>AB+CD-*</a:t>
            </a:r>
            <a:endParaRPr lang="en-US" altLang="id-ID" sz="2400" b="1" u="sng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id-ID" sz="1600">
              <a:latin typeface="+mj-lt"/>
              <a:cs typeface="Times New Roman" panose="02020603050405020304" pitchFamily="18" charset="0"/>
            </a:endParaRPr>
          </a:p>
          <a:p>
            <a:r>
              <a:rPr lang="en-US" altLang="id-ID" sz="1600">
                <a:latin typeface="+mj-lt"/>
                <a:cs typeface="Times New Roman" panose="02020603050405020304" pitchFamily="18" charset="0"/>
              </a:rPr>
              <a:t>Start scanning from left to right </a:t>
            </a:r>
            <a:r>
              <a:rPr lang="en-US" altLang="id-ID" sz="160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en-US" altLang="id-ID" sz="1600">
              <a:latin typeface="+mj-lt"/>
              <a:cs typeface="Times New Roman" panose="02020603050405020304" pitchFamily="18" charset="0"/>
            </a:endParaRPr>
          </a:p>
          <a:p>
            <a:endParaRPr lang="en-US" altLang="id-ID" sz="2400">
              <a:latin typeface="+mj-lt"/>
              <a:cs typeface="Times New Roman" panose="02020603050405020304" pitchFamily="18" charset="0"/>
            </a:endParaRPr>
          </a:p>
          <a:p>
            <a:endParaRPr lang="en-US" altLang="id-ID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3509" y="4865916"/>
            <a:ext cx="644692" cy="2577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A</a:t>
            </a:r>
            <a:endParaRPr lang="en-ID" b="1"/>
          </a:p>
        </p:txBody>
      </p:sp>
      <p:cxnSp>
        <p:nvCxnSpPr>
          <p:cNvPr id="9" name="Straight Connector 8"/>
          <p:cNvCxnSpPr/>
          <p:nvPr/>
        </p:nvCxnSpPr>
        <p:spPr>
          <a:xfrm>
            <a:off x="108856" y="3581400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47056" y="3581400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08856" y="5257800"/>
            <a:ext cx="849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-146503" y="5257800"/>
            <a:ext cx="135255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Push A 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(operand)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96816" y="4867444"/>
            <a:ext cx="644692" cy="2577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A</a:t>
            </a:r>
            <a:endParaRPr lang="en-ID" b="1"/>
          </a:p>
        </p:txBody>
      </p:sp>
      <p:cxnSp>
        <p:nvCxnSpPr>
          <p:cNvPr id="26" name="Straight Connector 25"/>
          <p:cNvCxnSpPr/>
          <p:nvPr/>
        </p:nvCxnSpPr>
        <p:spPr>
          <a:xfrm>
            <a:off x="1112163" y="3582928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950363" y="3582928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1112163" y="5259328"/>
            <a:ext cx="849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6804" y="5259328"/>
            <a:ext cx="135255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Push B 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(operand)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92849" y="4520836"/>
            <a:ext cx="644692" cy="2577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B</a:t>
            </a:r>
            <a:endParaRPr lang="en-ID" b="1"/>
          </a:p>
        </p:txBody>
      </p:sp>
      <p:sp>
        <p:nvSpPr>
          <p:cNvPr id="31" name="Rectangle 30"/>
          <p:cNvSpPr/>
          <p:nvPr/>
        </p:nvSpPr>
        <p:spPr>
          <a:xfrm>
            <a:off x="2410587" y="4865917"/>
            <a:ext cx="753548" cy="2445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A+B</a:t>
            </a:r>
            <a:endParaRPr lang="en-ID" b="1"/>
          </a:p>
        </p:txBody>
      </p:sp>
      <p:cxnSp>
        <p:nvCxnSpPr>
          <p:cNvPr id="32" name="Straight Connector 31"/>
          <p:cNvCxnSpPr/>
          <p:nvPr/>
        </p:nvCxnSpPr>
        <p:spPr>
          <a:xfrm>
            <a:off x="2336821" y="3581400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240336" y="3581400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2336821" y="5257800"/>
            <a:ext cx="8962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005259" y="5257800"/>
            <a:ext cx="1643062" cy="7386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id-ID" sz="1400" dirty="0">
                <a:latin typeface="+mj-lt"/>
                <a:ea typeface="MS PGothic"/>
                <a:cs typeface="Times New Roman"/>
              </a:rPr>
              <a:t>Operator + Pop 2 elements A+B </a:t>
            </a:r>
            <a:endParaRPr lang="en-US" altLang="id-ID" sz="1400" dirty="0">
              <a:latin typeface="+mj-lt"/>
              <a:ea typeface="MS PGothic"/>
              <a:cs typeface="Times New Roman"/>
            </a:endParaRPr>
          </a:p>
          <a:p>
            <a:pPr algn="ctr"/>
            <a:r>
              <a:rPr lang="en-US" altLang="id-ID" sz="1400" dirty="0">
                <a:latin typeface="+mj-lt"/>
                <a:ea typeface="MS PGothic"/>
                <a:cs typeface="Times New Roman"/>
              </a:rPr>
              <a:t>Push A+B</a:t>
            </a:r>
            <a:endParaRPr lang="en-US" altLang="id-ID" sz="1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739583" y="4865916"/>
            <a:ext cx="746619" cy="27278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A+B</a:t>
            </a:r>
            <a:endParaRPr lang="en-ID" b="1"/>
          </a:p>
        </p:txBody>
      </p:sp>
      <p:cxnSp>
        <p:nvCxnSpPr>
          <p:cNvPr id="40" name="Straight Connector 39"/>
          <p:cNvCxnSpPr/>
          <p:nvPr/>
        </p:nvCxnSpPr>
        <p:spPr>
          <a:xfrm>
            <a:off x="3665817" y="3581400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569332" y="3581400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3665817" y="5257800"/>
            <a:ext cx="8962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334255" y="5257800"/>
            <a:ext cx="1643062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Push C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(operand)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791212" y="4865917"/>
            <a:ext cx="741251" cy="24459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A+B</a:t>
            </a:r>
            <a:endParaRPr lang="en-ID" b="1"/>
          </a:p>
        </p:txBody>
      </p:sp>
      <p:cxnSp>
        <p:nvCxnSpPr>
          <p:cNvPr id="52" name="Straight Connector 51"/>
          <p:cNvCxnSpPr/>
          <p:nvPr/>
        </p:nvCxnSpPr>
        <p:spPr>
          <a:xfrm>
            <a:off x="4717446" y="3581400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620961" y="3581400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717446" y="5257800"/>
            <a:ext cx="8962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353226" y="5257800"/>
            <a:ext cx="1643062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Push D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(operand)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791211" y="4521511"/>
            <a:ext cx="741251" cy="24459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C</a:t>
            </a:r>
            <a:endParaRPr lang="en-ID" b="1"/>
          </a:p>
        </p:txBody>
      </p:sp>
      <p:sp>
        <p:nvSpPr>
          <p:cNvPr id="57" name="Rectangle 56"/>
          <p:cNvSpPr/>
          <p:nvPr/>
        </p:nvSpPr>
        <p:spPr>
          <a:xfrm>
            <a:off x="4778804" y="4176899"/>
            <a:ext cx="741251" cy="24459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D</a:t>
            </a:r>
            <a:endParaRPr lang="en-ID" b="1"/>
          </a:p>
        </p:txBody>
      </p:sp>
      <p:sp>
        <p:nvSpPr>
          <p:cNvPr id="58" name="Rectangle 57"/>
          <p:cNvSpPr/>
          <p:nvPr/>
        </p:nvSpPr>
        <p:spPr>
          <a:xfrm>
            <a:off x="6103902" y="4852730"/>
            <a:ext cx="753546" cy="25777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A+B</a:t>
            </a:r>
            <a:endParaRPr lang="en-ID" b="1"/>
          </a:p>
        </p:txBody>
      </p:sp>
      <p:cxnSp>
        <p:nvCxnSpPr>
          <p:cNvPr id="59" name="Straight Connector 58"/>
          <p:cNvCxnSpPr/>
          <p:nvPr/>
        </p:nvCxnSpPr>
        <p:spPr>
          <a:xfrm>
            <a:off x="6030136" y="3568213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6933651" y="3568213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6030136" y="5244613"/>
            <a:ext cx="8962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698574" y="5244613"/>
            <a:ext cx="1643062" cy="738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Operator – Pop 2 elements C-D 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Push C-D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097898" y="4517010"/>
            <a:ext cx="753546" cy="25777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C-D</a:t>
            </a:r>
            <a:endParaRPr lang="en-ID" b="1"/>
          </a:p>
        </p:txBody>
      </p:sp>
      <p:sp>
        <p:nvSpPr>
          <p:cNvPr id="64" name="Rectangle 63"/>
          <p:cNvSpPr/>
          <p:nvPr/>
        </p:nvSpPr>
        <p:spPr>
          <a:xfrm>
            <a:off x="3730648" y="4509512"/>
            <a:ext cx="746619" cy="27278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C</a:t>
            </a:r>
            <a:endParaRPr lang="en-ID" b="1"/>
          </a:p>
        </p:txBody>
      </p:sp>
      <p:sp>
        <p:nvSpPr>
          <p:cNvPr id="73" name="Rectangle 72"/>
          <p:cNvSpPr/>
          <p:nvPr/>
        </p:nvSpPr>
        <p:spPr>
          <a:xfrm>
            <a:off x="7417514" y="4852730"/>
            <a:ext cx="1406545" cy="2859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A+B*C-D</a:t>
            </a:r>
            <a:endParaRPr lang="en-ID" b="1"/>
          </a:p>
        </p:txBody>
      </p:sp>
      <p:cxnSp>
        <p:nvCxnSpPr>
          <p:cNvPr id="74" name="Straight Connector 73"/>
          <p:cNvCxnSpPr/>
          <p:nvPr/>
        </p:nvCxnSpPr>
        <p:spPr>
          <a:xfrm>
            <a:off x="7321832" y="3568213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8900262" y="3568213"/>
            <a:ext cx="0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>
            <a:off x="7321832" y="5244613"/>
            <a:ext cx="15711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287206" y="5245475"/>
            <a:ext cx="1643062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Operator * Pop 2 elements A+B*C-D 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US" altLang="id-ID" sz="1400">
                <a:latin typeface="+mj-lt"/>
                <a:cs typeface="Times New Roman" panose="02020603050405020304" pitchFamily="18" charset="0"/>
              </a:rPr>
              <a:t>Push A+B*C-D </a:t>
            </a:r>
            <a:endParaRPr lang="en-US" altLang="id-ID" sz="1400"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23" grpId="0"/>
      <p:bldP spid="25" grpId="0" bldLvl="0" animBg="1"/>
      <p:bldP spid="29" grpId="0"/>
      <p:bldP spid="30" grpId="0" bldLvl="0" animBg="1"/>
      <p:bldP spid="31" grpId="0" bldLvl="0" animBg="1"/>
      <p:bldP spid="38" grpId="0"/>
      <p:bldP spid="39" grpId="0" bldLvl="0" animBg="1"/>
      <p:bldP spid="43" grpId="0"/>
      <p:bldP spid="51" grpId="0" bldLvl="0" animBg="1"/>
      <p:bldP spid="55" grpId="0"/>
      <p:bldP spid="56" grpId="0" bldLvl="0" animBg="1"/>
      <p:bldP spid="57" grpId="0" bldLvl="0" animBg="1"/>
      <p:bldP spid="58" grpId="0" bldLvl="0" animBg="1"/>
      <p:bldP spid="62" grpId="0"/>
      <p:bldP spid="63" grpId="0" bldLvl="0" animBg="1"/>
      <p:bldP spid="64" grpId="0" bldLvl="0" animBg="1"/>
      <p:bldP spid="73" grpId="0" bldLvl="0" animBg="1"/>
      <p:bldP spid="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Reverse the expression</a:t>
            </a:r>
            <a:endParaRPr lang="en-US"/>
          </a:p>
          <a:p>
            <a:pPr marL="247650" lvl="1" indent="0">
              <a:buNone/>
            </a:pPr>
            <a:r>
              <a:rPr lang="en-US"/>
              <a:t>- Delimiter opening convert to closing and closing to opening.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/>
              <a:t>Convert to Postfix </a:t>
            </a:r>
            <a:endParaRPr lang="en-US"/>
          </a:p>
          <a:p>
            <a:pPr marL="590550" lvl="1" indent="-342900">
              <a:buFontTx/>
              <a:buChar char="-"/>
            </a:pPr>
            <a:r>
              <a:rPr lang="en-US"/>
              <a:t>But if </a:t>
            </a:r>
            <a:r>
              <a:rPr lang="en-US" altLang="id-ID" b="1">
                <a:cs typeface="Times New Roman" panose="02020603050405020304" pitchFamily="18" charset="0"/>
              </a:rPr>
              <a:t>operator</a:t>
            </a:r>
            <a:r>
              <a:rPr lang="en-US" altLang="id-ID">
                <a:cs typeface="Times New Roman" panose="02020603050405020304" pitchFamily="18" charset="0"/>
              </a:rPr>
              <a:t>, push if operator has higher/</a:t>
            </a:r>
            <a:r>
              <a:rPr lang="en-US" altLang="id-ID" b="1">
                <a:solidFill>
                  <a:srgbClr val="FF0000"/>
                </a:solidFill>
                <a:cs typeface="Times New Roman" panose="02020603050405020304" pitchFamily="18" charset="0"/>
              </a:rPr>
              <a:t>same</a:t>
            </a:r>
            <a:r>
              <a:rPr lang="en-US" altLang="id-ID">
                <a:cs typeface="Times New Roman" panose="02020603050405020304" pitchFamily="18" charset="0"/>
              </a:rPr>
              <a:t> precedence with the top, or pop &amp; push if lower.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/>
              <a:t>Reverse the output </a:t>
            </a:r>
            <a:endParaRPr lang="id-ID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Infix to Prefix</a:t>
            </a:r>
            <a:endParaRPr lang="en-ID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3428999"/>
            <a:ext cx="8817429" cy="279763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67" y="4348807"/>
            <a:ext cx="648696" cy="3538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60" y="3428999"/>
            <a:ext cx="7879940" cy="278674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67" y="4348807"/>
            <a:ext cx="648696" cy="3538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60" y="3428999"/>
            <a:ext cx="7879940" cy="27976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256" y="3428999"/>
            <a:ext cx="6825343" cy="277585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73" y="3964773"/>
            <a:ext cx="648696" cy="3538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256" y="3428999"/>
            <a:ext cx="6825343" cy="28302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543" y="3428999"/>
            <a:ext cx="5138056" cy="227511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128" y="4294086"/>
            <a:ext cx="648696" cy="35382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9" y="5704114"/>
            <a:ext cx="5138056" cy="4245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571" y="3428999"/>
            <a:ext cx="5236027" cy="22751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9" y="5704114"/>
            <a:ext cx="5138056" cy="4245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685" y="3428999"/>
            <a:ext cx="4103913" cy="227511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304" y="3986545"/>
            <a:ext cx="648696" cy="3538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9" y="5704114"/>
            <a:ext cx="5138056" cy="4245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685" y="3428999"/>
            <a:ext cx="4103913" cy="22751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9" y="5704114"/>
            <a:ext cx="5138056" cy="4245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715" y="3428999"/>
            <a:ext cx="3058884" cy="227511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701" y="3681746"/>
            <a:ext cx="648696" cy="3538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9" y="5704114"/>
            <a:ext cx="5138056" cy="4245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715" y="3428999"/>
            <a:ext cx="3058884" cy="22751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9" y="5704114"/>
            <a:ext cx="5138056" cy="42454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713" y="3428999"/>
            <a:ext cx="1534885" cy="227511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15" y="3986548"/>
            <a:ext cx="648696" cy="3538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9" y="5704114"/>
            <a:ext cx="5138056" cy="42454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713" y="3428999"/>
            <a:ext cx="1534885" cy="22751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9" y="5704114"/>
            <a:ext cx="5138056" cy="4245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955" y="4294083"/>
            <a:ext cx="1165472" cy="3538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9" y="5704114"/>
            <a:ext cx="5138056" cy="4245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CDK2AAB4 – STRUKTUR DATA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18" y="2253344"/>
            <a:ext cx="9165304" cy="408695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Example: Prefix to Infix</a:t>
            </a:r>
            <a:endParaRPr lang="en-ID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803" y="669455"/>
            <a:ext cx="628738" cy="2286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5" y="1252597"/>
            <a:ext cx="8326438" cy="641239"/>
          </a:xfrm>
        </p:spPr>
        <p:txBody>
          <a:bodyPr/>
          <a:lstStyle/>
          <a:p>
            <a:r>
              <a:rPr lang="en-US" dirty="0" smtClean="0"/>
              <a:t>Train Your Brain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893836"/>
            <a:ext cx="8326438" cy="4054844"/>
          </a:xfrm>
        </p:spPr>
        <p:txBody>
          <a:bodyPr/>
          <a:lstStyle/>
          <a:p>
            <a:r>
              <a:rPr lang="en-US" altLang="id-ID" dirty="0">
                <a:sym typeface="+mn-ea"/>
              </a:rPr>
              <a:t>Suppose the notation already presented in double linked list.</a:t>
            </a:r>
            <a:endParaRPr lang="en-US" altLang="id-ID" dirty="0">
              <a:sym typeface="+mn-ea"/>
            </a:endParaRPr>
          </a:p>
          <a:p>
            <a:pPr marL="868045" lvl="1" indent="-457200">
              <a:buFont typeface="+mj-lt"/>
              <a:buAutoNum type="alphaLcPeriod"/>
            </a:pPr>
            <a:r>
              <a:rPr lang="en-US" dirty="0" smtClean="0">
                <a:sym typeface="+mn-ea"/>
              </a:rPr>
              <a:t>Write an algorithm to convert an infix expression to postfix and </a:t>
            </a:r>
            <a:r>
              <a:rPr lang="en-US" dirty="0">
                <a:sym typeface="+mn-ea"/>
              </a:rPr>
              <a:t>infix to </a:t>
            </a:r>
            <a:r>
              <a:rPr lang="en-US" dirty="0" smtClean="0">
                <a:sym typeface="+mn-ea"/>
              </a:rPr>
              <a:t>prefix</a:t>
            </a:r>
            <a:endParaRPr lang="en-US" dirty="0" smtClean="0"/>
          </a:p>
          <a:p>
            <a:pPr marL="868045" lvl="1" indent="-457200">
              <a:buFont typeface="+mj-lt"/>
              <a:buAutoNum type="alphaLcPeriod"/>
            </a:pPr>
            <a:r>
              <a:rPr lang="en-US" dirty="0" smtClean="0">
                <a:sym typeface="+mn-ea"/>
              </a:rPr>
              <a:t>Write an algorithm to evaluate a postfix and a prefix expression</a:t>
            </a:r>
            <a:endParaRPr lang="en-US" altLang="id-ID" dirty="0">
              <a:sym typeface="+mn-ea"/>
            </a:endParaRPr>
          </a:p>
          <a:p>
            <a:r>
              <a:rPr lang="en-US" altLang="id-ID" dirty="0">
                <a:sym typeface="+mn-ea"/>
              </a:rPr>
              <a:t>Use following functions/procedures to solve those problems</a:t>
            </a:r>
            <a:endParaRPr lang="en-US" altLang="id-ID" dirty="0">
              <a:sym typeface="+mn-ea"/>
            </a:endParaRPr>
          </a:p>
          <a:p>
            <a:pPr marL="868045" lvl="1" indent="-457200">
              <a:buFont typeface="+mj-lt"/>
              <a:buAutoNum type="alphaLcPeriod"/>
            </a:pPr>
            <a:r>
              <a:rPr lang="en-US" altLang="id-ID" sz="2000" dirty="0">
                <a:sym typeface="+mn-ea"/>
              </a:rPr>
              <a:t>isNumber, to check whether input is number</a:t>
            </a:r>
            <a:endParaRPr lang="en-US" altLang="id-ID" sz="2000" dirty="0">
              <a:sym typeface="+mn-ea"/>
            </a:endParaRPr>
          </a:p>
          <a:p>
            <a:pPr marL="868045" lvl="1" indent="-457200">
              <a:buFont typeface="+mj-lt"/>
              <a:buAutoNum type="alphaLcPeriod"/>
            </a:pPr>
            <a:r>
              <a:rPr lang="en-US" altLang="id-ID" sz="2000" dirty="0">
                <a:sym typeface="+mn-ea"/>
              </a:rPr>
              <a:t>isOperator, to check whether input is operator</a:t>
            </a:r>
            <a:endParaRPr lang="en-US" altLang="id-ID" sz="2000" dirty="0">
              <a:sym typeface="+mn-ea"/>
            </a:endParaRPr>
          </a:p>
          <a:p>
            <a:pPr marL="868045" lvl="1" indent="-457200">
              <a:buFont typeface="+mj-lt"/>
              <a:buAutoNum type="alphaLcPeriod"/>
            </a:pPr>
            <a:r>
              <a:rPr lang="en-US" altLang="id-ID" sz="2000" dirty="0">
                <a:sym typeface="+mn-ea"/>
              </a:rPr>
              <a:t>degree, return degree of operator</a:t>
            </a:r>
            <a:endParaRPr lang="en-US" altLang="id-ID" sz="2000" dirty="0">
              <a:sym typeface="+mn-ea"/>
            </a:endParaRPr>
          </a:p>
          <a:p>
            <a:pPr marL="868045" lvl="1" indent="-457200">
              <a:buFont typeface="+mj-lt"/>
              <a:buAutoNum type="alphaLcPeriod"/>
            </a:pPr>
            <a:r>
              <a:rPr lang="en-US" altLang="id-ID" sz="2000" dirty="0">
                <a:sym typeface="+mn-ea"/>
              </a:rPr>
              <a:t>merge, merge input parameter into one text</a:t>
            </a:r>
            <a:endParaRPr lang="en-US" altLang="id-ID" sz="2000" dirty="0">
              <a:sym typeface="+mn-ea"/>
            </a:endParaRPr>
          </a:p>
          <a:p>
            <a:pPr marL="868045" lvl="1" indent="-457200">
              <a:buFont typeface="+mj-lt"/>
              <a:buAutoNum type="alphaLcPeriod"/>
            </a:pPr>
            <a:endParaRPr lang="en-US" dirty="0" smtClean="0"/>
          </a:p>
          <a:p>
            <a:pPr marL="868045" lvl="1" indent="-457200">
              <a:buFont typeface="+mj-lt"/>
              <a:buAutoNum type="alphaLcPeriod"/>
            </a:pPr>
            <a:endParaRPr lang="en-US" alt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5" y="1292602"/>
            <a:ext cx="8326438" cy="641239"/>
          </a:xfrm>
        </p:spPr>
        <p:txBody>
          <a:bodyPr/>
          <a:lstStyle/>
          <a:p>
            <a:r>
              <a:rPr lang="en-US" dirty="0" smtClean="0"/>
              <a:t>Infix to postfix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933841"/>
            <a:ext cx="8326438" cy="4054844"/>
          </a:xfrm>
        </p:spPr>
        <p:txBody>
          <a:bodyPr/>
          <a:lstStyle/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val: infotype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P = L.first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while (P != Nil) do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if (isNumber(P-&gt;info))  then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Output(P-&gt;info) 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else if (P-&gt;info = '(') then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push(S, P-&gt;info)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else if (P-&gt;info = ')') then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while (!isEmpty(S)) &amp;&amp; (S.info[S.Top] != '(') do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    pop(S, val)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    Output(val)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endwhile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pop(S, val)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else if (isOperator(P-&gt;info)) then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while (!isEmpty(S)) &amp;&amp; (S.info[S.Top] != '(') &amp;&amp; (degree(P-&gt;info) &lt;= degree(S.info[S.Top])) do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    pop(S, val)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    Output(val)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endwhile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push(S, P-&gt;info)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P = P-&gt;next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endwhile</a:t>
            </a:r>
            <a:endParaRPr lang="en-US" altLang="id-ID" sz="1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5" y="1292602"/>
            <a:ext cx="8326438" cy="641239"/>
          </a:xfrm>
        </p:spPr>
        <p:txBody>
          <a:bodyPr/>
          <a:lstStyle/>
          <a:p>
            <a:r>
              <a:rPr lang="en-US" dirty="0" smtClean="0"/>
              <a:t>Infix to prefix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933841"/>
            <a:ext cx="8326438" cy="4054844"/>
          </a:xfrm>
        </p:spPr>
        <p:txBody>
          <a:bodyPr/>
          <a:lstStyle/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val: infotype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P = L.last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while (P != Nil) do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if (isNumber(P-&gt;info))  then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Output(P-&gt;info) 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else if (P-&gt;info = '(') then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push(S, P-&gt;info)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else if (P-&gt;info = ')') then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while (!isEmpty(S)) &amp;&amp; (S.info[S.Top] != '(') do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    pop(S, val)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    Output(val)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endwhile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pop(S, val)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else if (isOperator(P-&gt;info)) then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while (!isEmpty(S)) &amp;&amp; (S.info[S.Top] != '(') &amp;&amp; (degree(P-&gt;info) &lt; degree(S.info[S.Top])) do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    pop(S, val)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    Output(val)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endwhile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        push(S, P-&gt;info)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    P = P-&gt;prev</a:t>
            </a:r>
            <a:endParaRPr lang="en-US" altLang="id-ID" sz="10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000" dirty="0"/>
              <a:t>endwhile</a:t>
            </a:r>
            <a:endParaRPr lang="en-US" altLang="id-ID" sz="1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5" y="1292602"/>
            <a:ext cx="8326438" cy="641239"/>
          </a:xfrm>
        </p:spPr>
        <p:txBody>
          <a:bodyPr/>
          <a:lstStyle/>
          <a:p>
            <a:r>
              <a:rPr lang="en-US" dirty="0" smtClean="0"/>
              <a:t>Postfix evaluation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933841"/>
            <a:ext cx="8326438" cy="4054844"/>
          </a:xfrm>
        </p:spPr>
        <p:txBody>
          <a:bodyPr/>
          <a:lstStyle/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operand1: infotype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operand2: infotype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operator: infotype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result: infotype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P = L.first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while (P != Nil) do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if (isNumber(P-&gt;info)) then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push(S, P-&gt;info)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else if (isOperator(P-&gt;info)) then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    operator = P-&gt;info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    pop(S, operand2)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    pop(S, operand1)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    result = operand1 + operator + operand2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    push(S, result)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P = P-&gt;next</a:t>
            </a:r>
            <a:endParaRPr lang="en-US" altLang="id-ID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5" y="1292602"/>
            <a:ext cx="8326438" cy="641239"/>
          </a:xfrm>
        </p:spPr>
        <p:txBody>
          <a:bodyPr/>
          <a:lstStyle/>
          <a:p>
            <a:r>
              <a:rPr lang="en-US" dirty="0" smtClean="0"/>
              <a:t>Prefix evaluation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933841"/>
            <a:ext cx="8326438" cy="4054844"/>
          </a:xfrm>
        </p:spPr>
        <p:txBody>
          <a:bodyPr/>
          <a:lstStyle/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operand1: infotype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operand2: infotype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operator: infotype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result: infotype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P = L.last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while (P != Nil) do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if (isNumber(P-&gt;info)) then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push(S, P-&gt;info)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else if (isOperator(P-&gt;info)) then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    operator = P-&gt;info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    pop(S, operand2)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    pop(S, operand1)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    result = operand1 + operator + operand2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        push(S, result)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</a:t>
            </a:r>
            <a:endParaRPr lang="en-US" altLang="id-ID" sz="1200" dirty="0"/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id-ID" sz="1200" dirty="0"/>
              <a:t>    P = P-&gt;prev</a:t>
            </a:r>
            <a:endParaRPr lang="en-US" altLang="id-ID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65269-D351-4BC8-AAF7-6B848591661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358775" cy="365125"/>
          </a:xfrm>
        </p:spPr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1643063" cy="365125"/>
          </a:xfrm>
        </p:spPr>
        <p:txBody>
          <a:bodyPr/>
          <a:lstStyle/>
          <a:p>
            <a:pPr>
              <a:defRPr/>
            </a:pPr>
            <a:fld id="{BDF9ACDF-1E6F-4801-9B61-F59A09F6E115}" type="datetime1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ieee_presentation_template.pot</Template>
  <TotalTime>0</TotalTime>
  <Words>6512</Words>
  <Application>WPS Presentation</Application>
  <PresentationFormat>On-screen Show (4:3)</PresentationFormat>
  <Paragraphs>548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33</vt:i4>
      </vt:variant>
    </vt:vector>
  </HeadingPairs>
  <TitlesOfParts>
    <vt:vector size="69" baseType="lpstr">
      <vt:lpstr>Arial</vt:lpstr>
      <vt:lpstr>SimSun</vt:lpstr>
      <vt:lpstr>Wingdings</vt:lpstr>
      <vt:lpstr>Verdana</vt:lpstr>
      <vt:lpstr>Ubuntu Light</vt:lpstr>
      <vt:lpstr>MS PGothic</vt:lpstr>
      <vt:lpstr>Gubbi</vt:lpstr>
      <vt:lpstr>Lucida Grande</vt:lpstr>
      <vt:lpstr>Wingdings</vt:lpstr>
      <vt:lpstr>DejaVu Sans</vt:lpstr>
      <vt:lpstr>Arial</vt:lpstr>
      <vt:lpstr>OpenSymbol</vt:lpstr>
      <vt:lpstr>Verdana</vt:lpstr>
      <vt:lpstr>Brush Script Std</vt:lpstr>
      <vt:lpstr>Berlin Sans FB Demi</vt:lpstr>
      <vt:lpstr>Garuda</vt:lpstr>
      <vt:lpstr>Aharoni</vt:lpstr>
      <vt:lpstr>굴림</vt:lpstr>
      <vt:lpstr>Noto Sans CJK HK</vt:lpstr>
      <vt:lpstr>Microsoft YaHei</vt:lpstr>
      <vt:lpstr>Droid Sans Fallback</vt:lpstr>
      <vt:lpstr>Arial Unicode MS</vt:lpstr>
      <vt:lpstr>Calibri</vt:lpstr>
      <vt:lpstr>Tahoma</vt:lpstr>
      <vt:lpstr>Times New Roman</vt:lpstr>
      <vt:lpstr>MS PGothic</vt:lpstr>
      <vt:lpstr>Times New Roman</vt:lpstr>
      <vt:lpstr>Courier New</vt:lpstr>
      <vt:lpstr>Ubuntu</vt:lpstr>
      <vt:lpstr>FreeSerif</vt:lpstr>
      <vt:lpstr>template_informatika_slide</vt:lpstr>
      <vt:lpstr>1_template_informatika_slide</vt:lpstr>
      <vt:lpstr>2_template_informatika_slide</vt:lpstr>
      <vt:lpstr>3_template_informatika_slide</vt:lpstr>
      <vt:lpstr>4_template_informatika_slide</vt:lpstr>
      <vt:lpstr>5_template_informatika_slide</vt:lpstr>
      <vt:lpstr>CSG2A3 ALGORITMA dan STRUKTUR DATA STACK - INFIX, PREFIX, POSTFIX</vt:lpstr>
      <vt:lpstr>Pengertian</vt:lpstr>
      <vt:lpstr>Infix, Postfix and Prefix Expressions</vt:lpstr>
      <vt:lpstr>Why use Prefix or Postfix</vt:lpstr>
      <vt:lpstr>Infix Expression Is Hard To Parse</vt:lpstr>
      <vt:lpstr>Properties</vt:lpstr>
      <vt:lpstr>Examples of infix to prefix and post fix</vt:lpstr>
      <vt:lpstr>Example : Infix to Postfix</vt:lpstr>
      <vt:lpstr>Evaluating a postfix Expression</vt:lpstr>
      <vt:lpstr>Example : Postfix Evaluation</vt:lpstr>
      <vt:lpstr>Evaluation: Postfix to Infix</vt:lpstr>
      <vt:lpstr>Infix to Prefix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Evaluation Example: Prefix to Infix</vt:lpstr>
      <vt:lpstr>Train Your Brain</vt:lpstr>
      <vt:lpstr>Infix to postfix</vt:lpstr>
      <vt:lpstr>Infix to prefix</vt:lpstr>
      <vt:lpstr>Postfix evaluation</vt:lpstr>
      <vt:lpstr>Prefix evaluation</vt:lpstr>
      <vt:lpstr>PowerPoint 演示文稿</vt:lpstr>
    </vt:vector>
  </TitlesOfParts>
  <Company>IEEE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anditya.arifianto@gmail.com</dc:creator>
  <cp:lastModifiedBy>bintang</cp:lastModifiedBy>
  <cp:revision>184</cp:revision>
  <dcterms:created xsi:type="dcterms:W3CDTF">2025-10-17T03:27:31Z</dcterms:created>
  <dcterms:modified xsi:type="dcterms:W3CDTF">2025-10-17T03:27:31Z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