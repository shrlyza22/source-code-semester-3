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05" r:id="rId2"/>
    <p:sldId id="369" r:id="rId3"/>
    <p:sldId id="306" r:id="rId4"/>
    <p:sldId id="307" r:id="rId5"/>
    <p:sldId id="308" r:id="rId6"/>
    <p:sldId id="366" r:id="rId7"/>
    <p:sldId id="367" r:id="rId8"/>
    <p:sldId id="364" r:id="rId9"/>
    <p:sldId id="365" r:id="rId10"/>
    <p:sldId id="368" r:id="rId11"/>
    <p:sldId id="370" r:id="rId12"/>
    <p:sldId id="371" r:id="rId13"/>
    <p:sldId id="372" r:id="rId14"/>
    <p:sldId id="373" r:id="rId15"/>
    <p:sldId id="374" r:id="rId16"/>
    <p:sldId id="375" r:id="rId17"/>
    <p:sldId id="413" r:id="rId18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23" autoAdjust="0"/>
    <p:restoredTop sz="94637"/>
  </p:normalViewPr>
  <p:slideViewPr>
    <p:cSldViewPr snapToGrid="0" snapToObjects="1">
      <p:cViewPr varScale="1">
        <p:scale>
          <a:sx n="62" d="100"/>
          <a:sy n="62" d="100"/>
        </p:scale>
        <p:origin x="136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872"/>
    </p:cViewPr>
  </p:sorterViewPr>
  <p:notesViewPr>
    <p:cSldViewPr snapToGrid="0" snapToObjects="1"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DB9219-4A66-4B41-AFAD-B4DCC55121D3}" type="datetimeFigureOut">
              <a:rPr lang="en-US" smtClean="0"/>
              <a:t>12/5/2021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99D96-90C2-44B4-8DCF-3216EB4C362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0857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796F5A-DA36-4202-8F3F-DA89D0431918}" type="datetimeFigureOut">
              <a:rPr lang="en-US" smtClean="0"/>
              <a:t>12/5/2021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BABC4-D3F8-4FEC-A081-17F891AA9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849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/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itchFamily="28" charset="2"/>
              <a:buNone/>
              <a:defRPr sz="2000" b="0" baseline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12/5/2021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01016" y="-4831"/>
            <a:ext cx="2042984" cy="8216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-4831"/>
            <a:ext cx="1838325" cy="1085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505700" y="5827095"/>
            <a:ext cx="1638300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624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85042" y="6067493"/>
            <a:ext cx="1258957" cy="7978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-4831"/>
            <a:ext cx="1062656" cy="62768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94612" y="56597"/>
            <a:ext cx="136207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188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12/5/2021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045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12/5/2021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39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12/5/2021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50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tabLst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12/5/2021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198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9pPr>
          </a:lstStyle>
          <a:p>
            <a:pPr algn="ctr"/>
            <a:r>
              <a:rPr lang="en-US" sz="5400" dirty="0" err="1">
                <a:solidFill>
                  <a:srgbClr val="C00000"/>
                </a:solidFill>
                <a:latin typeface="Brush Script Std" pitchFamily="66" charset="0"/>
              </a:rPr>
              <a:t>Terima</a:t>
            </a:r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 </a:t>
            </a:r>
            <a:r>
              <a:rPr lang="en-US" sz="5400" dirty="0" err="1">
                <a:solidFill>
                  <a:srgbClr val="C00000"/>
                </a:solidFill>
                <a:latin typeface="Brush Script Std" pitchFamily="66" charset="0"/>
              </a:rPr>
              <a:t>kasih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/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7725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510916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401578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</p:sldLayoutIdLst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ＭＳ Ｐゴシック" charset="0"/>
          <a:cs typeface="ＭＳ Ｐゴシック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9pPr>
    </p:titleStyle>
    <p:bodyStyle>
      <a:lvl1pPr marL="346075" indent="-346075" algn="l" defTabSz="457200" rtl="0" eaLnBrk="1" fontAlgn="base" hangingPunct="1">
        <a:spcBef>
          <a:spcPts val="600"/>
        </a:spcBef>
        <a:spcAft>
          <a:spcPct val="0"/>
        </a:spcAft>
        <a:buSzPct val="135000"/>
        <a:buBlip>
          <a:blip r:embed="rId10"/>
        </a:buBlip>
        <a:defRPr sz="20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93725" indent="-182563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822325" indent="-182563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050925" indent="-182563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charset="0"/>
        <a:buChar char="–"/>
        <a:defRPr sz="1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233488" indent="-182563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Berlin Sans FB Demi" panose="020E0802020502020306" pitchFamily="34" charset="0"/>
                <a:cs typeface="Aharoni" panose="02010803020104030203" pitchFamily="2" charset="-79"/>
              </a:rPr>
              <a:t>STRUKTUR DATA</a:t>
            </a:r>
          </a:p>
        </p:txBody>
      </p:sp>
      <p:sp>
        <p:nvSpPr>
          <p:cNvPr id="8" name="Title 9"/>
          <p:cNvSpPr txBox="1">
            <a:spLocks/>
          </p:cNvSpPr>
          <p:nvPr/>
        </p:nvSpPr>
        <p:spPr bwMode="auto">
          <a:xfrm>
            <a:off x="3786187" y="2783202"/>
            <a:ext cx="4757737" cy="1635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9pPr>
          </a:lstStyle>
          <a:p>
            <a:pPr algn="r"/>
            <a:r>
              <a:rPr lang="en-US" sz="6000" b="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GRAF </a:t>
            </a:r>
            <a:r>
              <a:rPr lang="en-US" sz="6000" b="0" i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(GRAPH)</a:t>
            </a:r>
          </a:p>
          <a:p>
            <a:pPr algn="r"/>
            <a:r>
              <a:rPr lang="en-US" sz="4000" b="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TEORI DASAR</a:t>
            </a:r>
          </a:p>
        </p:txBody>
      </p:sp>
    </p:spTree>
    <p:extLst>
      <p:ext uri="{BB962C8B-B14F-4D97-AF65-F5344CB8AC3E}">
        <p14:creationId xmlns:p14="http://schemas.microsoft.com/office/powerpoint/2010/main" val="2146134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760" y="1556951"/>
            <a:ext cx="8326438" cy="414445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err="1"/>
              <a:t>Definisi-definisi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graf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Contoh-contoh</a:t>
            </a:r>
            <a:r>
              <a:rPr lang="en-US" dirty="0"/>
              <a:t> </a:t>
            </a:r>
            <a:r>
              <a:rPr lang="en-US" dirty="0" err="1"/>
              <a:t>graf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Graf </a:t>
            </a:r>
            <a:r>
              <a:rPr lang="en-US" dirty="0" err="1"/>
              <a:t>berarah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berarah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Graf </a:t>
            </a:r>
            <a:r>
              <a:rPr lang="en-US" dirty="0" err="1"/>
              <a:t>berbobot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berbobot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Derajat</a:t>
            </a:r>
            <a:r>
              <a:rPr lang="en-US" dirty="0"/>
              <a:t> </a:t>
            </a:r>
            <a:r>
              <a:rPr lang="en-US" dirty="0" err="1"/>
              <a:t>simpul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135487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760" y="1507523"/>
            <a:ext cx="8326438" cy="3860251"/>
          </a:xfrm>
        </p:spPr>
        <p:txBody>
          <a:bodyPr/>
          <a:lstStyle/>
          <a:p>
            <a:r>
              <a:rPr lang="en-US" sz="2000" dirty="0"/>
              <a:t>Graf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sebuah</a:t>
            </a:r>
            <a:r>
              <a:rPr lang="en-US" sz="2000" dirty="0"/>
              <a:t> </a:t>
            </a:r>
            <a:r>
              <a:rPr lang="en-US" sz="2000" dirty="0" err="1"/>
              <a:t>representasi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sekumpulan</a:t>
            </a:r>
            <a:r>
              <a:rPr lang="en-US" sz="2000" dirty="0"/>
              <a:t> </a:t>
            </a:r>
            <a:r>
              <a:rPr lang="en-US" sz="2000" dirty="0" err="1"/>
              <a:t>objek</a:t>
            </a:r>
            <a:r>
              <a:rPr lang="en-US" sz="2000" dirty="0"/>
              <a:t>, </a:t>
            </a:r>
            <a:r>
              <a:rPr lang="en-US" sz="2000" dirty="0" err="1"/>
              <a:t>antara</a:t>
            </a:r>
            <a:r>
              <a:rPr lang="en-US" sz="2000" dirty="0"/>
              <a:t> </a:t>
            </a:r>
            <a:r>
              <a:rPr lang="en-US" sz="2000" dirty="0" err="1"/>
              <a:t>dua</a:t>
            </a:r>
            <a:r>
              <a:rPr lang="en-US" sz="2000" dirty="0"/>
              <a:t> </a:t>
            </a:r>
            <a:r>
              <a:rPr lang="en-US" sz="2000" dirty="0" err="1"/>
              <a:t>objek</a:t>
            </a:r>
            <a:r>
              <a:rPr lang="en-US" sz="2000" dirty="0"/>
              <a:t> </a:t>
            </a:r>
            <a:r>
              <a:rPr lang="en-US" sz="2000" dirty="0" err="1"/>
              <a:t>mungkin</a:t>
            </a:r>
            <a:r>
              <a:rPr lang="en-US" sz="2000" dirty="0"/>
              <a:t> </a:t>
            </a:r>
            <a:r>
              <a:rPr lang="en-US" sz="2000" dirty="0" err="1"/>
              <a:t>terkoneksi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sebuah</a:t>
            </a:r>
            <a:r>
              <a:rPr lang="en-US" sz="2000" dirty="0"/>
              <a:t> </a:t>
            </a:r>
            <a:r>
              <a:rPr lang="en-US" sz="2000" dirty="0" err="1"/>
              <a:t>busur</a:t>
            </a:r>
            <a:r>
              <a:rPr lang="en-US" sz="2000" dirty="0"/>
              <a:t> (</a:t>
            </a:r>
            <a:r>
              <a:rPr lang="en-US" sz="2000" i="1" dirty="0"/>
              <a:t>link/edge).</a:t>
            </a:r>
          </a:p>
          <a:p>
            <a:endParaRPr lang="en-US" sz="2000" i="1" dirty="0"/>
          </a:p>
          <a:p>
            <a:r>
              <a:rPr lang="en-US" sz="2000" dirty="0" err="1"/>
              <a:t>Sebuah</a:t>
            </a:r>
            <a:r>
              <a:rPr lang="en-US" sz="2000" dirty="0"/>
              <a:t> </a:t>
            </a:r>
            <a:r>
              <a:rPr lang="en-US" sz="2000" dirty="0" err="1"/>
              <a:t>graf</a:t>
            </a:r>
            <a:r>
              <a:rPr lang="en-US" sz="2000" dirty="0"/>
              <a:t> </a:t>
            </a:r>
            <a:r>
              <a:rPr lang="en-US" sz="2000" dirty="0" err="1"/>
              <a:t>terdiri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sebuah</a:t>
            </a:r>
            <a:r>
              <a:rPr lang="en-US" sz="2000" dirty="0"/>
              <a:t> </a:t>
            </a:r>
            <a:r>
              <a:rPr lang="en-US" sz="2000" dirty="0" err="1"/>
              <a:t>himpunan</a:t>
            </a:r>
            <a:r>
              <a:rPr lang="en-US" sz="2000" dirty="0"/>
              <a:t> </a:t>
            </a:r>
            <a:r>
              <a:rPr lang="en-US" sz="2000" dirty="0" err="1"/>
              <a:t>terbatas</a:t>
            </a:r>
            <a:r>
              <a:rPr lang="en-US" sz="2000" dirty="0"/>
              <a:t> </a:t>
            </a:r>
            <a:r>
              <a:rPr lang="en-US" sz="2000" dirty="0" err="1"/>
              <a:t>simpul</a:t>
            </a:r>
            <a:r>
              <a:rPr lang="en-US" sz="2000" dirty="0"/>
              <a:t> (</a:t>
            </a:r>
            <a:r>
              <a:rPr lang="en-US" sz="2000" i="1" dirty="0"/>
              <a:t>node/vertex</a:t>
            </a:r>
            <a:r>
              <a:rPr lang="en-US" sz="2000" dirty="0"/>
              <a:t>), yang </a:t>
            </a:r>
            <a:r>
              <a:rPr lang="en-US" sz="2000" dirty="0" err="1"/>
              <a:t>biasanya</a:t>
            </a:r>
            <a:r>
              <a:rPr lang="en-US" sz="2000" dirty="0"/>
              <a:t> </a:t>
            </a:r>
            <a:r>
              <a:rPr lang="en-US" sz="2000" dirty="0" err="1"/>
              <a:t>dilambangkan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i="1" dirty="0"/>
              <a:t>V</a:t>
            </a:r>
            <a:r>
              <a:rPr lang="en-US" sz="2000" dirty="0"/>
              <a:t>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sebuah</a:t>
            </a:r>
            <a:r>
              <a:rPr lang="en-US" sz="2000" dirty="0"/>
              <a:t> </a:t>
            </a:r>
            <a:r>
              <a:rPr lang="en-US" sz="2000" dirty="0" err="1"/>
              <a:t>himpunan</a:t>
            </a:r>
            <a:r>
              <a:rPr lang="en-US" sz="2000" dirty="0"/>
              <a:t> </a:t>
            </a:r>
            <a:r>
              <a:rPr lang="en-US" sz="2000" dirty="0" err="1"/>
              <a:t>terbatas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busur</a:t>
            </a:r>
            <a:r>
              <a:rPr lang="en-US" sz="2000" dirty="0"/>
              <a:t>, yang </a:t>
            </a:r>
            <a:r>
              <a:rPr lang="en-US" sz="2000" dirty="0" err="1"/>
              <a:t>biasanya</a:t>
            </a:r>
            <a:r>
              <a:rPr lang="en-US" sz="2000" dirty="0"/>
              <a:t> </a:t>
            </a:r>
            <a:r>
              <a:rPr lang="en-US" sz="2000" dirty="0" err="1"/>
              <a:t>dilambangkan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i="1" dirty="0"/>
              <a:t>E.</a:t>
            </a:r>
            <a:endParaRPr lang="en-US" sz="2000" dirty="0"/>
          </a:p>
          <a:p>
            <a:pPr marL="715963" lvl="1" indent="0">
              <a:buNone/>
            </a:pPr>
            <a:r>
              <a:rPr lang="en-US" dirty="0"/>
              <a:t>G = ( V , E )</a:t>
            </a:r>
          </a:p>
          <a:p>
            <a:pPr marL="715963" lvl="1" indent="0">
              <a:buNone/>
            </a:pPr>
            <a:r>
              <a:rPr lang="en-US" dirty="0"/>
              <a:t>V = { v1, v2, …, </a:t>
            </a:r>
            <a:r>
              <a:rPr lang="en-US" dirty="0" err="1"/>
              <a:t>vn</a:t>
            </a:r>
            <a:r>
              <a:rPr lang="en-US" dirty="0"/>
              <a:t> },    |</a:t>
            </a:r>
            <a:r>
              <a:rPr lang="en-US" i="1" dirty="0"/>
              <a:t>V|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simpul</a:t>
            </a:r>
            <a:endParaRPr lang="en-US" dirty="0"/>
          </a:p>
          <a:p>
            <a:pPr marL="715963" lvl="1" indent="0">
              <a:buNone/>
            </a:pPr>
            <a:r>
              <a:rPr lang="en-US" dirty="0"/>
              <a:t>E = { e1, e2, …, </a:t>
            </a:r>
            <a:r>
              <a:rPr lang="en-US" dirty="0" err="1"/>
              <a:t>em</a:t>
            </a:r>
            <a:r>
              <a:rPr lang="en-US" dirty="0"/>
              <a:t> },   |</a:t>
            </a:r>
            <a:r>
              <a:rPr lang="en-US" i="1" dirty="0"/>
              <a:t>E|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busur</a:t>
            </a:r>
            <a:endParaRPr lang="en-US" dirty="0"/>
          </a:p>
          <a:p>
            <a:pPr marL="715963" lvl="1" indent="0">
              <a:buNone/>
            </a:pPr>
            <a:endParaRPr lang="id-ID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389908" y="6451886"/>
            <a:ext cx="358775" cy="365125"/>
          </a:xfrm>
        </p:spPr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Definisi</a:t>
            </a:r>
            <a:r>
              <a:rPr lang="en-US" dirty="0"/>
              <a:t> Graf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52690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569295" y="1550167"/>
            <a:ext cx="4248821" cy="2534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Graf</a:t>
            </a:r>
            <a:endParaRPr lang="id-ID" dirty="0"/>
          </a:p>
        </p:txBody>
      </p:sp>
      <p:sp>
        <p:nvSpPr>
          <p:cNvPr id="9" name="Rectangle 8"/>
          <p:cNvSpPr/>
          <p:nvPr/>
        </p:nvSpPr>
        <p:spPr>
          <a:xfrm>
            <a:off x="5222954" y="1550167"/>
            <a:ext cx="3273400" cy="20867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287338">
              <a:lnSpc>
                <a:spcPct val="90000"/>
              </a:lnSpc>
            </a:pPr>
            <a:r>
              <a:rPr lang="en-US" dirty="0"/>
              <a:t>V	</a:t>
            </a:r>
            <a:r>
              <a:rPr lang="en-US" b="1" dirty="0"/>
              <a:t>= </a:t>
            </a:r>
            <a:r>
              <a:rPr lang="en-US" dirty="0"/>
              <a:t>{v1, v2, v3}</a:t>
            </a:r>
          </a:p>
          <a:p>
            <a:pPr defTabSz="287338">
              <a:lnSpc>
                <a:spcPct val="90000"/>
              </a:lnSpc>
            </a:pPr>
            <a:endParaRPr lang="en-US" dirty="0"/>
          </a:p>
          <a:p>
            <a:pPr defTabSz="287338">
              <a:lnSpc>
                <a:spcPct val="90000"/>
              </a:lnSpc>
            </a:pPr>
            <a:r>
              <a:rPr lang="en-US" dirty="0"/>
              <a:t>E	= {e1, e2, e3, e4, e5}</a:t>
            </a:r>
          </a:p>
          <a:p>
            <a:pPr defTabSz="287338">
              <a:lnSpc>
                <a:spcPct val="90000"/>
              </a:lnSpc>
              <a:buFont typeface="Wingdings" pitchFamily="2" charset="2"/>
              <a:buNone/>
            </a:pPr>
            <a:endParaRPr lang="en-US" dirty="0"/>
          </a:p>
          <a:p>
            <a:pPr defTabSz="287338">
              <a:lnSpc>
                <a:spcPct val="90000"/>
              </a:lnSpc>
              <a:buFont typeface="Wingdings" pitchFamily="2" charset="2"/>
              <a:buNone/>
            </a:pPr>
            <a:r>
              <a:rPr lang="en-US" dirty="0"/>
              <a:t>	= {	(v1,v2), (v1,v2), 			(v1,v3), (v2,v3), </a:t>
            </a:r>
          </a:p>
          <a:p>
            <a:pPr defTabSz="287338">
              <a:lnSpc>
                <a:spcPct val="90000"/>
              </a:lnSpc>
              <a:buFont typeface="Wingdings" pitchFamily="2" charset="2"/>
              <a:buNone/>
            </a:pPr>
            <a:r>
              <a:rPr lang="en-US" dirty="0"/>
              <a:t>			(v3,v3) </a:t>
            </a:r>
          </a:p>
          <a:p>
            <a:pPr defTabSz="287338">
              <a:lnSpc>
                <a:spcPct val="90000"/>
              </a:lnSpc>
              <a:buFont typeface="Wingdings" pitchFamily="2" charset="2"/>
              <a:buNone/>
            </a:pPr>
            <a:r>
              <a:rPr lang="en-US" dirty="0"/>
              <a:t>		} </a:t>
            </a:r>
          </a:p>
        </p:txBody>
      </p:sp>
      <p:sp>
        <p:nvSpPr>
          <p:cNvPr id="10" name="Content Placeholder 1"/>
          <p:cNvSpPr txBox="1">
            <a:spLocks/>
          </p:cNvSpPr>
          <p:nvPr/>
        </p:nvSpPr>
        <p:spPr bwMode="auto">
          <a:xfrm>
            <a:off x="498063" y="4818480"/>
            <a:ext cx="8265642" cy="651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93725" indent="-182563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dirty="0" err="1"/>
              <a:t>graf</a:t>
            </a:r>
            <a:r>
              <a:rPr lang="en-US" sz="2000" dirty="0"/>
              <a:t> di </a:t>
            </a:r>
            <a:r>
              <a:rPr lang="en-US" sz="2000" dirty="0" err="1"/>
              <a:t>atas</a:t>
            </a:r>
            <a:r>
              <a:rPr lang="en-US" sz="2000" dirty="0"/>
              <a:t>, e1 </a:t>
            </a:r>
            <a:r>
              <a:rPr lang="en-US" sz="2000" dirty="0" err="1"/>
              <a:t>dan</a:t>
            </a:r>
            <a:r>
              <a:rPr lang="en-US" sz="2000" dirty="0"/>
              <a:t> e2 </a:t>
            </a:r>
            <a:r>
              <a:rPr lang="en-US" sz="2000" dirty="0" err="1"/>
              <a:t>merupakan</a:t>
            </a:r>
            <a:r>
              <a:rPr lang="en-US" sz="2000" dirty="0"/>
              <a:t> </a:t>
            </a:r>
            <a:r>
              <a:rPr lang="en-US" sz="2000" dirty="0" err="1"/>
              <a:t>busur</a:t>
            </a:r>
            <a:r>
              <a:rPr lang="en-US" sz="2000" dirty="0"/>
              <a:t> </a:t>
            </a:r>
            <a:r>
              <a:rPr lang="en-US" sz="2000" dirty="0" err="1"/>
              <a:t>paralel</a:t>
            </a:r>
            <a:r>
              <a:rPr lang="en-US" sz="2000" dirty="0"/>
              <a:t>, e5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i="1" dirty="0"/>
              <a:t>loop.</a:t>
            </a:r>
            <a:endParaRPr lang="en-US" sz="2000" dirty="0"/>
          </a:p>
          <a:p>
            <a:pPr marL="0" indent="0">
              <a:spcBef>
                <a:spcPts val="600"/>
              </a:spcBef>
              <a:buFontTx/>
              <a:buNone/>
            </a:pPr>
            <a:endParaRPr lang="en-US" sz="2000" dirty="0"/>
          </a:p>
          <a:p>
            <a:pPr marL="0" indent="0">
              <a:spcBef>
                <a:spcPts val="600"/>
              </a:spcBef>
              <a:buFontTx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1508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Graf</a:t>
            </a:r>
            <a:endParaRPr lang="id-ID" dirty="0"/>
          </a:p>
        </p:txBody>
      </p:sp>
      <p:pic>
        <p:nvPicPr>
          <p:cNvPr id="88" name="Content Placeholder 87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365125" y="1561808"/>
            <a:ext cx="3828620" cy="30238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1" name="Rectangle 90"/>
          <p:cNvSpPr/>
          <p:nvPr/>
        </p:nvSpPr>
        <p:spPr>
          <a:xfrm>
            <a:off x="4426880" y="1561808"/>
            <a:ext cx="4264683" cy="17404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287338">
              <a:lnSpc>
                <a:spcPct val="90000"/>
              </a:lnSpc>
            </a:pPr>
            <a:r>
              <a:rPr lang="en-US" sz="1700" dirty="0"/>
              <a:t>V	</a:t>
            </a:r>
            <a:r>
              <a:rPr lang="en-US" sz="1700" b="1" dirty="0"/>
              <a:t>= </a:t>
            </a:r>
            <a:r>
              <a:rPr lang="en-US" sz="1700" dirty="0"/>
              <a:t>{ 1, 2, 3, 4 }</a:t>
            </a:r>
          </a:p>
          <a:p>
            <a:pPr defTabSz="287338">
              <a:lnSpc>
                <a:spcPct val="90000"/>
              </a:lnSpc>
            </a:pPr>
            <a:endParaRPr lang="en-US" sz="1700" dirty="0"/>
          </a:p>
          <a:p>
            <a:pPr defTabSz="287338">
              <a:lnSpc>
                <a:spcPct val="90000"/>
              </a:lnSpc>
            </a:pPr>
            <a:r>
              <a:rPr lang="en-US" sz="1700" dirty="0"/>
              <a:t>E	= {e1, e2, e3, e4, e5, e6, e7, e8}</a:t>
            </a:r>
          </a:p>
          <a:p>
            <a:pPr defTabSz="287338">
              <a:lnSpc>
                <a:spcPct val="90000"/>
              </a:lnSpc>
              <a:buFont typeface="Wingdings" pitchFamily="2" charset="2"/>
              <a:buNone/>
            </a:pPr>
            <a:endParaRPr lang="en-US" sz="1700" dirty="0"/>
          </a:p>
          <a:p>
            <a:pPr defTabSz="287338">
              <a:lnSpc>
                <a:spcPct val="90000"/>
              </a:lnSpc>
              <a:buFont typeface="Wingdings" pitchFamily="2" charset="2"/>
              <a:buNone/>
            </a:pPr>
            <a:r>
              <a:rPr lang="en-US" sz="1700" dirty="0"/>
              <a:t>	= {	(1, 2), (2, 3), (1, 3), (1, 3), </a:t>
            </a:r>
          </a:p>
          <a:p>
            <a:pPr defTabSz="287338">
              <a:lnSpc>
                <a:spcPct val="90000"/>
              </a:lnSpc>
              <a:buFont typeface="Wingdings" pitchFamily="2" charset="2"/>
              <a:buNone/>
            </a:pPr>
            <a:r>
              <a:rPr lang="en-US" sz="1700" dirty="0"/>
              <a:t>			(2, 4), (3, 4), (3, 4), (3, 3)</a:t>
            </a:r>
          </a:p>
          <a:p>
            <a:pPr defTabSz="287338">
              <a:lnSpc>
                <a:spcPct val="90000"/>
              </a:lnSpc>
              <a:buFont typeface="Wingdings" pitchFamily="2" charset="2"/>
              <a:buNone/>
            </a:pPr>
            <a:r>
              <a:rPr lang="en-US" sz="1700" dirty="0"/>
              <a:t>		} 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426880" y="3544230"/>
            <a:ext cx="4572000" cy="227177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4000"/>
              </a:lnSpc>
            </a:pPr>
            <a:r>
              <a:rPr lang="en-US" dirty="0" err="1"/>
              <a:t>Busur</a:t>
            </a:r>
            <a:r>
              <a:rPr lang="en-US" dirty="0"/>
              <a:t> </a:t>
            </a:r>
            <a:r>
              <a:rPr lang="en-US" i="1" dirty="0"/>
              <a:t>e</a:t>
            </a:r>
            <a:r>
              <a:rPr lang="en-US" baseline="-25000" dirty="0"/>
              <a:t>3</a:t>
            </a:r>
            <a:r>
              <a:rPr lang="en-US" dirty="0"/>
              <a:t> = (1, 3)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/>
              <a:t>e</a:t>
            </a:r>
            <a:r>
              <a:rPr lang="en-US" baseline="-25000" dirty="0"/>
              <a:t>4</a:t>
            </a:r>
            <a:r>
              <a:rPr lang="en-US" dirty="0"/>
              <a:t> = (1, 3) </a:t>
            </a:r>
            <a:br>
              <a:rPr lang="en-US" dirty="0"/>
            </a:b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 </a:t>
            </a:r>
            <a:r>
              <a:rPr lang="en-US" dirty="0" err="1"/>
              <a:t>ganda</a:t>
            </a:r>
            <a:r>
              <a:rPr lang="en-US" dirty="0"/>
              <a:t> (</a:t>
            </a:r>
            <a:r>
              <a:rPr lang="en-US" i="1" dirty="0"/>
              <a:t>multiple edges</a:t>
            </a:r>
            <a:r>
              <a:rPr lang="en-US" dirty="0"/>
              <a:t>)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 </a:t>
            </a:r>
            <a:r>
              <a:rPr lang="en-US" dirty="0" err="1"/>
              <a:t>paralel</a:t>
            </a:r>
            <a:r>
              <a:rPr lang="en-US" dirty="0"/>
              <a:t>  </a:t>
            </a:r>
            <a:r>
              <a:rPr lang="en-US" i="1" dirty="0"/>
              <a:t>(parallel edges).</a:t>
            </a:r>
          </a:p>
          <a:p>
            <a:pPr>
              <a:lnSpc>
                <a:spcPct val="114000"/>
              </a:lnSpc>
            </a:pPr>
            <a:endParaRPr lang="en-US" i="1" dirty="0"/>
          </a:p>
          <a:p>
            <a:pPr>
              <a:lnSpc>
                <a:spcPct val="114000"/>
              </a:lnSpc>
            </a:pPr>
            <a:r>
              <a:rPr lang="en-US" dirty="0" err="1"/>
              <a:t>Busur</a:t>
            </a:r>
            <a:r>
              <a:rPr lang="en-US" dirty="0"/>
              <a:t> </a:t>
            </a:r>
            <a:r>
              <a:rPr lang="en-US" i="1" dirty="0"/>
              <a:t>e</a:t>
            </a:r>
            <a:r>
              <a:rPr lang="en-US" baseline="-25000" dirty="0"/>
              <a:t>8</a:t>
            </a:r>
            <a:r>
              <a:rPr lang="en-US" dirty="0"/>
              <a:t> = (3, 3)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i="1" dirty="0"/>
              <a:t>loop.</a:t>
            </a:r>
            <a:endParaRPr lang="en-US" dirty="0"/>
          </a:p>
          <a:p>
            <a:pPr>
              <a:lnSpc>
                <a:spcPct val="114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419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125" y="1349150"/>
            <a:ext cx="8326438" cy="4025490"/>
          </a:xfrm>
        </p:spPr>
        <p:txBody>
          <a:bodyPr/>
          <a:lstStyle/>
          <a:p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i="1" dirty="0"/>
              <a:t>u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/>
              <a:t>v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bertetangga</a:t>
            </a:r>
            <a:r>
              <a:rPr lang="en-US" dirty="0"/>
              <a:t> (</a:t>
            </a:r>
            <a:r>
              <a:rPr lang="en-US" i="1" dirty="0"/>
              <a:t>adjacent</a:t>
            </a:r>
            <a:r>
              <a:rPr lang="en-US" dirty="0"/>
              <a:t>)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 yang </a:t>
            </a:r>
            <a:r>
              <a:rPr lang="en-US" dirty="0" err="1"/>
              <a:t>menghubungkan</a:t>
            </a:r>
            <a:r>
              <a:rPr lang="en-US" dirty="0"/>
              <a:t> </a:t>
            </a:r>
            <a:r>
              <a:rPr lang="en-US" i="1" dirty="0"/>
              <a:t>u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/>
              <a:t>v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err="1"/>
              <a:t>Contoh</a:t>
            </a:r>
            <a:r>
              <a:rPr lang="en-US" sz="1800" dirty="0"/>
              <a:t>: </a:t>
            </a:r>
            <a:r>
              <a:rPr lang="en-US" sz="1800" dirty="0" err="1"/>
              <a:t>simpul</a:t>
            </a:r>
            <a:r>
              <a:rPr lang="en-US" sz="1800" dirty="0"/>
              <a:t> 1 </a:t>
            </a:r>
            <a:r>
              <a:rPr lang="en-US" sz="1800" dirty="0" err="1"/>
              <a:t>dan</a:t>
            </a:r>
            <a:r>
              <a:rPr lang="en-US" sz="1800" dirty="0"/>
              <a:t> 2 </a:t>
            </a:r>
            <a:r>
              <a:rPr lang="en-US" sz="1800" dirty="0" err="1"/>
              <a:t>bertetangga</a:t>
            </a:r>
            <a:r>
              <a:rPr lang="en-US" sz="1800" dirty="0"/>
              <a:t>, </a:t>
            </a:r>
            <a:r>
              <a:rPr lang="en-US" sz="1800" dirty="0" err="1"/>
              <a:t>simpul</a:t>
            </a:r>
            <a:r>
              <a:rPr lang="en-US" sz="1800" dirty="0"/>
              <a:t> 1 </a:t>
            </a:r>
            <a:r>
              <a:rPr lang="en-US" sz="1800" dirty="0" err="1"/>
              <a:t>dan</a:t>
            </a:r>
            <a:r>
              <a:rPr lang="en-US" sz="1800" dirty="0"/>
              <a:t> 4 </a:t>
            </a:r>
            <a:r>
              <a:rPr lang="en-US" sz="1800" dirty="0" err="1"/>
              <a:t>tidak.</a:t>
            </a:r>
            <a:endParaRPr lang="en-US" sz="1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bertetangga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keduanya</a:t>
            </a:r>
            <a:r>
              <a:rPr lang="en-US" dirty="0"/>
              <a:t> </a:t>
            </a:r>
            <a:r>
              <a:rPr lang="en-US" dirty="0" err="1"/>
              <a:t>terhubung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.</a:t>
            </a:r>
          </a:p>
          <a:p>
            <a:pPr marL="411162" lvl="1" indent="0">
              <a:buNone/>
            </a:pPr>
            <a:r>
              <a:rPr lang="en-US" sz="1800" dirty="0" err="1"/>
              <a:t>Contoh</a:t>
            </a:r>
            <a:r>
              <a:rPr lang="en-US" sz="1800" dirty="0"/>
              <a:t>: </a:t>
            </a:r>
            <a:r>
              <a:rPr lang="en-US" sz="1800" dirty="0" err="1"/>
              <a:t>busur</a:t>
            </a:r>
            <a:r>
              <a:rPr lang="en-US" sz="1800" dirty="0"/>
              <a:t> </a:t>
            </a:r>
            <a:r>
              <a:rPr lang="en-US" sz="1800" i="1" dirty="0"/>
              <a:t>e</a:t>
            </a:r>
            <a:r>
              <a:rPr lang="en-US" sz="1800" dirty="0"/>
              <a:t>1 </a:t>
            </a:r>
            <a:r>
              <a:rPr lang="en-US" sz="1800" dirty="0" err="1"/>
              <a:t>dan</a:t>
            </a:r>
            <a:r>
              <a:rPr lang="en-US" sz="1800" dirty="0"/>
              <a:t> </a:t>
            </a:r>
            <a:r>
              <a:rPr lang="en-US" sz="1800" i="1" dirty="0"/>
              <a:t>e</a:t>
            </a:r>
            <a:r>
              <a:rPr lang="en-US" sz="1800" dirty="0"/>
              <a:t>5 </a:t>
            </a:r>
            <a:r>
              <a:rPr lang="en-US" sz="1800" dirty="0" err="1"/>
              <a:t>bertetangga.</a:t>
            </a:r>
            <a:endParaRPr lang="en-US" sz="1800" dirty="0"/>
          </a:p>
          <a:p>
            <a:pPr lvl="1"/>
            <a:endParaRPr lang="id-ID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Definisi-definisi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Graf (1)</a:t>
            </a:r>
            <a:endParaRPr lang="id-ID" dirty="0"/>
          </a:p>
        </p:txBody>
      </p:sp>
      <p:pic>
        <p:nvPicPr>
          <p:cNvPr id="30" name="Content Placeholder 8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59043" y="2669965"/>
            <a:ext cx="2170220" cy="171405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pic>
    </p:spTree>
    <p:extLst>
      <p:ext uri="{BB962C8B-B14F-4D97-AF65-F5344CB8AC3E}">
        <p14:creationId xmlns:p14="http://schemas.microsoft.com/office/powerpoint/2010/main" val="174293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32935" y="1387250"/>
            <a:ext cx="8326438" cy="4683350"/>
          </a:xfrm>
        </p:spPr>
        <p:txBody>
          <a:bodyPr/>
          <a:lstStyle/>
          <a:p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 </a:t>
            </a:r>
            <a:r>
              <a:rPr lang="en-US" i="1" dirty="0"/>
              <a:t>e </a:t>
            </a:r>
            <a:r>
              <a:rPr lang="en-US" dirty="0" err="1"/>
              <a:t>menghubungkan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i="1" dirty="0"/>
              <a:t>u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/>
              <a:t>v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:</a:t>
            </a:r>
          </a:p>
          <a:p>
            <a:pPr marL="609600" indent="-342900">
              <a:buFontTx/>
              <a:buChar char="-"/>
            </a:pP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i="1" dirty="0"/>
              <a:t>u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/>
              <a:t>v</a:t>
            </a:r>
            <a:r>
              <a:rPr lang="en-US" dirty="0"/>
              <a:t> </a:t>
            </a:r>
            <a:r>
              <a:rPr lang="en-US" dirty="0" err="1"/>
              <a:t>insiden</a:t>
            </a:r>
            <a:r>
              <a:rPr lang="en-US" dirty="0"/>
              <a:t> (</a:t>
            </a:r>
            <a:r>
              <a:rPr lang="en-US" i="1" dirty="0"/>
              <a:t>incident</a:t>
            </a:r>
            <a:r>
              <a:rPr lang="en-US" dirty="0"/>
              <a:t>)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i="1" dirty="0"/>
              <a:t>e.</a:t>
            </a:r>
            <a:endParaRPr lang="en-US" dirty="0"/>
          </a:p>
          <a:p>
            <a:pPr marL="609600" indent="-342900">
              <a:buFontTx/>
              <a:buChar char="-"/>
            </a:pPr>
            <a:r>
              <a:rPr lang="en-US" dirty="0" err="1"/>
              <a:t>Busur</a:t>
            </a:r>
            <a:r>
              <a:rPr lang="en-US" dirty="0"/>
              <a:t> </a:t>
            </a:r>
            <a:r>
              <a:rPr lang="en-US" i="1" dirty="0"/>
              <a:t>e </a:t>
            </a:r>
            <a:r>
              <a:rPr lang="en-US" dirty="0" err="1"/>
              <a:t>insiden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i="1" dirty="0"/>
              <a:t>u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/>
              <a:t>v.</a:t>
            </a:r>
          </a:p>
          <a:p>
            <a:pPr marL="609600" indent="-342900">
              <a:buFontTx/>
              <a:buChar char="-"/>
            </a:pPr>
            <a:endParaRPr lang="en-US" i="1" dirty="0"/>
          </a:p>
          <a:p>
            <a:pPr marL="609600" indent="-342900">
              <a:buFontTx/>
              <a:buChar char="-"/>
            </a:pPr>
            <a:endParaRPr lang="en-US" i="1" dirty="0"/>
          </a:p>
          <a:p>
            <a:pPr marL="609600" indent="-342900">
              <a:buFontTx/>
              <a:buChar char="-"/>
            </a:pPr>
            <a:endParaRPr lang="en-US" i="1" dirty="0"/>
          </a:p>
          <a:p>
            <a:pPr marL="609600" indent="-342900">
              <a:buFontTx/>
              <a:buChar char="-"/>
            </a:pPr>
            <a:endParaRPr lang="en-US" i="1" dirty="0"/>
          </a:p>
          <a:p>
            <a:pPr marL="609600" indent="-342900">
              <a:buFontTx/>
              <a:buChar char="-"/>
            </a:pPr>
            <a:endParaRPr lang="en-US" i="1" dirty="0"/>
          </a:p>
          <a:p>
            <a:pPr marL="266700" indent="0">
              <a:buNone/>
            </a:pPr>
            <a:endParaRPr lang="en-US" i="1" dirty="0"/>
          </a:p>
          <a:p>
            <a:pPr marL="266700" indent="0">
              <a:buNone/>
            </a:pPr>
            <a:r>
              <a:rPr lang="en-US" dirty="0" err="1"/>
              <a:t>Contoh</a:t>
            </a:r>
            <a:r>
              <a:rPr lang="en-US" dirty="0"/>
              <a:t>: </a:t>
            </a:r>
          </a:p>
          <a:p>
            <a:pPr marL="609600" indent="-342900">
              <a:buFontTx/>
              <a:buChar char="-"/>
            </a:pPr>
            <a:r>
              <a:rPr lang="en-US" dirty="0" err="1"/>
              <a:t>Simpul</a:t>
            </a:r>
            <a:r>
              <a:rPr lang="en-US" dirty="0"/>
              <a:t> 1 </a:t>
            </a:r>
            <a:r>
              <a:rPr lang="en-US" dirty="0" err="1"/>
              <a:t>dan</a:t>
            </a:r>
            <a:r>
              <a:rPr lang="en-US" dirty="0"/>
              <a:t> 2 </a:t>
            </a:r>
            <a:r>
              <a:rPr lang="en-US" dirty="0" err="1"/>
              <a:t>insiden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i="1" dirty="0"/>
              <a:t>e</a:t>
            </a:r>
            <a:r>
              <a:rPr lang="en-US" dirty="0"/>
              <a:t>1.</a:t>
            </a:r>
          </a:p>
          <a:p>
            <a:pPr marL="609600" indent="-342900">
              <a:buFontTx/>
              <a:buChar char="-"/>
            </a:pPr>
            <a:r>
              <a:rPr lang="en-US" dirty="0" err="1"/>
              <a:t>Busur</a:t>
            </a:r>
            <a:r>
              <a:rPr lang="en-US" dirty="0"/>
              <a:t> </a:t>
            </a:r>
            <a:r>
              <a:rPr lang="en-US" i="1" dirty="0"/>
              <a:t>e</a:t>
            </a:r>
            <a:r>
              <a:rPr lang="en-US" dirty="0"/>
              <a:t>6 </a:t>
            </a:r>
            <a:r>
              <a:rPr lang="en-US" dirty="0" err="1"/>
              <a:t>insiden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3 </a:t>
            </a:r>
            <a:r>
              <a:rPr lang="en-US" dirty="0" err="1"/>
              <a:t>dan</a:t>
            </a:r>
            <a:r>
              <a:rPr lang="en-US" dirty="0"/>
              <a:t> 4.</a:t>
            </a:r>
          </a:p>
          <a:p>
            <a:pPr marL="266700" indent="0">
              <a:buNone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7525" y="494671"/>
            <a:ext cx="8326438" cy="641239"/>
          </a:xfrm>
        </p:spPr>
        <p:txBody>
          <a:bodyPr/>
          <a:lstStyle/>
          <a:p>
            <a:r>
              <a:rPr lang="en-US" dirty="0" err="1"/>
              <a:t>Definisi-definisi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Graf (2)</a:t>
            </a:r>
            <a:endParaRPr lang="id-ID" dirty="0"/>
          </a:p>
        </p:txBody>
      </p:sp>
      <p:pic>
        <p:nvPicPr>
          <p:cNvPr id="30" name="Content Placeholder 8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88834" y="2701631"/>
            <a:ext cx="2352049" cy="185766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pic>
    </p:spTree>
    <p:extLst>
      <p:ext uri="{BB962C8B-B14F-4D97-AF65-F5344CB8AC3E}">
        <p14:creationId xmlns:p14="http://schemas.microsoft.com/office/powerpoint/2010/main" val="1662893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/>
          <p:cNvSpPr txBox="1">
            <a:spLocks/>
          </p:cNvSpPr>
          <p:nvPr/>
        </p:nvSpPr>
        <p:spPr bwMode="auto">
          <a:xfrm>
            <a:off x="542708" y="1484162"/>
            <a:ext cx="4162584" cy="3921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6075" indent="-346075" algn="l" defTabSz="457200" rtl="0" eaLnBrk="1" fontAlgn="base" hangingPunct="1">
              <a:spcBef>
                <a:spcPts val="6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93725" indent="-182563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FontTx/>
              <a:buNone/>
            </a:pP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:</a:t>
            </a:r>
          </a:p>
          <a:p>
            <a:r>
              <a:rPr lang="en-US" dirty="0"/>
              <a:t>Graf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berarah</a:t>
            </a:r>
            <a:r>
              <a:rPr lang="en-US" dirty="0"/>
              <a:t> </a:t>
            </a:r>
          </a:p>
          <a:p>
            <a:pPr marL="0" indent="0">
              <a:buFontTx/>
              <a:buNone/>
            </a:pPr>
            <a:r>
              <a:rPr lang="en-US" dirty="0"/>
              <a:t>   (</a:t>
            </a:r>
            <a:r>
              <a:rPr lang="en-US" i="1" dirty="0"/>
              <a:t>undirected graph</a:t>
            </a:r>
            <a:r>
              <a:rPr lang="en-US" dirty="0"/>
              <a:t>)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endParaRPr lang="en-US" dirty="0"/>
          </a:p>
          <a:p>
            <a:pPr marL="266700" lvl="1" indent="0">
              <a:buNone/>
            </a:pPr>
            <a:endParaRPr lang="en-US" dirty="0"/>
          </a:p>
          <a:p>
            <a:pPr marL="266700" lvl="1" indent="0">
              <a:buNone/>
            </a:pPr>
            <a:r>
              <a:rPr lang="en-US" dirty="0" err="1"/>
              <a:t>busur</a:t>
            </a:r>
            <a:r>
              <a:rPr lang="en-US" dirty="0"/>
              <a:t> (A,B) = (B,A) 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10" name="Title 4"/>
          <p:cNvSpPr txBox="1">
            <a:spLocks/>
          </p:cNvSpPr>
          <p:nvPr/>
        </p:nvSpPr>
        <p:spPr bwMode="auto">
          <a:xfrm>
            <a:off x="498063" y="422399"/>
            <a:ext cx="8193500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dirty="0" err="1"/>
              <a:t>Jenis</a:t>
            </a:r>
            <a:r>
              <a:rPr lang="en-US" dirty="0"/>
              <a:t> Graf: </a:t>
            </a:r>
            <a:r>
              <a:rPr lang="en-US" dirty="0" err="1"/>
              <a:t>Berarah</a:t>
            </a:r>
            <a:r>
              <a:rPr lang="en-US" dirty="0"/>
              <a:t> /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Berarah</a:t>
            </a:r>
            <a:endParaRPr lang="id-ID" dirty="0"/>
          </a:p>
        </p:txBody>
      </p:sp>
      <p:pic>
        <p:nvPicPr>
          <p:cNvPr id="11" name="Picture 10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2894990"/>
            <a:ext cx="2984156" cy="172368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Content Placeholder 1"/>
          <p:cNvSpPr txBox="1">
            <a:spLocks/>
          </p:cNvSpPr>
          <p:nvPr/>
        </p:nvSpPr>
        <p:spPr bwMode="auto">
          <a:xfrm>
            <a:off x="4891019" y="1522583"/>
            <a:ext cx="4162584" cy="3921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93725" indent="-182563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600"/>
              </a:spcBef>
            </a:pPr>
            <a:r>
              <a:rPr lang="en-US" sz="2000" dirty="0"/>
              <a:t>Graf </a:t>
            </a:r>
            <a:r>
              <a:rPr lang="en-US" sz="2000" dirty="0" err="1"/>
              <a:t>berarah</a:t>
            </a:r>
            <a:r>
              <a:rPr lang="en-US" sz="2000" dirty="0"/>
              <a:t> </a:t>
            </a:r>
          </a:p>
          <a:p>
            <a:pPr marL="0" indent="0">
              <a:spcBef>
                <a:spcPts val="600"/>
              </a:spcBef>
              <a:buFontTx/>
              <a:buNone/>
            </a:pPr>
            <a:r>
              <a:rPr lang="en-US" sz="2000" dirty="0"/>
              <a:t>   (</a:t>
            </a:r>
            <a:r>
              <a:rPr lang="en-US" sz="2000" i="1" dirty="0"/>
              <a:t>directed graph</a:t>
            </a:r>
            <a:r>
              <a:rPr lang="en-US" sz="2000" dirty="0"/>
              <a:t>)</a:t>
            </a:r>
          </a:p>
          <a:p>
            <a:pPr marL="0" indent="0">
              <a:spcBef>
                <a:spcPts val="600"/>
              </a:spcBef>
              <a:buFontTx/>
              <a:buNone/>
            </a:pPr>
            <a:endParaRPr lang="en-US" sz="2000" dirty="0"/>
          </a:p>
          <a:p>
            <a:pPr marL="0" indent="0">
              <a:spcBef>
                <a:spcPts val="600"/>
              </a:spcBef>
              <a:buFontTx/>
              <a:buNone/>
            </a:pPr>
            <a:endParaRPr lang="en-US" sz="2000" dirty="0"/>
          </a:p>
          <a:p>
            <a:pPr marL="0" indent="0">
              <a:spcBef>
                <a:spcPts val="600"/>
              </a:spcBef>
              <a:buFontTx/>
              <a:buNone/>
            </a:pPr>
            <a:endParaRPr lang="en-US" sz="2000" dirty="0"/>
          </a:p>
          <a:p>
            <a:pPr marL="0" indent="0">
              <a:spcBef>
                <a:spcPts val="600"/>
              </a:spcBef>
              <a:buFontTx/>
              <a:buNone/>
            </a:pPr>
            <a:endParaRPr lang="en-US" sz="2000" dirty="0"/>
          </a:p>
          <a:p>
            <a:pPr marL="0" indent="0">
              <a:spcBef>
                <a:spcPts val="600"/>
              </a:spcBef>
              <a:buFontTx/>
              <a:buNone/>
            </a:pPr>
            <a:endParaRPr lang="en-US" sz="2000" dirty="0"/>
          </a:p>
          <a:p>
            <a:pPr marL="0" indent="0">
              <a:spcBef>
                <a:spcPts val="600"/>
              </a:spcBef>
              <a:buFontTx/>
              <a:buNone/>
            </a:pPr>
            <a:endParaRPr lang="en-US" sz="20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 err="1"/>
              <a:t>busur</a:t>
            </a:r>
            <a:r>
              <a:rPr lang="en-US" sz="2000" dirty="0"/>
              <a:t> (A,B) ≠ (B,A)  </a:t>
            </a:r>
          </a:p>
          <a:p>
            <a:pPr marL="0" indent="0">
              <a:spcBef>
                <a:spcPts val="600"/>
              </a:spcBef>
              <a:buFontTx/>
              <a:buNone/>
            </a:pPr>
            <a:endParaRPr lang="en-US" sz="2000" dirty="0"/>
          </a:p>
          <a:p>
            <a:pPr marL="0" indent="0">
              <a:spcBef>
                <a:spcPts val="600"/>
              </a:spcBef>
              <a:buFontTx/>
              <a:buNone/>
            </a:pPr>
            <a:endParaRPr lang="en-US" sz="2000" dirty="0"/>
          </a:p>
          <a:p>
            <a:pPr marL="0" indent="0">
              <a:spcBef>
                <a:spcPts val="600"/>
              </a:spcBef>
              <a:buFontTx/>
              <a:buNone/>
            </a:pPr>
            <a:endParaRPr lang="en-US" sz="2000" dirty="0"/>
          </a:p>
          <a:p>
            <a:pPr marL="0" indent="0">
              <a:spcBef>
                <a:spcPts val="600"/>
              </a:spcBef>
              <a:buFontTx/>
              <a:buNone/>
            </a:pPr>
            <a:endParaRPr lang="en-US" sz="2000" dirty="0"/>
          </a:p>
          <a:p>
            <a:pPr marL="0" indent="0">
              <a:spcBef>
                <a:spcPts val="600"/>
              </a:spcBef>
              <a:buFontTx/>
              <a:buNone/>
            </a:pPr>
            <a:endParaRPr lang="en-US" sz="2000" dirty="0"/>
          </a:p>
          <a:p>
            <a:pPr marL="0" indent="0">
              <a:spcBef>
                <a:spcPts val="600"/>
              </a:spcBef>
              <a:buFontTx/>
              <a:buNone/>
            </a:pPr>
            <a:endParaRPr lang="en-US" sz="2000" dirty="0"/>
          </a:p>
          <a:p>
            <a:pPr marL="0" indent="0">
              <a:spcBef>
                <a:spcPts val="600"/>
              </a:spcBef>
              <a:buFontTx/>
              <a:buNone/>
            </a:pPr>
            <a:endParaRPr lang="en-US" sz="2000" dirty="0"/>
          </a:p>
          <a:p>
            <a:pPr marL="355600" indent="0">
              <a:spcBef>
                <a:spcPts val="600"/>
              </a:spcBef>
              <a:buFontTx/>
              <a:buNone/>
              <a:tabLst>
                <a:tab pos="177800" algn="l"/>
              </a:tabLst>
            </a:pPr>
            <a:endParaRPr lang="en-US" sz="2000" dirty="0"/>
          </a:p>
          <a:p>
            <a:pPr marL="0" indent="0">
              <a:spcBef>
                <a:spcPts val="600"/>
              </a:spcBef>
              <a:buFontTx/>
              <a:buNone/>
            </a:pPr>
            <a:endParaRPr lang="en-US" sz="2000" dirty="0"/>
          </a:p>
          <a:p>
            <a:pPr marL="0" indent="0">
              <a:spcBef>
                <a:spcPts val="600"/>
              </a:spcBef>
              <a:buFontTx/>
              <a:buNone/>
            </a:pPr>
            <a:endParaRPr lang="en-US" sz="2000" dirty="0"/>
          </a:p>
          <a:p>
            <a:pPr marL="0" indent="0">
              <a:spcBef>
                <a:spcPts val="600"/>
              </a:spcBef>
              <a:buFontTx/>
              <a:buNone/>
            </a:pPr>
            <a:endParaRPr lang="en-US" sz="2000" dirty="0"/>
          </a:p>
        </p:txBody>
      </p:sp>
      <p:pic>
        <p:nvPicPr>
          <p:cNvPr id="13" name="Picture 12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2474" y="2826491"/>
            <a:ext cx="2979483" cy="17921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5506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/>
          <p:cNvSpPr txBox="1">
            <a:spLocks/>
          </p:cNvSpPr>
          <p:nvPr/>
        </p:nvSpPr>
        <p:spPr bwMode="auto">
          <a:xfrm>
            <a:off x="425920" y="1306362"/>
            <a:ext cx="8265643" cy="3921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6075" indent="-346075" algn="l" defTabSz="457200" rtl="0" eaLnBrk="1" fontAlgn="base" hangingPunct="1">
              <a:spcBef>
                <a:spcPts val="6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93725" indent="-182563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FontTx/>
              <a:buNone/>
            </a:pP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adanya</a:t>
            </a:r>
            <a:r>
              <a:rPr lang="en-US" dirty="0"/>
              <a:t> </a:t>
            </a:r>
            <a:r>
              <a:rPr lang="en-US" dirty="0" err="1"/>
              <a:t>bobot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:</a:t>
            </a:r>
          </a:p>
          <a:p>
            <a:r>
              <a:rPr lang="en-US" dirty="0"/>
              <a:t>Graf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berbobot</a:t>
            </a: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   (</a:t>
            </a:r>
            <a:r>
              <a:rPr lang="en-US" i="1" dirty="0"/>
              <a:t>unweighted graph</a:t>
            </a:r>
            <a:r>
              <a:rPr lang="en-US" dirty="0"/>
              <a:t>)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10" name="Title 4"/>
          <p:cNvSpPr txBox="1">
            <a:spLocks/>
          </p:cNvSpPr>
          <p:nvPr/>
        </p:nvSpPr>
        <p:spPr bwMode="auto">
          <a:xfrm>
            <a:off x="498063" y="408131"/>
            <a:ext cx="8193500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dirty="0" err="1"/>
              <a:t>Jenis</a:t>
            </a:r>
            <a:r>
              <a:rPr lang="en-US" dirty="0"/>
              <a:t> Graf: </a:t>
            </a:r>
            <a:r>
              <a:rPr lang="en-US" dirty="0" err="1"/>
              <a:t>Berbobot</a:t>
            </a:r>
            <a:r>
              <a:rPr lang="en-US" dirty="0"/>
              <a:t> /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Berbobot</a:t>
            </a:r>
            <a:endParaRPr lang="id-ID" dirty="0"/>
          </a:p>
        </p:txBody>
      </p:sp>
      <p:pic>
        <p:nvPicPr>
          <p:cNvPr id="11" name="Picture 10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2826491"/>
            <a:ext cx="2791898" cy="172368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Content Placeholder 1"/>
          <p:cNvSpPr txBox="1">
            <a:spLocks/>
          </p:cNvSpPr>
          <p:nvPr/>
        </p:nvSpPr>
        <p:spPr bwMode="auto">
          <a:xfrm>
            <a:off x="4891019" y="1484162"/>
            <a:ext cx="4162584" cy="3921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93725" indent="-182563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US" sz="2000" dirty="0"/>
          </a:p>
          <a:p>
            <a:pPr>
              <a:spcBef>
                <a:spcPts val="600"/>
              </a:spcBef>
            </a:pPr>
            <a:r>
              <a:rPr lang="en-US" sz="2000" dirty="0"/>
              <a:t>Graf </a:t>
            </a:r>
            <a:r>
              <a:rPr lang="en-US" sz="2000" dirty="0" err="1"/>
              <a:t>berbobot</a:t>
            </a:r>
            <a:r>
              <a:rPr lang="en-US" sz="2000" dirty="0"/>
              <a:t> </a:t>
            </a:r>
          </a:p>
          <a:p>
            <a:pPr marL="0" indent="0">
              <a:spcBef>
                <a:spcPts val="600"/>
              </a:spcBef>
              <a:buFontTx/>
              <a:buNone/>
            </a:pPr>
            <a:r>
              <a:rPr lang="en-US" sz="2000" dirty="0"/>
              <a:t>   (</a:t>
            </a:r>
            <a:r>
              <a:rPr lang="en-US" sz="2000" i="1" dirty="0"/>
              <a:t>weighted graph</a:t>
            </a:r>
            <a:r>
              <a:rPr lang="en-US" sz="2000" dirty="0"/>
              <a:t>)</a:t>
            </a:r>
          </a:p>
          <a:p>
            <a:pPr marL="0" indent="0">
              <a:spcBef>
                <a:spcPts val="600"/>
              </a:spcBef>
              <a:buFontTx/>
              <a:buNone/>
            </a:pPr>
            <a:endParaRPr lang="en-US" sz="2000" dirty="0"/>
          </a:p>
          <a:p>
            <a:pPr marL="0" indent="0">
              <a:spcBef>
                <a:spcPts val="600"/>
              </a:spcBef>
              <a:buFontTx/>
              <a:buNone/>
            </a:pPr>
            <a:endParaRPr lang="en-US" sz="2000" dirty="0"/>
          </a:p>
          <a:p>
            <a:pPr marL="0" indent="0">
              <a:spcBef>
                <a:spcPts val="600"/>
              </a:spcBef>
              <a:buFontTx/>
              <a:buNone/>
            </a:pPr>
            <a:endParaRPr 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 flipV="1">
            <a:off x="5372100" y="3365499"/>
            <a:ext cx="1212350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100" y="4487249"/>
            <a:ext cx="2683026" cy="18363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3989" y="2826492"/>
            <a:ext cx="2192420" cy="1593108"/>
          </a:xfrm>
          <a:prstGeom prst="rect">
            <a:avLst/>
          </a:prstGeom>
        </p:spPr>
      </p:pic>
      <p:pic>
        <p:nvPicPr>
          <p:cNvPr id="16" name="Picture 15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4601842"/>
            <a:ext cx="2738525" cy="17921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9005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59261" y="1653950"/>
            <a:ext cx="8326438" cy="4025490"/>
          </a:xfrm>
        </p:spPr>
        <p:txBody>
          <a:bodyPr/>
          <a:lstStyle/>
          <a:p>
            <a:r>
              <a:rPr lang="en-US" dirty="0" err="1"/>
              <a:t>Derajat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i="1" dirty="0"/>
              <a:t>v, </a:t>
            </a:r>
            <a:r>
              <a:rPr lang="en-US" dirty="0" err="1"/>
              <a:t>yaitu</a:t>
            </a:r>
            <a:r>
              <a:rPr lang="en-US" dirty="0"/>
              <a:t>  d(</a:t>
            </a:r>
            <a:r>
              <a:rPr lang="en-US" i="1" dirty="0"/>
              <a:t>v</a:t>
            </a:r>
            <a:r>
              <a:rPr lang="en-US" dirty="0"/>
              <a:t>),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i="1" dirty="0"/>
              <a:t>G</a:t>
            </a:r>
            <a:r>
              <a:rPr lang="en-US" dirty="0"/>
              <a:t>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 yang </a:t>
            </a:r>
            <a:r>
              <a:rPr lang="en-US" dirty="0" err="1"/>
              <a:t>insiden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i="1" dirty="0"/>
              <a:t>v.</a:t>
            </a:r>
            <a:r>
              <a:rPr lang="en-US" dirty="0"/>
              <a:t> </a:t>
            </a:r>
          </a:p>
          <a:p>
            <a:pPr marL="411162" lvl="1" indent="0">
              <a:buNone/>
            </a:pPr>
            <a:r>
              <a:rPr lang="en-US" sz="1800" dirty="0" err="1"/>
              <a:t>Contoh</a:t>
            </a:r>
            <a:r>
              <a:rPr lang="en-US" sz="1800" dirty="0"/>
              <a:t> : </a:t>
            </a:r>
            <a:br>
              <a:rPr lang="en-US" sz="1800" dirty="0"/>
            </a:br>
            <a:r>
              <a:rPr lang="en-US" sz="1800" dirty="0"/>
              <a:t>d(1) = 3</a:t>
            </a:r>
          </a:p>
          <a:p>
            <a:pPr marL="411162" lvl="1" indent="0">
              <a:buNone/>
            </a:pPr>
            <a:r>
              <a:rPr lang="en-US" sz="1800" dirty="0"/>
              <a:t>d(2) = 3</a:t>
            </a:r>
          </a:p>
          <a:p>
            <a:pPr marL="411162" lvl="1" indent="0">
              <a:buNone/>
            </a:pPr>
            <a:endParaRPr lang="en-US" sz="1800" dirty="0"/>
          </a:p>
          <a:p>
            <a:pPr marL="411162" lvl="1" indent="0">
              <a:buNone/>
            </a:pPr>
            <a:r>
              <a:rPr lang="en-US" sz="1800" dirty="0" err="1"/>
              <a:t>Sementara</a:t>
            </a:r>
            <a:r>
              <a:rPr lang="en-US" sz="1800" dirty="0"/>
              <a:t> </a:t>
            </a:r>
            <a:r>
              <a:rPr lang="en-US" sz="1800" dirty="0" err="1"/>
              <a:t>itu</a:t>
            </a:r>
            <a:r>
              <a:rPr lang="en-US" sz="1800" dirty="0"/>
              <a:t>, </a:t>
            </a:r>
            <a:r>
              <a:rPr lang="en-US" sz="1800" i="1" dirty="0"/>
              <a:t>d</a:t>
            </a:r>
            <a:r>
              <a:rPr lang="en-US" sz="1800" dirty="0"/>
              <a:t>(3) = 7; </a:t>
            </a:r>
          </a:p>
          <a:p>
            <a:pPr marL="411162" lvl="1" indent="0">
              <a:buNone/>
            </a:pPr>
            <a:r>
              <a:rPr lang="en-US" sz="1800" i="1" dirty="0"/>
              <a:t>e</a:t>
            </a:r>
            <a:r>
              <a:rPr lang="en-US" sz="1800" dirty="0"/>
              <a:t>8</a:t>
            </a:r>
            <a:r>
              <a:rPr lang="en-US" sz="1800" i="1" dirty="0"/>
              <a:t> </a:t>
            </a:r>
            <a:r>
              <a:rPr lang="en-US" sz="1800" dirty="0" err="1"/>
              <a:t>dihitung</a:t>
            </a:r>
            <a:r>
              <a:rPr lang="en-US" sz="1800" dirty="0"/>
              <a:t> 2, </a:t>
            </a:r>
            <a:r>
              <a:rPr lang="en-US" sz="1800" dirty="0" err="1"/>
              <a:t>karena</a:t>
            </a:r>
            <a:r>
              <a:rPr lang="en-US" sz="1800" dirty="0"/>
              <a:t> </a:t>
            </a:r>
            <a:r>
              <a:rPr lang="en-US" sz="1800" dirty="0" err="1"/>
              <a:t>kedua</a:t>
            </a:r>
            <a:r>
              <a:rPr lang="en-US" sz="1800" dirty="0"/>
              <a:t> </a:t>
            </a:r>
            <a:r>
              <a:rPr lang="en-US" sz="1800" dirty="0" err="1"/>
              <a:t>ujungnya</a:t>
            </a:r>
            <a:r>
              <a:rPr lang="en-US" sz="1800" dirty="0"/>
              <a:t> </a:t>
            </a:r>
          </a:p>
          <a:p>
            <a:pPr marL="411162" lvl="1" indent="0">
              <a:buNone/>
            </a:pPr>
            <a:r>
              <a:rPr lang="en-US" sz="1800" dirty="0" err="1"/>
              <a:t>Insiden</a:t>
            </a:r>
            <a:r>
              <a:rPr lang="en-US" sz="1800" dirty="0"/>
              <a:t> </a:t>
            </a:r>
            <a:r>
              <a:rPr lang="en-US" sz="1800" dirty="0" err="1"/>
              <a:t>pada simpul</a:t>
            </a:r>
            <a:r>
              <a:rPr lang="en-US" sz="1800" dirty="0"/>
              <a:t> 3.</a:t>
            </a:r>
          </a:p>
          <a:p>
            <a:pPr marL="411162" lvl="1" indent="0">
              <a:buNone/>
            </a:pPr>
            <a:endParaRPr lang="en-US" sz="1800" dirty="0"/>
          </a:p>
          <a:p>
            <a:pPr marL="411162" lvl="1" indent="0">
              <a:buNone/>
            </a:pPr>
            <a:r>
              <a:rPr lang="en-US" sz="1800" dirty="0" err="1"/>
              <a:t>Pada</a:t>
            </a:r>
            <a:r>
              <a:rPr lang="en-US" sz="1800" dirty="0"/>
              <a:t> </a:t>
            </a:r>
            <a:r>
              <a:rPr lang="en-US" sz="1800" dirty="0" err="1"/>
              <a:t>setiap</a:t>
            </a:r>
            <a:r>
              <a:rPr lang="en-US" sz="1800" dirty="0"/>
              <a:t> </a:t>
            </a:r>
            <a:r>
              <a:rPr lang="en-US" sz="1800" dirty="0" err="1"/>
              <a:t>graf</a:t>
            </a:r>
            <a:r>
              <a:rPr lang="en-US" sz="1800" dirty="0"/>
              <a:t> </a:t>
            </a:r>
            <a:r>
              <a:rPr lang="en-US" sz="1800" dirty="0" err="1"/>
              <a:t>berlaku</a:t>
            </a:r>
            <a:r>
              <a:rPr lang="en-US" sz="1800" dirty="0"/>
              <a:t>: |</a:t>
            </a:r>
            <a:r>
              <a:rPr lang="en-US" sz="1800" i="1" dirty="0"/>
              <a:t>d| = </a:t>
            </a:r>
            <a:r>
              <a:rPr lang="en-US" sz="1800" dirty="0"/>
              <a:t>2 * </a:t>
            </a:r>
            <a:r>
              <a:rPr lang="en-US" sz="1800" i="1" dirty="0"/>
              <a:t>|E|</a:t>
            </a:r>
            <a:endParaRPr lang="id-ID" sz="180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Derajat</a:t>
            </a:r>
            <a:r>
              <a:rPr lang="en-US" dirty="0"/>
              <a:t> (</a:t>
            </a:r>
            <a:r>
              <a:rPr lang="en-US" i="1" dirty="0"/>
              <a:t>Degree</a:t>
            </a:r>
            <a:r>
              <a:rPr lang="en-US" dirty="0"/>
              <a:t>)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Simpul</a:t>
            </a:r>
            <a:endParaRPr lang="id-ID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1775" y="2518932"/>
            <a:ext cx="2990850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232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89908" y="1448950"/>
            <a:ext cx="8326438" cy="4926449"/>
          </a:xfrm>
        </p:spPr>
        <p:txBody>
          <a:bodyPr/>
          <a:lstStyle/>
          <a:p>
            <a:r>
              <a:rPr lang="en-US" dirty="0"/>
              <a:t>Ada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derajat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berarah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:</a:t>
            </a:r>
          </a:p>
          <a:p>
            <a:pPr lvl="1"/>
            <a:r>
              <a:rPr lang="en-US" i="1" dirty="0"/>
              <a:t>In-degree</a:t>
            </a:r>
            <a:r>
              <a:rPr lang="en-US" dirty="0"/>
              <a:t>, </a:t>
            </a:r>
            <a:r>
              <a:rPr lang="en-US" i="1" dirty="0"/>
              <a:t>d</a:t>
            </a:r>
            <a:r>
              <a:rPr lang="en-US" sz="2800" i="1" baseline="-25000" dirty="0"/>
              <a:t>in</a:t>
            </a:r>
            <a:r>
              <a:rPr lang="en-US" baseline="-25000" dirty="0"/>
              <a:t> </a:t>
            </a:r>
            <a:r>
              <a:rPr lang="en-US" i="1" dirty="0"/>
              <a:t>(v)</a:t>
            </a:r>
            <a:r>
              <a:rPr lang="en-US" dirty="0"/>
              <a:t>, yang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 yang </a:t>
            </a:r>
            <a:r>
              <a:rPr lang="en-US" dirty="0" err="1"/>
              <a:t>menuju</a:t>
            </a:r>
            <a:r>
              <a:rPr lang="en-US" dirty="0"/>
              <a:t> </a:t>
            </a:r>
            <a:r>
              <a:rPr lang="en-US" i="1" dirty="0"/>
              <a:t>v.</a:t>
            </a:r>
            <a:endParaRPr lang="en-US" dirty="0"/>
          </a:p>
          <a:p>
            <a:pPr lvl="1"/>
            <a:r>
              <a:rPr lang="en-US" i="1" dirty="0"/>
              <a:t>Out-degree</a:t>
            </a:r>
            <a:r>
              <a:rPr lang="en-US" dirty="0"/>
              <a:t>, </a:t>
            </a:r>
            <a:r>
              <a:rPr lang="en-US" i="1" dirty="0" err="1"/>
              <a:t>d</a:t>
            </a:r>
            <a:r>
              <a:rPr lang="en-US" sz="2800" i="1" baseline="-25000" dirty="0" err="1"/>
              <a:t>out</a:t>
            </a:r>
            <a:r>
              <a:rPr lang="en-US" i="1" baseline="-25000" dirty="0"/>
              <a:t> </a:t>
            </a:r>
            <a:r>
              <a:rPr lang="en-US" i="1" dirty="0"/>
              <a:t>(v)</a:t>
            </a:r>
            <a:r>
              <a:rPr lang="en-US" dirty="0"/>
              <a:t>,  yang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 yang </a:t>
            </a:r>
            <a:r>
              <a:rPr lang="en-US" dirty="0" err="1"/>
              <a:t>keluar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i="1" dirty="0"/>
              <a:t>v.</a:t>
            </a:r>
          </a:p>
          <a:p>
            <a:pPr marL="411162" lvl="1" indent="0">
              <a:spcBef>
                <a:spcPts val="0"/>
              </a:spcBef>
              <a:buNone/>
            </a:pPr>
            <a:endParaRPr lang="en-US" i="1" dirty="0"/>
          </a:p>
          <a:p>
            <a:pPr marL="411162" lvl="1" indent="0">
              <a:buNone/>
            </a:pPr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 marL="723900" indent="0">
              <a:buNone/>
              <a:tabLst>
                <a:tab pos="3314700" algn="l"/>
              </a:tabLst>
            </a:pPr>
            <a:r>
              <a:rPr lang="en-US" i="1" dirty="0"/>
              <a:t>d</a:t>
            </a:r>
            <a:r>
              <a:rPr lang="en-US" dirty="0"/>
              <a:t>(A)=</a:t>
            </a:r>
            <a:r>
              <a:rPr lang="en-US" i="1" dirty="0"/>
              <a:t>d</a:t>
            </a:r>
            <a:r>
              <a:rPr lang="en-US" sz="2800" i="1" baseline="-25000" dirty="0"/>
              <a:t>in</a:t>
            </a:r>
            <a:r>
              <a:rPr lang="en-US" dirty="0"/>
              <a:t>(A)+ </a:t>
            </a:r>
            <a:r>
              <a:rPr lang="en-US" i="1" dirty="0" err="1"/>
              <a:t>d</a:t>
            </a:r>
            <a:r>
              <a:rPr lang="en-US" sz="2800" i="1" baseline="-25000" dirty="0" err="1"/>
              <a:t>out</a:t>
            </a:r>
            <a:r>
              <a:rPr lang="en-US" dirty="0"/>
              <a:t>(A) = 1+3 = 4</a:t>
            </a:r>
          </a:p>
          <a:p>
            <a:pPr marL="723900" indent="0">
              <a:buNone/>
              <a:tabLst>
                <a:tab pos="3314700" algn="l"/>
              </a:tabLst>
            </a:pPr>
            <a:r>
              <a:rPr lang="en-US" i="1" dirty="0"/>
              <a:t>d</a:t>
            </a:r>
            <a:r>
              <a:rPr lang="en-US" dirty="0"/>
              <a:t>(C)=</a:t>
            </a:r>
            <a:r>
              <a:rPr lang="en-US" i="1" dirty="0"/>
              <a:t>d</a:t>
            </a:r>
            <a:r>
              <a:rPr lang="en-US" sz="2800" i="1" baseline="-25000" dirty="0"/>
              <a:t>in</a:t>
            </a:r>
            <a:r>
              <a:rPr lang="en-US" dirty="0"/>
              <a:t>(C)+ </a:t>
            </a:r>
            <a:r>
              <a:rPr lang="en-US" i="1" dirty="0" err="1"/>
              <a:t>d</a:t>
            </a:r>
            <a:r>
              <a:rPr lang="en-US" sz="2800" i="1" baseline="-25000" dirty="0" err="1"/>
              <a:t>out</a:t>
            </a:r>
            <a:r>
              <a:rPr lang="en-US" dirty="0"/>
              <a:t>(C) = 3+3 = 6</a:t>
            </a:r>
          </a:p>
          <a:p>
            <a:pPr marL="411162" lvl="1" indent="0">
              <a:buNone/>
            </a:pPr>
            <a:endParaRPr lang="en-US" dirty="0"/>
          </a:p>
          <a:p>
            <a:pPr marL="411162" lvl="1" indent="0">
              <a:buNone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07503" y="448854"/>
            <a:ext cx="8326438" cy="641239"/>
          </a:xfrm>
        </p:spPr>
        <p:txBody>
          <a:bodyPr/>
          <a:lstStyle/>
          <a:p>
            <a:r>
              <a:rPr lang="en-US" dirty="0" err="1"/>
              <a:t>Derajat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Graf </a:t>
            </a:r>
            <a:r>
              <a:rPr lang="en-US" dirty="0" err="1"/>
              <a:t>Berarah</a:t>
            </a:r>
            <a:endParaRPr lang="id-ID" dirty="0"/>
          </a:p>
        </p:txBody>
      </p:sp>
      <p:pic>
        <p:nvPicPr>
          <p:cNvPr id="8" name="Pictur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4020" y="4256465"/>
            <a:ext cx="3222326" cy="18903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7773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506627" y="1471300"/>
            <a:ext cx="8192530" cy="1042218"/>
          </a:xfrm>
        </p:spPr>
        <p:txBody>
          <a:bodyPr/>
          <a:lstStyle/>
          <a:p>
            <a:r>
              <a:rPr lang="en-US" dirty="0"/>
              <a:t>Graf </a:t>
            </a:r>
            <a:r>
              <a:rPr lang="en-US" dirty="0" err="1"/>
              <a:t>sederhana</a:t>
            </a:r>
            <a:r>
              <a:rPr lang="en-US" dirty="0"/>
              <a:t> (</a:t>
            </a:r>
            <a:r>
              <a:rPr lang="en-US" i="1" dirty="0"/>
              <a:t>simple graph)</a:t>
            </a:r>
            <a:r>
              <a:rPr lang="en-US" dirty="0"/>
              <a:t>:</a:t>
            </a:r>
            <a:r>
              <a:rPr lang="en-US" i="1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 </a:t>
            </a:r>
            <a:r>
              <a:rPr lang="en-US" dirty="0" err="1"/>
              <a:t>paralel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/>
              <a:t>loop</a:t>
            </a:r>
          </a:p>
          <a:p>
            <a:r>
              <a:rPr lang="en-US" dirty="0" err="1"/>
              <a:t>Multigraf</a:t>
            </a:r>
            <a:r>
              <a:rPr lang="en-US" dirty="0"/>
              <a:t> (</a:t>
            </a:r>
            <a:r>
              <a:rPr lang="en-US" i="1" dirty="0"/>
              <a:t>multigraph</a:t>
            </a:r>
            <a:r>
              <a:rPr lang="en-US" dirty="0"/>
              <a:t>):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 </a:t>
            </a:r>
            <a:r>
              <a:rPr lang="en-US" dirty="0" err="1"/>
              <a:t>paralel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i="1" dirty="0"/>
              <a:t>loop</a:t>
            </a:r>
          </a:p>
          <a:p>
            <a:r>
              <a:rPr lang="en-US" dirty="0" err="1"/>
              <a:t>Contoh</a:t>
            </a:r>
            <a:r>
              <a:rPr lang="en-US" dirty="0"/>
              <a:t>: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62977" y="440337"/>
            <a:ext cx="8532756" cy="641239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Graf </a:t>
            </a:r>
            <a:r>
              <a:rPr lang="en-US" dirty="0" err="1"/>
              <a:t>Sederhana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Multigraf</a:t>
            </a:r>
            <a:endParaRPr lang="id-ID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550" y="3101031"/>
            <a:ext cx="2660693" cy="2748962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1433384" y="5849993"/>
            <a:ext cx="34311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None/>
            </a:pPr>
            <a:r>
              <a:rPr lang="en-US" dirty="0"/>
              <a:t>Graf </a:t>
            </a:r>
            <a:r>
              <a:rPr lang="en-US" dirty="0" err="1"/>
              <a:t>sederhana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5980669" y="5418835"/>
            <a:ext cx="27184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None/>
            </a:pPr>
            <a:r>
              <a:rPr lang="en-US" dirty="0" err="1"/>
              <a:t>Multigraf</a:t>
            </a:r>
            <a:endParaRPr lang="en-US" i="1" dirty="0"/>
          </a:p>
        </p:txBody>
      </p:sp>
      <p:pic>
        <p:nvPicPr>
          <p:cNvPr id="35" name="Picture 3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708" y="3428583"/>
            <a:ext cx="3342502" cy="19894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336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506627" y="1458097"/>
            <a:ext cx="8192530" cy="1638018"/>
          </a:xfrm>
        </p:spPr>
        <p:txBody>
          <a:bodyPr/>
          <a:lstStyle/>
          <a:p>
            <a:r>
              <a:rPr lang="en-US" dirty="0"/>
              <a:t>Graf </a:t>
            </a:r>
            <a:r>
              <a:rPr lang="en-US" dirty="0" err="1"/>
              <a:t>lengkap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sederhana</a:t>
            </a:r>
            <a:r>
              <a:rPr lang="en-US" dirty="0"/>
              <a:t>,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berarah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berlaku</a:t>
            </a:r>
            <a:r>
              <a:rPr lang="en-US" dirty="0"/>
              <a:t> </a:t>
            </a:r>
            <a:r>
              <a:rPr lang="en-US" i="1" dirty="0"/>
              <a:t>d</a:t>
            </a:r>
            <a:r>
              <a:rPr lang="en-US" dirty="0"/>
              <a:t>(</a:t>
            </a:r>
            <a:r>
              <a:rPr lang="en-US" i="1" dirty="0"/>
              <a:t>v</a:t>
            </a:r>
            <a:r>
              <a:rPr lang="en-US" dirty="0"/>
              <a:t>) = |</a:t>
            </a:r>
            <a:r>
              <a:rPr lang="en-US" i="1" dirty="0"/>
              <a:t>V</a:t>
            </a:r>
            <a:r>
              <a:rPr lang="en-US" dirty="0"/>
              <a:t>| - 1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lengkap</a:t>
            </a:r>
            <a:r>
              <a:rPr lang="en-US" dirty="0"/>
              <a:t> </a:t>
            </a:r>
            <a:r>
              <a:rPr lang="en-US" dirty="0" err="1"/>
              <a:t>berlaku</a:t>
            </a:r>
            <a:r>
              <a:rPr lang="en-US" i="1" dirty="0"/>
              <a:t>:</a:t>
            </a:r>
          </a:p>
          <a:p>
            <a:pPr marL="2595563" indent="0">
              <a:buNone/>
            </a:pPr>
            <a:r>
              <a:rPr lang="en-US" i="1" dirty="0"/>
              <a:t> </a:t>
            </a:r>
            <a:r>
              <a:rPr lang="en-US" dirty="0"/>
              <a:t>|</a:t>
            </a:r>
            <a:r>
              <a:rPr lang="en-US" i="1" dirty="0"/>
              <a:t>E</a:t>
            </a:r>
            <a:r>
              <a:rPr lang="en-US" dirty="0"/>
              <a:t>| = |</a:t>
            </a:r>
            <a:r>
              <a:rPr lang="en-US" i="1" dirty="0"/>
              <a:t>V</a:t>
            </a:r>
            <a:r>
              <a:rPr lang="en-US" dirty="0"/>
              <a:t>| * (|</a:t>
            </a:r>
            <a:r>
              <a:rPr lang="en-US" i="1" dirty="0"/>
              <a:t>V</a:t>
            </a:r>
            <a:r>
              <a:rPr lang="en-US" dirty="0"/>
              <a:t>| - 1) / 2</a:t>
            </a:r>
            <a:endParaRPr lang="en-US" i="1" dirty="0"/>
          </a:p>
          <a:p>
            <a:endParaRPr lang="en-US" dirty="0"/>
          </a:p>
          <a:p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 marL="630238" indent="0">
              <a:buNone/>
            </a:pP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: |</a:t>
            </a:r>
            <a:r>
              <a:rPr lang="en-US" i="1" dirty="0"/>
              <a:t>V</a:t>
            </a:r>
            <a:r>
              <a:rPr lang="en-US" dirty="0"/>
              <a:t>| = 7</a:t>
            </a:r>
          </a:p>
          <a:p>
            <a:pPr marL="630238" indent="0">
              <a:buNone/>
            </a:pP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i="1" dirty="0"/>
              <a:t>v</a:t>
            </a:r>
            <a:r>
              <a:rPr lang="en-US" dirty="0"/>
              <a:t>: </a:t>
            </a:r>
            <a:r>
              <a:rPr lang="en-US" i="1" dirty="0"/>
              <a:t>d</a:t>
            </a:r>
            <a:r>
              <a:rPr lang="en-US" dirty="0"/>
              <a:t>(</a:t>
            </a:r>
            <a:r>
              <a:rPr lang="en-US" i="1" dirty="0"/>
              <a:t>v</a:t>
            </a:r>
            <a:r>
              <a:rPr lang="en-US" dirty="0"/>
              <a:t>)= 6</a:t>
            </a:r>
          </a:p>
          <a:p>
            <a:pPr marL="630238" indent="0">
              <a:buNone/>
            </a:pP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:|</a:t>
            </a:r>
            <a:r>
              <a:rPr lang="en-US" i="1" dirty="0"/>
              <a:t>E</a:t>
            </a:r>
            <a:r>
              <a:rPr lang="en-US" dirty="0"/>
              <a:t>| = 21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62977" y="422950"/>
            <a:ext cx="8532756" cy="641239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Graf </a:t>
            </a:r>
            <a:r>
              <a:rPr lang="en-US" dirty="0" err="1"/>
              <a:t>Lengkap</a:t>
            </a:r>
            <a:endParaRPr lang="id-ID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111" y="3490023"/>
            <a:ext cx="2816181" cy="269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114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23518" y="1478209"/>
            <a:ext cx="8326438" cy="4025490"/>
          </a:xfrm>
        </p:spPr>
        <p:txBody>
          <a:bodyPr/>
          <a:lstStyle/>
          <a:p>
            <a:r>
              <a:rPr lang="en-US" i="1" dirty="0">
                <a:solidFill>
                  <a:srgbClr val="0070C0"/>
                </a:solidFill>
              </a:rPr>
              <a:t>Path</a:t>
            </a:r>
            <a:r>
              <a:rPr lang="en-US" dirty="0"/>
              <a:t>: </a:t>
            </a:r>
            <a:r>
              <a:rPr lang="en-US" dirty="0" err="1"/>
              <a:t>sekuens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 yang </a:t>
            </a:r>
            <a:r>
              <a:rPr lang="en-US" dirty="0" err="1"/>
              <a:t>dimulai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asal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tujuan</a:t>
            </a:r>
            <a:r>
              <a:rPr lang="en-US" dirty="0"/>
              <a:t>,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dikunjungi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kali.</a:t>
            </a:r>
          </a:p>
          <a:p>
            <a:endParaRPr lang="en-US" dirty="0"/>
          </a:p>
          <a:p>
            <a:pPr>
              <a:spcBef>
                <a:spcPts val="0"/>
              </a:spcBef>
            </a:pPr>
            <a:endParaRPr lang="en-US" b="1" dirty="0"/>
          </a:p>
          <a:p>
            <a:pPr>
              <a:spcBef>
                <a:spcPts val="0"/>
              </a:spcBef>
            </a:pPr>
            <a:endParaRPr lang="en-US" b="1" dirty="0"/>
          </a:p>
          <a:p>
            <a:pPr marL="0" indent="0">
              <a:spcBef>
                <a:spcPts val="0"/>
              </a:spcBef>
              <a:buNone/>
            </a:pPr>
            <a:endParaRPr lang="en-US" b="1" dirty="0"/>
          </a:p>
          <a:p>
            <a:pPr marL="358775" indent="0">
              <a:spcBef>
                <a:spcPts val="0"/>
              </a:spcBef>
              <a:buNone/>
            </a:pPr>
            <a:endParaRPr lang="en-US" dirty="0"/>
          </a:p>
          <a:p>
            <a:pPr marL="358775" indent="0">
              <a:spcBef>
                <a:spcPts val="0"/>
              </a:spcBef>
              <a:buNone/>
            </a:pPr>
            <a:endParaRPr lang="en-US" dirty="0"/>
          </a:p>
          <a:p>
            <a:pPr marL="358775" indent="0">
              <a:spcBef>
                <a:spcPts val="0"/>
              </a:spcBef>
              <a:buNone/>
            </a:pPr>
            <a:endParaRPr lang="en-US" dirty="0"/>
          </a:p>
          <a:p>
            <a:pPr marL="358775" indent="0">
              <a:spcBef>
                <a:spcPts val="0"/>
              </a:spcBef>
              <a:buNone/>
            </a:pPr>
            <a:endParaRPr lang="en-US" dirty="0"/>
          </a:p>
          <a:p>
            <a:pPr marL="358775" indent="0">
              <a:buNone/>
            </a:pPr>
            <a:r>
              <a:rPr lang="en-US" dirty="0" err="1"/>
              <a:t>Contoh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S – e10 – A – e1 – B – e4 – D – e6 – T</a:t>
            </a:r>
          </a:p>
          <a:p>
            <a:pPr marL="358775" indent="0">
              <a:buNone/>
            </a:pPr>
            <a:r>
              <a:rPr lang="en-US" dirty="0" err="1"/>
              <a:t>Panjang</a:t>
            </a:r>
            <a:r>
              <a:rPr lang="en-US" dirty="0"/>
              <a:t>: 4,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sebanyak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 yang </a:t>
            </a:r>
            <a:r>
              <a:rPr lang="en-US" dirty="0" err="1"/>
              <a:t>dilalui</a:t>
            </a:r>
            <a:endParaRPr lang="en-US" dirty="0"/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81913" y="429291"/>
            <a:ext cx="8209649" cy="641239"/>
          </a:xfrm>
        </p:spPr>
        <p:txBody>
          <a:bodyPr/>
          <a:lstStyle/>
          <a:p>
            <a:r>
              <a:rPr lang="en-US" dirty="0"/>
              <a:t>Path, Closed Path, Circuit (1)</a:t>
            </a: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5360" y="2786618"/>
            <a:ext cx="3082753" cy="1705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8641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23518" y="1342284"/>
            <a:ext cx="8326438" cy="4025490"/>
          </a:xfrm>
        </p:spPr>
        <p:txBody>
          <a:bodyPr/>
          <a:lstStyle/>
          <a:p>
            <a:r>
              <a:rPr lang="en-US" i="1" dirty="0">
                <a:solidFill>
                  <a:srgbClr val="0070C0"/>
                </a:solidFill>
              </a:rPr>
              <a:t>Closed Path</a:t>
            </a:r>
            <a:r>
              <a:rPr lang="en-US" dirty="0"/>
              <a:t>: </a:t>
            </a:r>
            <a:r>
              <a:rPr lang="en-US" dirty="0" err="1"/>
              <a:t>sekuens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 yang </a:t>
            </a:r>
            <a:r>
              <a:rPr lang="en-US" dirty="0" err="1"/>
              <a:t>dimulai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, </a:t>
            </a:r>
            <a:r>
              <a:rPr lang="en-US" dirty="0" err="1"/>
              <a:t>kecuali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asal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dikunjungi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kali.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r>
              <a:rPr lang="en-US" dirty="0" err="1"/>
              <a:t>Dengan</a:t>
            </a:r>
            <a:r>
              <a:rPr lang="en-US" dirty="0"/>
              <a:t> kata lain, </a:t>
            </a:r>
            <a:r>
              <a:rPr lang="en-US" i="1" dirty="0"/>
              <a:t>closed path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i="1" dirty="0"/>
              <a:t>path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asal</a:t>
            </a:r>
            <a:r>
              <a:rPr lang="en-US" dirty="0"/>
              <a:t> = </a:t>
            </a:r>
            <a:r>
              <a:rPr lang="en-US" dirty="0" err="1"/>
              <a:t>tujuan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358775" indent="0">
              <a:buNone/>
            </a:pPr>
            <a:endParaRPr lang="en-US" dirty="0"/>
          </a:p>
          <a:p>
            <a:pPr marL="358775" indent="0">
              <a:buNone/>
            </a:pPr>
            <a:r>
              <a:rPr lang="en-US" dirty="0" err="1"/>
              <a:t>Contoh</a:t>
            </a:r>
            <a:r>
              <a:rPr lang="en-US" dirty="0"/>
              <a:t>: </a:t>
            </a:r>
          </a:p>
          <a:p>
            <a:pPr marL="358775" indent="0">
              <a:buNone/>
            </a:pPr>
            <a:r>
              <a:rPr lang="en-US" dirty="0">
                <a:solidFill>
                  <a:srgbClr val="FF0000"/>
                </a:solidFill>
              </a:rPr>
              <a:t>S – e10 – A – e1 – B – e4 – D – e7 – C – e9 – S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81913" y="429291"/>
            <a:ext cx="8209649" cy="641239"/>
          </a:xfrm>
        </p:spPr>
        <p:txBody>
          <a:bodyPr/>
          <a:lstStyle/>
          <a:p>
            <a:r>
              <a:rPr lang="en-US" dirty="0"/>
              <a:t>Path, Closed Path, Circuit (2)</a:t>
            </a: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5360" y="3662541"/>
            <a:ext cx="3082753" cy="1705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0912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760" y="1589420"/>
            <a:ext cx="8326438" cy="4025490"/>
          </a:xfrm>
        </p:spPr>
        <p:txBody>
          <a:bodyPr/>
          <a:lstStyle/>
          <a:p>
            <a:r>
              <a:rPr lang="en-US" i="1" dirty="0">
                <a:solidFill>
                  <a:srgbClr val="0070C0"/>
                </a:solidFill>
              </a:rPr>
              <a:t>Circuit</a:t>
            </a:r>
            <a:r>
              <a:rPr lang="en-US" dirty="0"/>
              <a:t>: </a:t>
            </a:r>
            <a:r>
              <a:rPr lang="en-US" dirty="0" err="1"/>
              <a:t>sekuens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 yang </a:t>
            </a:r>
            <a:r>
              <a:rPr lang="en-US" dirty="0" err="1"/>
              <a:t>dimulai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dikunjungi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kali, </a:t>
            </a:r>
            <a:r>
              <a:rPr lang="en-US" dirty="0" err="1"/>
              <a:t>busur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dikunjungi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kali.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358775" indent="0">
              <a:buNone/>
            </a:pPr>
            <a:endParaRPr lang="en-US" dirty="0"/>
          </a:p>
          <a:p>
            <a:r>
              <a:rPr lang="en-US" dirty="0" err="1"/>
              <a:t>Contoh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A –  e1 – B – e4 – D – e7 – C – e3 – B – e2 – A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Path, Closed Path, Circuit (2)</a:t>
            </a: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6967" y="3044704"/>
            <a:ext cx="3082753" cy="1705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8048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/>
          <p:cNvSpPr txBox="1">
            <a:spLocks/>
          </p:cNvSpPr>
          <p:nvPr/>
        </p:nvSpPr>
        <p:spPr bwMode="auto">
          <a:xfrm>
            <a:off x="3786187" y="2288932"/>
            <a:ext cx="4757737" cy="1635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9pPr>
          </a:lstStyle>
          <a:p>
            <a:pPr algn="r"/>
            <a:r>
              <a:rPr lang="en-US" sz="6000" b="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TERIMA KASIH</a:t>
            </a:r>
            <a:endParaRPr lang="en-US" sz="4000" b="0" dirty="0">
              <a:ln w="0"/>
              <a:effectLst>
                <a:reflection blurRad="6350" stA="53000" endA="300" endPos="35500" dir="5400000" sy="-90000" algn="bl" rotWithShape="0"/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925770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CDF8CB628B97449CBF1C9C2DF0522A" ma:contentTypeVersion="12" ma:contentTypeDescription="Create a new document." ma:contentTypeScope="" ma:versionID="44eec28978b503e2efcb9212db538b87">
  <xsd:schema xmlns:xsd="http://www.w3.org/2001/XMLSchema" xmlns:xs="http://www.w3.org/2001/XMLSchema" xmlns:p="http://schemas.microsoft.com/office/2006/metadata/properties" xmlns:ns2="f710a105-9328-4c52-b86a-700c7d87a9d8" xmlns:ns3="da944019-e0c0-4cbe-b9e1-79848028e4af" targetNamespace="http://schemas.microsoft.com/office/2006/metadata/properties" ma:root="true" ma:fieldsID="50f9520c83d250bbff81f5ae34a02831" ns2:_="" ns3:_="">
    <xsd:import namespace="f710a105-9328-4c52-b86a-700c7d87a9d8"/>
    <xsd:import namespace="da944019-e0c0-4cbe-b9e1-79848028e4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10a105-9328-4c52-b86a-700c7d87a9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d36bd76-decb-4dd1-ad12-0d0eb5e8b8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944019-e0c0-4cbe-b9e1-79848028e4a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328c0b8-7eb1-4269-9651-4b2cb19e42d2}" ma:internalName="TaxCatchAll" ma:showField="CatchAllData" ma:web="da944019-e0c0-4cbe-b9e1-79848028e4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944019-e0c0-4cbe-b9e1-79848028e4af" xsi:nil="true"/>
    <lcf76f155ced4ddcb4097134ff3c332f xmlns="f710a105-9328-4c52-b86a-700c7d87a9d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EEC3FDB-EAF0-433D-834F-A083AFE6EBF7}"/>
</file>

<file path=customXml/itemProps2.xml><?xml version="1.0" encoding="utf-8"?>
<ds:datastoreItem xmlns:ds="http://schemas.openxmlformats.org/officeDocument/2006/customXml" ds:itemID="{D4F85749-EEA4-4B5E-A225-2B78333172B6}"/>
</file>

<file path=customXml/itemProps3.xml><?xml version="1.0" encoding="utf-8"?>
<ds:datastoreItem xmlns:ds="http://schemas.openxmlformats.org/officeDocument/2006/customXml" ds:itemID="{1AA5BE4C-E4D5-4D03-A1E7-2E6B4D310E0B}"/>
</file>

<file path=docProps/app.xml><?xml version="1.0" encoding="utf-8"?>
<Properties xmlns="http://schemas.openxmlformats.org/officeDocument/2006/extended-properties" xmlns:vt="http://schemas.openxmlformats.org/officeDocument/2006/docPropsVTypes">
  <Template>ieee_presentation_template.pot</Template>
  <TotalTime>3229</TotalTime>
  <Words>995</Words>
  <Application>Microsoft Office PowerPoint</Application>
  <PresentationFormat>Tampilan Layar (4:3)</PresentationFormat>
  <Paragraphs>177</Paragraphs>
  <Slides>17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8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17</vt:i4>
      </vt:variant>
    </vt:vector>
  </HeadingPairs>
  <TitlesOfParts>
    <vt:vector size="26" baseType="lpstr">
      <vt:lpstr>Aharoni</vt:lpstr>
      <vt:lpstr>Arial</vt:lpstr>
      <vt:lpstr>Berlin Sans FB Demi</vt:lpstr>
      <vt:lpstr>Brush Script Std</vt:lpstr>
      <vt:lpstr>Calibri</vt:lpstr>
      <vt:lpstr>Lucida Grande</vt:lpstr>
      <vt:lpstr>Verdana</vt:lpstr>
      <vt:lpstr>Wingdings</vt:lpstr>
      <vt:lpstr>template_informatika_slide</vt:lpstr>
      <vt:lpstr>STRUKTUR DATA</vt:lpstr>
      <vt:lpstr>Outline</vt:lpstr>
      <vt:lpstr>Definisi Graf</vt:lpstr>
      <vt:lpstr>Contoh Graf</vt:lpstr>
      <vt:lpstr>Contoh Graf</vt:lpstr>
      <vt:lpstr>Definisi-definisi pada Graf (1)</vt:lpstr>
      <vt:lpstr>Definisi-definisi pada Graf (2)</vt:lpstr>
      <vt:lpstr>Presentasi PowerPoint</vt:lpstr>
      <vt:lpstr>Presentasi PowerPoint</vt:lpstr>
      <vt:lpstr>Derajat (Degree) dari Simpul</vt:lpstr>
      <vt:lpstr>Derajat Simpul pada Graf Berarah</vt:lpstr>
      <vt:lpstr>Graf Sederhana dan Multigraf</vt:lpstr>
      <vt:lpstr>Graf Lengkap</vt:lpstr>
      <vt:lpstr>Path, Closed Path, Circuit (1)</vt:lpstr>
      <vt:lpstr>Path, Closed Path, Circuit (2)</vt:lpstr>
      <vt:lpstr>Path, Closed Path, Circuit (2)</vt:lpstr>
      <vt:lpstr>Presentasi PowerPoint</vt:lpstr>
    </vt:vector>
  </TitlesOfParts>
  <Company>IEEE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anditya.arifianto@gmail.com</dc:creator>
  <cp:lastModifiedBy>HANI</cp:lastModifiedBy>
  <cp:revision>245</cp:revision>
  <dcterms:created xsi:type="dcterms:W3CDTF">2012-11-14T18:53:32Z</dcterms:created>
  <dcterms:modified xsi:type="dcterms:W3CDTF">2021-12-05T09:38:02Z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0x010100C1CDF8CB628B97449CBF1C9C2DF0522A</vt:lpwstr>
  </property>
</Properties>
</file>