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12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41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2A727-268C-4E64-AE7F-6BD29E00BC04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96C8B-7700-48B2-AF85-DC633CB77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4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49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0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7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30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181B47E-F2AA-49DD-8492-CA95E028D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86B99DB7-57E2-4F37-B948-DE6A65301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0904F9D-AAF9-4E34-BEA3-1E9ADBD7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39891F5-0C30-45C0-940F-D9B05D6A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96AF18B-807E-40F2-895A-34D915DC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7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9D35218-635F-4C66-943D-68FFD3C5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A312479-C50E-4A3D-8858-815F1E3D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4C46E0A-1620-44FE-BEEC-E5CF083E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E48D076-464A-41B7-ADB9-74E00DC3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2AE99C6-EBB4-4209-9B31-BD40BEE6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9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E0BCEF5-2E03-4396-8341-BFBAC7F0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AA6FB40-9B40-4528-88FA-117B1B7F2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70129E08-6162-43F6-834B-D11BF59C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A4EAC17-DAEF-4B7F-A93E-9236BD46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8F9EA3D3-1C9E-400F-8883-2035941E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7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F7752CB-E2DE-408C-8123-CB097E0E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A81FAE7-EB4A-4677-9F98-C0970D444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3577D2FF-CD00-4BCD-A56F-F477048D8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3C51019-618C-4B4B-913F-DA6914BE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3531092-1388-4A28-89AD-E275309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2A4592E0-6A29-473C-9328-7938AB15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3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AEF3C30-710C-432F-88D4-F5E62043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D06EA7AE-90C7-4053-8F07-635FD5627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C39435AA-873B-4A66-A6ED-5A2026160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8F339A55-E2F4-4D34-A457-397467748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822A0B97-205D-47DD-819B-6B1E2AA9B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EB0483CF-41A6-470E-877D-1F6435C5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298D2241-9762-443C-9778-110AB29A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DB19BDE9-259B-4FA6-BA5F-564CDBA0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5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F527A36-CF48-491C-BF0A-B7C1B16A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B58D2665-0507-418E-8E1F-2288652D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C61D0727-4B4A-4955-A830-DC59C472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2D0AFDE9-324C-4E26-AA9C-51148F1A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9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CC990A22-AA5A-4EC8-AF58-DD836DE8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B28D330F-16FF-4F63-AF7F-28D8EA1B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A446B83F-9CBC-45E3-BEF5-571F0610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3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3FCAB6F-AB6C-4FD3-840F-0FFEA9CF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5B3C7E5-B4D1-49AB-8259-B5BBE2F6C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4BE1B3C5-28D9-46AE-916C-8524C141E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7E71C32D-7D0F-4105-99F5-93B2CF3F9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F47AF55F-04D1-4249-8155-12A986C5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444D3A82-26D8-4BFD-A200-9BE4532D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4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B85017D-66B6-4C7A-B684-D48BCB67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1983E045-EB71-4B50-8658-F2150AC73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4EA3A23C-955E-44ED-9B66-7FA8F27EF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58FEB1F-EC06-41E7-B8B6-03BE4023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83452496-20E4-482D-89E7-9B35A3BC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09CFA7BB-7E21-4F1B-AF6F-6CA4177D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5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A7F06EE-93EC-4726-BA8A-BB9B699C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AA140A97-AC78-437B-9168-D74B275AD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80CF81B2-BE6B-4DBE-8777-2BE9DA4D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F27CCC7-4982-46F5-AA1D-7B87ED43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36AB8F6-564A-47C6-A1A2-CCE9C8C6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1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DBFC307C-EDB3-4D4D-8B1C-CFDAF78B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B34A0E84-C276-44BB-8DF6-BBFB1DB83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769FBC2-78AD-4F39-A6F6-277EB8B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41A4B6D-B020-441F-A3C6-8563DDA5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2659AF9-2012-4E7C-A48F-3F4B848C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2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57859" y="3251532"/>
            <a:ext cx="513155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46245" y="1269243"/>
            <a:ext cx="10545755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6245" y="2227425"/>
            <a:ext cx="10545755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646245" y="2875085"/>
            <a:ext cx="10557363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>
          <a:xfrm>
            <a:off x="1080795" y="6451887"/>
            <a:ext cx="219074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8021" y="-4831"/>
            <a:ext cx="2723979" cy="8216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-4831"/>
            <a:ext cx="2451100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07600" y="5827096"/>
            <a:ext cx="21844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30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87680" y="2009550"/>
            <a:ext cx="11101917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3390" y="6067494"/>
            <a:ext cx="1678609" cy="7978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4831"/>
            <a:ext cx="1416875" cy="6276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9483" y="56598"/>
            <a:ext cx="18161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EF699539-79BE-4D9D-9D98-D101FCF03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15C06595-5A0F-4582-8FD8-1F9F89D25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F08FF6E-5A73-4BC9-A751-481FA3887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2551D-14EB-4B30-A6E5-C030BD359507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5E5F9F6-9259-4253-A240-E5DBCD08A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50D6C29-3284-4A9C-BEB8-1B47B952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DCC3B-8F8A-4DA6-A1A8-DD44B86EE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2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STRUKTUR DATA</a:t>
            </a:r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5310188" y="3450468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GRAF </a:t>
            </a:r>
            <a:r>
              <a:rPr lang="en-US" sz="6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(GRAPH)</a:t>
            </a:r>
          </a:p>
          <a:p>
            <a:pPr algn="r"/>
            <a:r>
              <a:rPr lang="en-US" sz="4000" b="0" dirty="0" err="1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Representasi</a:t>
            </a:r>
            <a:r>
              <a:rPr lang="en-US" sz="4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Graf</a:t>
            </a:r>
          </a:p>
        </p:txBody>
      </p:sp>
    </p:spTree>
    <p:extLst>
      <p:ext uri="{BB962C8B-B14F-4D97-AF65-F5344CB8AC3E}">
        <p14:creationId xmlns:p14="http://schemas.microsoft.com/office/powerpoint/2010/main" val="133547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913909" y="6451887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13908" y="407639"/>
            <a:ext cx="8605880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(1)</a:t>
            </a:r>
            <a:r>
              <a:rPr lang="en-US" i="1" dirty="0"/>
              <a:t> </a:t>
            </a:r>
            <a:endParaRPr lang="id-ID" dirty="0"/>
          </a:p>
        </p:txBody>
      </p:sp>
      <p:pic>
        <p:nvPicPr>
          <p:cNvPr id="11" name="Content Placeholder 10"/>
          <p:cNvPicPr>
            <a:picLocks noGrp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683" y="3831017"/>
            <a:ext cx="7220342" cy="23556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1746888" y="1197734"/>
            <a:ext cx="8326438" cy="402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i="1" dirty="0"/>
              <a:t>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N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matriks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ketetanggaan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G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 x </a:t>
            </a:r>
            <a:r>
              <a:rPr lang="en-US" i="1" dirty="0">
                <a:solidFill>
                  <a:srgbClr val="0070C0"/>
                </a:solidFill>
              </a:rPr>
              <a:t>N.</a:t>
            </a:r>
          </a:p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,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-[</a:t>
            </a:r>
            <a:r>
              <a:rPr lang="en-US" i="1" dirty="0" err="1"/>
              <a:t>i,j</a:t>
            </a:r>
            <a:r>
              <a:rPr lang="en-US" dirty="0"/>
              <a:t>]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yang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i="1" dirty="0"/>
              <a:t> v</a:t>
            </a:r>
            <a:r>
              <a:rPr lang="en-US" sz="2800" i="1" baseline="-25000" dirty="0"/>
              <a:t>i</a:t>
            </a:r>
            <a:r>
              <a:rPr lang="en-US" i="1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 err="1"/>
              <a:t>v</a:t>
            </a:r>
            <a:r>
              <a:rPr lang="en-US" sz="2800" i="1" baseline="-25000" dirty="0" err="1"/>
              <a:t>j</a:t>
            </a:r>
            <a:r>
              <a:rPr lang="en-US" dirty="0"/>
              <a:t>.</a:t>
            </a:r>
          </a:p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.</a:t>
            </a:r>
          </a:p>
          <a:p>
            <a:pPr marL="0" indent="0">
              <a:lnSpc>
                <a:spcPct val="114000"/>
              </a:lnSpc>
              <a:buNone/>
            </a:pPr>
            <a:endParaRPr lang="en-US" i="1" baseline="-25000" dirty="0"/>
          </a:p>
        </p:txBody>
      </p:sp>
      <p:sp>
        <p:nvSpPr>
          <p:cNvPr id="2" name="Rectangle 1"/>
          <p:cNvSpPr/>
          <p:nvPr/>
        </p:nvSpPr>
        <p:spPr>
          <a:xfrm>
            <a:off x="6750908" y="5601438"/>
            <a:ext cx="3595816" cy="72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>
                <a:solidFill>
                  <a:srgbClr val="FF0000"/>
                </a:solidFill>
              </a:rPr>
              <a:t>Perhatikan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untuk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graf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berarah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matriks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simetris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39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889760" y="1465852"/>
            <a:ext cx="8326438" cy="4025490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.</a:t>
            </a:r>
          </a:p>
          <a:p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-[</a:t>
            </a:r>
            <a:r>
              <a:rPr lang="en-US" i="1" dirty="0" err="1"/>
              <a:t>i,j</a:t>
            </a:r>
            <a:r>
              <a:rPr lang="en-US" dirty="0"/>
              <a:t>]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i="1" dirty="0"/>
              <a:t> v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i="1" dirty="0" err="1"/>
              <a:t>v</a:t>
            </a:r>
            <a:r>
              <a:rPr lang="en-US" sz="3200" i="1" baseline="-25000" dirty="0" err="1"/>
              <a:t>j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(2)</a:t>
            </a:r>
            <a:r>
              <a:rPr lang="en-US" i="1" dirty="0"/>
              <a:t> 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798" y="3558382"/>
            <a:ext cx="2977979" cy="163109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867" y="3403754"/>
            <a:ext cx="3163240" cy="2199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87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889125" y="1337975"/>
            <a:ext cx="8326438" cy="4025490"/>
          </a:xfrm>
        </p:spPr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,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.</a:t>
            </a:r>
          </a:p>
          <a:p>
            <a:pPr>
              <a:spcBef>
                <a:spcPts val="90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.</a:t>
            </a:r>
          </a:p>
          <a:p>
            <a:pPr marL="989013" indent="-358775">
              <a:buFontTx/>
              <a:buChar char="-"/>
            </a:pP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-[</a:t>
            </a:r>
            <a:r>
              <a:rPr lang="en-US" i="1" dirty="0" err="1"/>
              <a:t>i,j</a:t>
            </a:r>
            <a:r>
              <a:rPr lang="en-US" dirty="0"/>
              <a:t>]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i="1" dirty="0"/>
              <a:t> v</a:t>
            </a:r>
            <a:r>
              <a:rPr lang="en-US" sz="2600" i="1" baseline="-25000" dirty="0"/>
              <a:t>i</a:t>
            </a:r>
            <a:r>
              <a:rPr lang="en-US" sz="2600" i="1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i="1" dirty="0" err="1"/>
              <a:t>v</a:t>
            </a:r>
            <a:r>
              <a:rPr lang="en-US" sz="3200" i="1" baseline="-25000" dirty="0" err="1"/>
              <a:t>j</a:t>
            </a:r>
            <a:r>
              <a:rPr lang="en-US" dirty="0"/>
              <a:t>.</a:t>
            </a:r>
          </a:p>
          <a:p>
            <a:pPr marL="715963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88781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Ketetanggaan</a:t>
            </a:r>
            <a:r>
              <a:rPr lang="en-US" dirty="0"/>
              <a:t> (3)</a:t>
            </a:r>
            <a:r>
              <a:rPr lang="en-US" i="1" dirty="0"/>
              <a:t> 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29984" y="624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66" y="3559702"/>
            <a:ext cx="3406247" cy="242096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6194674-970D-D648-9B72-B4FF2A384492}"/>
              </a:ext>
            </a:extLst>
          </p:cNvPr>
          <p:cNvSpPr/>
          <p:nvPr/>
        </p:nvSpPr>
        <p:spPr>
          <a:xfrm>
            <a:off x="3351996" y="3919157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851C3-74CB-7F48-A6A1-F40E518EED0E}"/>
              </a:ext>
            </a:extLst>
          </p:cNvPr>
          <p:cNvSpPr txBox="1"/>
          <p:nvPr/>
        </p:nvSpPr>
        <p:spPr>
          <a:xfrm>
            <a:off x="3385772" y="3939180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6F5351-EA0D-FF45-870A-BCCB973947FF}"/>
              </a:ext>
            </a:extLst>
          </p:cNvPr>
          <p:cNvSpPr/>
          <p:nvPr/>
        </p:nvSpPr>
        <p:spPr>
          <a:xfrm>
            <a:off x="2335205" y="4516630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7A830-F01C-834F-9780-A9F09FD0AE54}"/>
              </a:ext>
            </a:extLst>
          </p:cNvPr>
          <p:cNvSpPr txBox="1"/>
          <p:nvPr/>
        </p:nvSpPr>
        <p:spPr>
          <a:xfrm>
            <a:off x="4075629" y="4016902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4B4403-A094-5F4B-A6E0-A6ED9D8DEDBB}"/>
              </a:ext>
            </a:extLst>
          </p:cNvPr>
          <p:cNvCxnSpPr>
            <a:cxnSpLocks/>
          </p:cNvCxnSpPr>
          <p:nvPr/>
        </p:nvCxnSpPr>
        <p:spPr>
          <a:xfrm>
            <a:off x="3582284" y="4229542"/>
            <a:ext cx="211951" cy="609711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360DC03-CF2F-1947-839C-89A7CF27DC48}"/>
              </a:ext>
            </a:extLst>
          </p:cNvPr>
          <p:cNvSpPr/>
          <p:nvPr/>
        </p:nvSpPr>
        <p:spPr>
          <a:xfrm>
            <a:off x="4794618" y="4298164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056CDB-FB61-024F-831F-EFDB9E395E51}"/>
              </a:ext>
            </a:extLst>
          </p:cNvPr>
          <p:cNvSpPr/>
          <p:nvPr/>
        </p:nvSpPr>
        <p:spPr>
          <a:xfrm>
            <a:off x="3699642" y="4808527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68C228-783E-BA43-B27D-0E982715AC53}"/>
              </a:ext>
            </a:extLst>
          </p:cNvPr>
          <p:cNvSpPr/>
          <p:nvPr/>
        </p:nvSpPr>
        <p:spPr>
          <a:xfrm>
            <a:off x="4529721" y="5410110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6FD134-3325-454E-8855-59F0266568B7}"/>
              </a:ext>
            </a:extLst>
          </p:cNvPr>
          <p:cNvSpPr/>
          <p:nvPr/>
        </p:nvSpPr>
        <p:spPr>
          <a:xfrm>
            <a:off x="5663292" y="4770187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DFDE1C-3CFE-5444-92EF-E0C6CC751F09}"/>
              </a:ext>
            </a:extLst>
          </p:cNvPr>
          <p:cNvSpPr/>
          <p:nvPr/>
        </p:nvSpPr>
        <p:spPr>
          <a:xfrm>
            <a:off x="2835604" y="5292621"/>
            <a:ext cx="322623" cy="322623"/>
          </a:xfrm>
          <a:prstGeom prst="ellipse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FCB5C-293E-8747-9A31-02E2ED010DF1}"/>
              </a:ext>
            </a:extLst>
          </p:cNvPr>
          <p:cNvSpPr txBox="1"/>
          <p:nvPr/>
        </p:nvSpPr>
        <p:spPr>
          <a:xfrm>
            <a:off x="2756108" y="4182910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C7A517-3D13-6D4A-A8D4-3609A9910125}"/>
              </a:ext>
            </a:extLst>
          </p:cNvPr>
          <p:cNvSpPr txBox="1"/>
          <p:nvPr/>
        </p:nvSpPr>
        <p:spPr>
          <a:xfrm>
            <a:off x="2880696" y="5322324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F48280-98E8-A946-9BF4-762761B09624}"/>
              </a:ext>
            </a:extLst>
          </p:cNvPr>
          <p:cNvSpPr txBox="1"/>
          <p:nvPr/>
        </p:nvSpPr>
        <p:spPr>
          <a:xfrm>
            <a:off x="5303797" y="4478636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6F3677-34D3-1C40-BB3E-BD872D6B51D1}"/>
              </a:ext>
            </a:extLst>
          </p:cNvPr>
          <p:cNvSpPr txBox="1"/>
          <p:nvPr/>
        </p:nvSpPr>
        <p:spPr>
          <a:xfrm>
            <a:off x="4563075" y="5431050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95F445-6C0F-B44C-97A5-26AAA8A63521}"/>
              </a:ext>
            </a:extLst>
          </p:cNvPr>
          <p:cNvSpPr txBox="1"/>
          <p:nvPr/>
        </p:nvSpPr>
        <p:spPr>
          <a:xfrm>
            <a:off x="2534064" y="4960293"/>
            <a:ext cx="230397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BFA9D-968A-F246-B885-E4BE2E4E121F}"/>
              </a:ext>
            </a:extLst>
          </p:cNvPr>
          <p:cNvSpPr txBox="1"/>
          <p:nvPr/>
        </p:nvSpPr>
        <p:spPr>
          <a:xfrm>
            <a:off x="3065169" y="4580363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B206F-FE4E-184E-8C2A-CF6CC1D649FA}"/>
              </a:ext>
            </a:extLst>
          </p:cNvPr>
          <p:cNvSpPr txBox="1"/>
          <p:nvPr/>
        </p:nvSpPr>
        <p:spPr>
          <a:xfrm>
            <a:off x="5093709" y="5097790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1EA81C-ACFA-F140-A1F2-7750912D4931}"/>
              </a:ext>
            </a:extLst>
          </p:cNvPr>
          <p:cNvSpPr txBox="1"/>
          <p:nvPr/>
        </p:nvSpPr>
        <p:spPr>
          <a:xfrm>
            <a:off x="4831077" y="4327319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5B895-C89B-F341-B083-0B026DD39583}"/>
              </a:ext>
            </a:extLst>
          </p:cNvPr>
          <p:cNvSpPr txBox="1"/>
          <p:nvPr/>
        </p:nvSpPr>
        <p:spPr>
          <a:xfrm>
            <a:off x="5716001" y="4825832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C51FF-17C8-D14E-9DA3-9AC85BB27EB0}"/>
              </a:ext>
            </a:extLst>
          </p:cNvPr>
          <p:cNvSpPr txBox="1"/>
          <p:nvPr/>
        </p:nvSpPr>
        <p:spPr>
          <a:xfrm>
            <a:off x="4120551" y="4542842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44305F-57ED-3A42-8DC0-4A7E0150D828}"/>
              </a:ext>
            </a:extLst>
          </p:cNvPr>
          <p:cNvSpPr txBox="1"/>
          <p:nvPr/>
        </p:nvSpPr>
        <p:spPr>
          <a:xfrm>
            <a:off x="3615161" y="4355519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73A00-C1DE-4047-8217-755032F0549E}"/>
              </a:ext>
            </a:extLst>
          </p:cNvPr>
          <p:cNvSpPr txBox="1"/>
          <p:nvPr/>
        </p:nvSpPr>
        <p:spPr>
          <a:xfrm>
            <a:off x="3589922" y="5352232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456711-A21A-944D-A6F4-E757865F10E5}"/>
              </a:ext>
            </a:extLst>
          </p:cNvPr>
          <p:cNvSpPr txBox="1"/>
          <p:nvPr/>
        </p:nvSpPr>
        <p:spPr>
          <a:xfrm>
            <a:off x="4196422" y="5057165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9EBEA9-7F25-C44F-97B8-66CE4463E1B9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2610580" y="4149368"/>
            <a:ext cx="769312" cy="414508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553F8E-B6D7-014E-B847-2958CDA18444}"/>
              </a:ext>
            </a:extLst>
          </p:cNvPr>
          <p:cNvCxnSpPr>
            <a:stCxn id="9" idx="5"/>
          </p:cNvCxnSpPr>
          <p:nvPr/>
        </p:nvCxnSpPr>
        <p:spPr>
          <a:xfrm>
            <a:off x="2610581" y="4792005"/>
            <a:ext cx="347443" cy="530318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487E72-6692-FA4D-9A71-E066AAE9899A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3674619" y="4080468"/>
            <a:ext cx="1133265" cy="334152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21DC68-3802-3542-8ABB-228A5CAC6420}"/>
              </a:ext>
            </a:extLst>
          </p:cNvPr>
          <p:cNvCxnSpPr>
            <a:cxnSpLocks/>
          </p:cNvCxnSpPr>
          <p:nvPr/>
        </p:nvCxnSpPr>
        <p:spPr>
          <a:xfrm>
            <a:off x="5108182" y="4525280"/>
            <a:ext cx="590689" cy="323711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E206B29-75BC-0545-97B4-CEC32A585791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4852344" y="5049223"/>
            <a:ext cx="879899" cy="522198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F6F8E7-DCF4-AB4F-BC94-339FF18F5E60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4010234" y="4573539"/>
            <a:ext cx="831630" cy="328846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0630D6-4B13-CA42-8317-23F9EA63B1CB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>
          <a:xfrm>
            <a:off x="3975017" y="5083902"/>
            <a:ext cx="601950" cy="373454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3BC231-E14B-8949-9C25-BDBF855A6D01}"/>
              </a:ext>
            </a:extLst>
          </p:cNvPr>
          <p:cNvCxnSpPr>
            <a:cxnSpLocks/>
            <a:stCxn id="9" idx="6"/>
            <a:endCxn id="17" idx="2"/>
          </p:cNvCxnSpPr>
          <p:nvPr/>
        </p:nvCxnSpPr>
        <p:spPr>
          <a:xfrm>
            <a:off x="2657827" y="4677942"/>
            <a:ext cx="1041814" cy="291897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A34E1B-937F-0344-BBE8-CA266550A281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3110979" y="5567996"/>
            <a:ext cx="1419862" cy="3187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37981BE-49BF-CF47-B40F-4F76B19171B0}"/>
              </a:ext>
            </a:extLst>
          </p:cNvPr>
          <p:cNvSpPr txBox="1"/>
          <p:nvPr/>
        </p:nvSpPr>
        <p:spPr>
          <a:xfrm>
            <a:off x="3733817" y="4837766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A25499-8A41-B143-9972-1ABFBC88914B}"/>
              </a:ext>
            </a:extLst>
          </p:cNvPr>
          <p:cNvSpPr txBox="1"/>
          <p:nvPr/>
        </p:nvSpPr>
        <p:spPr>
          <a:xfrm>
            <a:off x="2361914" y="4540515"/>
            <a:ext cx="232436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445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05085" y="1416254"/>
            <a:ext cx="8326438" cy="242891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.</a:t>
            </a:r>
          </a:p>
          <a:p>
            <a:pPr>
              <a:lnSpc>
                <a:spcPct val="114000"/>
              </a:lnSpc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i="1" dirty="0"/>
              <a:t>G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N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 </a:t>
            </a:r>
            <a:r>
              <a:rPr lang="en-US" dirty="0" err="1">
                <a:solidFill>
                  <a:srgbClr val="0070C0"/>
                </a:solidFill>
              </a:rPr>
              <a:t>busur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matriks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insiden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G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 x </a:t>
            </a:r>
            <a:r>
              <a:rPr lang="en-US" i="1" dirty="0">
                <a:solidFill>
                  <a:srgbClr val="0070C0"/>
                </a:solidFill>
              </a:rPr>
              <a:t>M.</a:t>
            </a:r>
          </a:p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.</a:t>
            </a:r>
          </a:p>
          <a:p>
            <a:pPr marL="358775" indent="0">
              <a:lnSpc>
                <a:spcPct val="114000"/>
              </a:lnSpc>
              <a:spcBef>
                <a:spcPts val="900"/>
              </a:spcBef>
              <a:buNone/>
            </a:pPr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/>
              <a:t>]=1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i="1" dirty="0" err="1"/>
              <a:t>e</a:t>
            </a:r>
            <a:r>
              <a:rPr lang="en-US" sz="3200" i="1" baseline="-25000" dirty="0" err="1"/>
              <a:t>j</a:t>
            </a:r>
            <a:r>
              <a:rPr lang="en-US" i="1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 </a:t>
            </a:r>
            <a:r>
              <a:rPr lang="en-US" i="1" dirty="0"/>
              <a:t>v</a:t>
            </a:r>
            <a:r>
              <a:rPr lang="en-US" sz="2600" i="1" baseline="-25000" dirty="0"/>
              <a:t>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85" y="398101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(1)</a:t>
            </a: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875" y="4084887"/>
            <a:ext cx="3445640" cy="20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35363" y="28921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935362" y="4027874"/>
          <a:ext cx="4183506" cy="1964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4" imgW="3000000" imgH="1409897" progId="Paint.Picture">
                  <p:embed/>
                </p:oleObj>
              </mc:Choice>
              <mc:Fallback>
                <p:oleObj name="Bitmap Image" r:id="rId4" imgW="3000000" imgH="1409897" progId="Paint.Picture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362" y="4027874"/>
                        <a:ext cx="4183506" cy="1964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5A7A65-2835-394B-844D-B207CD6AB7FA}"/>
              </a:ext>
            </a:extLst>
          </p:cNvPr>
          <p:cNvSpPr txBox="1"/>
          <p:nvPr/>
        </p:nvSpPr>
        <p:spPr>
          <a:xfrm>
            <a:off x="6174155" y="3915610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BDFEF-6F7E-4E4A-97F2-336E2FF2488F}"/>
              </a:ext>
            </a:extLst>
          </p:cNvPr>
          <p:cNvSpPr txBox="1"/>
          <p:nvPr/>
        </p:nvSpPr>
        <p:spPr>
          <a:xfrm>
            <a:off x="6544586" y="3915610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79896-F528-724D-B2DA-72FAB4A50B3F}"/>
              </a:ext>
            </a:extLst>
          </p:cNvPr>
          <p:cNvSpPr txBox="1"/>
          <p:nvPr/>
        </p:nvSpPr>
        <p:spPr>
          <a:xfrm>
            <a:off x="6915017" y="3915610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B73FC-8E87-004A-8553-686D433F9CB8}"/>
              </a:ext>
            </a:extLst>
          </p:cNvPr>
          <p:cNvSpPr txBox="1"/>
          <p:nvPr/>
        </p:nvSpPr>
        <p:spPr>
          <a:xfrm>
            <a:off x="7308896" y="3915610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6217B-6DDA-CC4C-B35D-A5903228172D}"/>
              </a:ext>
            </a:extLst>
          </p:cNvPr>
          <p:cNvSpPr txBox="1"/>
          <p:nvPr/>
        </p:nvSpPr>
        <p:spPr>
          <a:xfrm>
            <a:off x="7679327" y="3932189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ECB3C-AB78-3048-9A47-DD7B61D354D0}"/>
              </a:ext>
            </a:extLst>
          </p:cNvPr>
          <p:cNvSpPr txBox="1"/>
          <p:nvPr/>
        </p:nvSpPr>
        <p:spPr>
          <a:xfrm>
            <a:off x="8062703" y="3932189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A66A1-8C78-0C4F-B3F0-D10C0391255F}"/>
              </a:ext>
            </a:extLst>
          </p:cNvPr>
          <p:cNvSpPr txBox="1"/>
          <p:nvPr/>
        </p:nvSpPr>
        <p:spPr>
          <a:xfrm>
            <a:off x="8443637" y="3932189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F77D84-0F79-6B4B-92EF-27022031F0A2}"/>
              </a:ext>
            </a:extLst>
          </p:cNvPr>
          <p:cNvSpPr txBox="1"/>
          <p:nvPr/>
        </p:nvSpPr>
        <p:spPr>
          <a:xfrm>
            <a:off x="8824571" y="3932189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E583B3-86D1-9744-A8C0-18253169A019}"/>
              </a:ext>
            </a:extLst>
          </p:cNvPr>
          <p:cNvSpPr txBox="1"/>
          <p:nvPr/>
        </p:nvSpPr>
        <p:spPr>
          <a:xfrm>
            <a:off x="9171557" y="3908925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3FD99D-59AC-B346-9A64-A2984FF1A19E}"/>
              </a:ext>
            </a:extLst>
          </p:cNvPr>
          <p:cNvSpPr txBox="1"/>
          <p:nvPr/>
        </p:nvSpPr>
        <p:spPr>
          <a:xfrm>
            <a:off x="9420851" y="3908925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42838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05085" y="1305043"/>
            <a:ext cx="8326438" cy="4025490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.</a:t>
            </a:r>
          </a:p>
          <a:p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/>
              <a:t>]= -1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i="1" dirty="0"/>
              <a:t> </a:t>
            </a:r>
            <a:r>
              <a:rPr lang="en-US" i="1" dirty="0" err="1"/>
              <a:t>e</a:t>
            </a:r>
            <a:r>
              <a:rPr lang="en-US" sz="2600" i="1" baseline="-25000" dirty="0" err="1"/>
              <a:t>j</a:t>
            </a:r>
            <a:r>
              <a:rPr lang="en-US" sz="2600" i="1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sz="2700" i="1" baseline="-25000" dirty="0"/>
              <a:t>i</a:t>
            </a:r>
            <a:r>
              <a:rPr lang="en-US" dirty="0"/>
              <a:t>.</a:t>
            </a:r>
          </a:p>
          <a:p>
            <a:pPr marL="358775" indent="0">
              <a:buNone/>
            </a:pPr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/>
              <a:t>]= 1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i="1" dirty="0"/>
              <a:t> </a:t>
            </a:r>
            <a:r>
              <a:rPr lang="en-US" i="1" dirty="0" err="1"/>
              <a:t>e</a:t>
            </a:r>
            <a:r>
              <a:rPr lang="en-US" sz="2600" i="1" baseline="-25000" dirty="0" err="1"/>
              <a:t>j</a:t>
            </a:r>
            <a:r>
              <a:rPr lang="en-US" sz="2600" i="1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sz="2700" i="1" baseline="-25000" dirty="0"/>
              <a:t>i</a:t>
            </a:r>
            <a:r>
              <a:rPr lang="en-US" dirty="0"/>
              <a:t>.</a:t>
            </a:r>
          </a:p>
          <a:p>
            <a:pPr marL="358775" indent="0">
              <a:buNone/>
            </a:pPr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/>
              <a:t>]= 0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i="1" dirty="0"/>
              <a:t> </a:t>
            </a:r>
            <a:r>
              <a:rPr lang="en-US" i="1" dirty="0" err="1"/>
              <a:t>e</a:t>
            </a:r>
            <a:r>
              <a:rPr lang="en-US" sz="2600" i="1" baseline="-25000" dirty="0" err="1"/>
              <a:t>j</a:t>
            </a:r>
            <a:r>
              <a:rPr lang="en-US" sz="2600" i="1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pada simpul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sz="2700" i="1" baseline="-25000" dirty="0"/>
              <a:t>i</a:t>
            </a:r>
            <a:r>
              <a:rPr lang="en-US" dirty="0"/>
              <a:t>.</a:t>
            </a:r>
          </a:p>
          <a:p>
            <a:pPr marL="358775" indent="0">
              <a:buNone/>
            </a:pPr>
            <a:endParaRPr lang="en-US" dirty="0"/>
          </a:p>
          <a:p>
            <a:pPr marL="271463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85" y="303788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(2)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35363" y="28921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46" y="3818239"/>
            <a:ext cx="2666100" cy="2238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77" y="3818238"/>
            <a:ext cx="3859117" cy="2246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0FB21-9C15-8F4F-9695-7B49551F4A2E}"/>
              </a:ext>
            </a:extLst>
          </p:cNvPr>
          <p:cNvSpPr txBox="1"/>
          <p:nvPr/>
        </p:nvSpPr>
        <p:spPr>
          <a:xfrm>
            <a:off x="6275755" y="3695852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C1A55-B7BD-E74D-BFF9-655C719B02C3}"/>
              </a:ext>
            </a:extLst>
          </p:cNvPr>
          <p:cNvSpPr txBox="1"/>
          <p:nvPr/>
        </p:nvSpPr>
        <p:spPr>
          <a:xfrm>
            <a:off x="6711494" y="3695852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D83B5-11D7-6E4B-B8D4-87B799658E19}"/>
              </a:ext>
            </a:extLst>
          </p:cNvPr>
          <p:cNvSpPr txBox="1"/>
          <p:nvPr/>
        </p:nvSpPr>
        <p:spPr>
          <a:xfrm>
            <a:off x="7217497" y="3695852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B7BD0-D16D-9C4E-921A-E07C5AE93A85}"/>
              </a:ext>
            </a:extLst>
          </p:cNvPr>
          <p:cNvSpPr txBox="1"/>
          <p:nvPr/>
        </p:nvSpPr>
        <p:spPr>
          <a:xfrm>
            <a:off x="7723500" y="3720966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E3A362-7834-7548-B809-50ABDFD7D4AF}"/>
              </a:ext>
            </a:extLst>
          </p:cNvPr>
          <p:cNvSpPr txBox="1"/>
          <p:nvPr/>
        </p:nvSpPr>
        <p:spPr>
          <a:xfrm>
            <a:off x="8218507" y="3720966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ACD56-B403-D148-8590-7C714BA0521D}"/>
              </a:ext>
            </a:extLst>
          </p:cNvPr>
          <p:cNvSpPr txBox="1"/>
          <p:nvPr/>
        </p:nvSpPr>
        <p:spPr>
          <a:xfrm>
            <a:off x="8707417" y="3720966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4321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05085" y="1305044"/>
            <a:ext cx="8326438" cy="2363877"/>
          </a:xfrm>
        </p:spPr>
        <p:txBody>
          <a:bodyPr>
            <a:normAutofit lnSpcReduction="10000"/>
          </a:bodyPr>
          <a:lstStyle/>
          <a:p>
            <a:pPr>
              <a:lnSpc>
                <a:spcPct val="114000"/>
              </a:lnSpc>
              <a:spcBef>
                <a:spcPts val="90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berbobot</a:t>
            </a:r>
            <a:r>
              <a:rPr lang="en-US" dirty="0"/>
              <a:t>.</a:t>
            </a:r>
          </a:p>
          <a:p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/>
              <a:t>] </a:t>
            </a:r>
            <a:r>
              <a:rPr lang="en-US" dirty="0" err="1">
                <a:solidFill>
                  <a:srgbClr val="0070C0"/>
                </a:solidFill>
              </a:rPr>
              <a:t>negatif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bobot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busur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e</a:t>
            </a:r>
            <a:r>
              <a:rPr lang="en-US" sz="2600" i="1" baseline="-25000" dirty="0" err="1">
                <a:solidFill>
                  <a:srgbClr val="0070C0"/>
                </a:solidFill>
              </a:rPr>
              <a:t>j</a:t>
            </a:r>
            <a:r>
              <a:rPr lang="en-US" sz="2600" i="1" dirty="0">
                <a:solidFill>
                  <a:srgbClr val="0070C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>
                <a:solidFill>
                  <a:srgbClr val="0070C0"/>
                </a:solidFill>
              </a:rPr>
              <a:t>keluar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v</a:t>
            </a:r>
            <a:r>
              <a:rPr lang="en-US" sz="2700" i="1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358775" indent="0">
              <a:buNone/>
            </a:pPr>
            <a:r>
              <a:rPr lang="en-US" dirty="0" err="1"/>
              <a:t>Elemen</a:t>
            </a:r>
            <a:r>
              <a:rPr lang="en-US" dirty="0"/>
              <a:t> [</a:t>
            </a:r>
            <a:r>
              <a:rPr lang="en-US" i="1" dirty="0" err="1"/>
              <a:t>i,j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positif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bobot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busur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e</a:t>
            </a:r>
            <a:r>
              <a:rPr lang="en-US" sz="2600" i="1" baseline="-25000" dirty="0" err="1">
                <a:solidFill>
                  <a:srgbClr val="0070C0"/>
                </a:solidFill>
              </a:rPr>
              <a:t>j</a:t>
            </a:r>
            <a:r>
              <a:rPr lang="en-US" sz="2600" i="1" dirty="0">
                <a:solidFill>
                  <a:srgbClr val="0070C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>
                <a:solidFill>
                  <a:srgbClr val="0070C0"/>
                </a:solidFill>
              </a:rPr>
              <a:t>menuju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v</a:t>
            </a:r>
            <a:r>
              <a:rPr lang="en-US" sz="2700" i="1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85" y="303788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Insiden</a:t>
            </a:r>
            <a:r>
              <a:rPr lang="en-US" dirty="0"/>
              <a:t> (3)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35363" y="28921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46" y="3818239"/>
            <a:ext cx="2666100" cy="22389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2" y="3685360"/>
            <a:ext cx="3889121" cy="2326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CB5FC4-065E-9944-B203-47F6D7B7BDD2}"/>
              </a:ext>
            </a:extLst>
          </p:cNvPr>
          <p:cNvSpPr txBox="1"/>
          <p:nvPr/>
        </p:nvSpPr>
        <p:spPr>
          <a:xfrm>
            <a:off x="6275755" y="3695852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8021B-C6EA-384F-899B-CB2C59B53F80}"/>
              </a:ext>
            </a:extLst>
          </p:cNvPr>
          <p:cNvSpPr txBox="1"/>
          <p:nvPr/>
        </p:nvSpPr>
        <p:spPr>
          <a:xfrm>
            <a:off x="6826740" y="3668921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3B446-380C-964E-AAF6-689570E0317C}"/>
              </a:ext>
            </a:extLst>
          </p:cNvPr>
          <p:cNvSpPr txBox="1"/>
          <p:nvPr/>
        </p:nvSpPr>
        <p:spPr>
          <a:xfrm>
            <a:off x="7346678" y="3668921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90E63-51F0-234A-8B6C-48CA5E4900FF}"/>
              </a:ext>
            </a:extLst>
          </p:cNvPr>
          <p:cNvSpPr txBox="1"/>
          <p:nvPr/>
        </p:nvSpPr>
        <p:spPr>
          <a:xfrm>
            <a:off x="7846917" y="3685360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8DADE-E008-8D44-A81C-E0C92BE91FF5}"/>
              </a:ext>
            </a:extLst>
          </p:cNvPr>
          <p:cNvSpPr txBox="1"/>
          <p:nvPr/>
        </p:nvSpPr>
        <p:spPr>
          <a:xfrm>
            <a:off x="8332581" y="3653289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AB9A84-9C2D-D548-92F5-F3DE3D7462C2}"/>
              </a:ext>
            </a:extLst>
          </p:cNvPr>
          <p:cNvSpPr txBox="1"/>
          <p:nvPr/>
        </p:nvSpPr>
        <p:spPr>
          <a:xfrm>
            <a:off x="8826365" y="3695852"/>
            <a:ext cx="289169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600" dirty="0"/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316AD-D1EC-6C48-8D32-6E316981623C}"/>
              </a:ext>
            </a:extLst>
          </p:cNvPr>
          <p:cNvSpPr txBox="1"/>
          <p:nvPr/>
        </p:nvSpPr>
        <p:spPr>
          <a:xfrm>
            <a:off x="3452711" y="5053535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60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25193-5F46-A94C-BD01-8DF1402D3FD3}"/>
              </a:ext>
            </a:extLst>
          </p:cNvPr>
          <p:cNvSpPr txBox="1"/>
          <p:nvPr/>
        </p:nvSpPr>
        <p:spPr>
          <a:xfrm>
            <a:off x="3995881" y="4691485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4D8E57-B453-6F4A-8BA7-9E980767D9AC}"/>
              </a:ext>
            </a:extLst>
          </p:cNvPr>
          <p:cNvSpPr txBox="1"/>
          <p:nvPr/>
        </p:nvSpPr>
        <p:spPr>
          <a:xfrm>
            <a:off x="3698050" y="4131752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B830C9-D11D-AC44-B871-F2F145130738}"/>
              </a:ext>
            </a:extLst>
          </p:cNvPr>
          <p:cNvSpPr txBox="1"/>
          <p:nvPr/>
        </p:nvSpPr>
        <p:spPr>
          <a:xfrm>
            <a:off x="2751283" y="4937706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32EDD-3F5D-0E4B-BD6E-6F04FC41A9C3}"/>
              </a:ext>
            </a:extLst>
          </p:cNvPr>
          <p:cNvSpPr txBox="1"/>
          <p:nvPr/>
        </p:nvSpPr>
        <p:spPr>
          <a:xfrm>
            <a:off x="4700216" y="4445264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045A8-01B8-9942-81C8-A1A37C26534F}"/>
              </a:ext>
            </a:extLst>
          </p:cNvPr>
          <p:cNvSpPr txBox="1"/>
          <p:nvPr/>
        </p:nvSpPr>
        <p:spPr>
          <a:xfrm>
            <a:off x="3978189" y="5251218"/>
            <a:ext cx="454981" cy="24622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0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56950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204823"/>
          </a:xfrm>
        </p:spPr>
        <p:txBody>
          <a:bodyPr/>
          <a:lstStyle/>
          <a:p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: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i="1" dirty="0"/>
              <a:t>sparse matrix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0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dominan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matriks.</a:t>
            </a:r>
          </a:p>
          <a:p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: </a:t>
            </a:r>
            <a:r>
              <a:rPr lang="en-US" i="1" dirty="0"/>
              <a:t>array of linked-list</a:t>
            </a:r>
            <a:r>
              <a:rPr lang="en-US" dirty="0"/>
              <a:t>. </a:t>
            </a:r>
            <a:r>
              <a:rPr lang="en-US" dirty="0" err="1"/>
              <a:t>Contoh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Array of Linked-List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16351" y="2557179"/>
          <a:ext cx="2387838" cy="2106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Bitmap Image" r:id="rId3" imgW="3552381" imgH="3153215" progId="Paint.Picture">
                  <p:embed/>
                </p:oleObj>
              </mc:Choice>
              <mc:Fallback>
                <p:oleObj name="Bitmap Image" r:id="rId3" imgW="3552381" imgH="3153215" progId="Paint.Picture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351" y="2557179"/>
                        <a:ext cx="2387838" cy="21061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120476" y="4729977"/>
            <a:ext cx="4955238" cy="166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ADT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address: pointer to vertex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graph: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array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[‘A’..’G’] of address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vertex: &lt;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destVertexID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char,</a:t>
            </a: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weight: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integer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address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 bwMode="auto">
          <a:xfrm>
            <a:off x="7579629" y="5496943"/>
            <a:ext cx="2635935" cy="88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5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>
                <a:solidFill>
                  <a:srgbClr val="FF0000"/>
                </a:solidFill>
              </a:rPr>
              <a:t>Ukuran</a:t>
            </a:r>
            <a:r>
              <a:rPr lang="en-US" sz="1600" dirty="0">
                <a:solidFill>
                  <a:srgbClr val="FF0000"/>
                </a:solidFill>
              </a:rPr>
              <a:t> array </a:t>
            </a:r>
            <a:r>
              <a:rPr lang="en-US" sz="1600" dirty="0" err="1">
                <a:solidFill>
                  <a:srgbClr val="FF0000"/>
                </a:solidFill>
              </a:rPr>
              <a:t>adalah</a:t>
            </a:r>
            <a:r>
              <a:rPr lang="en-US" sz="1600" dirty="0">
                <a:solidFill>
                  <a:srgbClr val="FF0000"/>
                </a:solidFill>
              </a:rPr>
              <a:t> N = </a:t>
            </a:r>
            <a:r>
              <a:rPr lang="en-US" sz="1600" dirty="0" err="1">
                <a:solidFill>
                  <a:srgbClr val="FF0000"/>
                </a:solidFill>
              </a:rPr>
              <a:t>jumlah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simpul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Arc 3"/>
          <p:cNvSpPr/>
          <p:nvPr/>
        </p:nvSpPr>
        <p:spPr>
          <a:xfrm>
            <a:off x="7009400" y="4604269"/>
            <a:ext cx="854058" cy="1662447"/>
          </a:xfrm>
          <a:prstGeom prst="arc">
            <a:avLst/>
          </a:prstGeom>
          <a:ln w="15875"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323" y="2445014"/>
            <a:ext cx="3817980" cy="22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9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3772340"/>
          </a:xfrm>
        </p:spPr>
        <p:txBody>
          <a:bodyPr/>
          <a:lstStyle/>
          <a:p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: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i="1" dirty="0"/>
              <a:t>sparse matrix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0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dominan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matrix.</a:t>
            </a:r>
          </a:p>
          <a:p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: </a:t>
            </a:r>
            <a:r>
              <a:rPr lang="en-US" i="1" dirty="0"/>
              <a:t>array of linked-list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Array of Linked-List </a:t>
            </a:r>
            <a:r>
              <a:rPr lang="en-US" dirty="0"/>
              <a:t>(1)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593065" y="3143850"/>
          <a:ext cx="2387838" cy="2106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Bitmap Image" r:id="rId3" imgW="3552381" imgH="3153215" progId="Paint.Picture">
                  <p:embed/>
                </p:oleObj>
              </mc:Choice>
              <mc:Fallback>
                <p:oleObj name="Bitmap Image" r:id="rId3" imgW="3552381" imgH="3153215" progId="Paint.Picture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065" y="3143850"/>
                        <a:ext cx="2387838" cy="21061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"/>
          <p:cNvSpPr txBox="1">
            <a:spLocks/>
          </p:cNvSpPr>
          <p:nvPr/>
        </p:nvSpPr>
        <p:spPr bwMode="auto">
          <a:xfrm>
            <a:off x="7579629" y="5496943"/>
            <a:ext cx="2635935" cy="88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5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>
                <a:solidFill>
                  <a:srgbClr val="FF0000"/>
                </a:solidFill>
              </a:rPr>
              <a:t>Ukuran</a:t>
            </a:r>
            <a:r>
              <a:rPr lang="en-US" sz="1600" dirty="0">
                <a:solidFill>
                  <a:srgbClr val="FF0000"/>
                </a:solidFill>
              </a:rPr>
              <a:t> array </a:t>
            </a:r>
            <a:r>
              <a:rPr lang="en-US" sz="1600" dirty="0" err="1">
                <a:solidFill>
                  <a:srgbClr val="FF0000"/>
                </a:solidFill>
              </a:rPr>
              <a:t>adalah</a:t>
            </a:r>
            <a:r>
              <a:rPr lang="en-US" sz="1600" dirty="0">
                <a:solidFill>
                  <a:srgbClr val="FF0000"/>
                </a:solidFill>
              </a:rPr>
              <a:t> N = </a:t>
            </a:r>
            <a:r>
              <a:rPr lang="en-US" sz="1600" dirty="0" err="1">
                <a:solidFill>
                  <a:srgbClr val="FF0000"/>
                </a:solidFill>
              </a:rPr>
              <a:t>jumlah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simpul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Arc 3"/>
          <p:cNvSpPr/>
          <p:nvPr/>
        </p:nvSpPr>
        <p:spPr>
          <a:xfrm>
            <a:off x="7009400" y="4604269"/>
            <a:ext cx="854058" cy="1662447"/>
          </a:xfrm>
          <a:prstGeom prst="arc">
            <a:avLst/>
          </a:prstGeom>
          <a:ln w="15875"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0014" y="2985436"/>
            <a:ext cx="3580094" cy="207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2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3772340"/>
          </a:xfrm>
        </p:spPr>
        <p:txBody>
          <a:bodyPr/>
          <a:lstStyle/>
          <a:p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: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i="1" dirty="0"/>
              <a:t>sparse matrix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0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dominan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matrix.</a:t>
            </a:r>
          </a:p>
          <a:p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: </a:t>
            </a:r>
            <a:r>
              <a:rPr lang="en-US" i="1" dirty="0"/>
              <a:t>array of linked-list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Array of Linked-List </a:t>
            </a:r>
            <a:r>
              <a:rPr lang="en-US" dirty="0"/>
              <a:t>(2)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73582" y="3043642"/>
            <a:ext cx="5767426" cy="166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ADT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address: pointer to vertex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graph: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array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[‘A’..’E’] of address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vertex: &lt;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destVertexID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char,</a:t>
            </a: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weight: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integer,</a:t>
            </a:r>
            <a:endParaRPr lang="en-US" sz="16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address&gt;</a:t>
            </a:r>
            <a:endParaRPr lang="en-US" sz="16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04" y="2839570"/>
            <a:ext cx="3580094" cy="207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86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760" y="256966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Array of Linked-List </a:t>
            </a:r>
            <a:r>
              <a:rPr lang="en-US" dirty="0"/>
              <a:t>(3)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803263" y="1041057"/>
            <a:ext cx="8326438" cy="5715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array of </a:t>
            </a:r>
            <a:r>
              <a:rPr lang="en-US" i="1" dirty="0" err="1"/>
              <a:t>linked-list</a:t>
            </a:r>
            <a:r>
              <a:rPr lang="en-US" dirty="0" err="1"/>
              <a:t>: inisialisasi</a:t>
            </a:r>
            <a:r>
              <a:rPr lang="en-US" dirty="0"/>
              <a:t> array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98780" y="3079544"/>
          <a:ext cx="4817419" cy="3070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7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5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procedure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initGraph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input/output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G:graph)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{I.S. –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F.S.   G[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]=nil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untuk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=’A’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sampai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‘E’}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dictionary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i:</a:t>
                      </a:r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5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algorithm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‘A’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while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’E’ </a:t>
                      </a:r>
                      <a:r>
                        <a:rPr lang="en-US" sz="140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do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444500"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G[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nil</a:t>
                      </a:r>
                    </a:p>
                    <a:p>
                      <a:pPr marL="444500"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i+1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40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endwhile</a:t>
                      </a:r>
                      <a:r>
                        <a:rPr lang="en-US" sz="140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sz="140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&gt; ’E’}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03263" y="1755411"/>
            <a:ext cx="5003270" cy="166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ADT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address: pointer to vertex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graph: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array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[‘A’..’E’] of address</a:t>
            </a:r>
          </a:p>
          <a:p>
            <a:pPr marL="90170">
              <a:lnSpc>
                <a:spcPct val="107000"/>
              </a:lnSpc>
            </a:pP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vertex: &lt;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destVertexID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char,</a:t>
            </a: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weight: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integer,</a:t>
            </a:r>
            <a:endParaRPr lang="en-US" sz="16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900430">
              <a:lnSpc>
                <a:spcPct val="107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next: </a:t>
            </a:r>
            <a:r>
              <a:rPr lang="en-US" sz="16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address&gt;</a:t>
            </a:r>
            <a:endParaRPr lang="en-US" sz="16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9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Array of Linked-List </a:t>
            </a:r>
            <a:r>
              <a:rPr lang="en-US" dirty="0"/>
              <a:t>(4)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19997" y="1974499"/>
          <a:ext cx="4695567" cy="4315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785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procedure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add1Edge (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input/output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G:graph, </a:t>
                      </a:r>
                    </a:p>
                    <a:p>
                      <a:pPr marL="1704975" indent="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source,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weight:</a:t>
                      </a:r>
                      <a:r>
                        <a:rPr lang="en-US" sz="1400" b="0" u="sng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integer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715963" indent="-715963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{I.S.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terdefinisi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sebuah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graf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vertex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bernama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source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weight.</a:t>
                      </a:r>
                    </a:p>
                    <a:p>
                      <a:pPr marL="542925" indent="-542925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F.S. edge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berbobot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dari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sudah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ditambahkan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graf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86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dictionary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:address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785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algorithm</a:t>
                      </a:r>
                    </a:p>
                    <a:p>
                      <a:pPr marL="111125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{insert first}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allocate(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destVertexID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weight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G[source]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G[source]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7"/>
          <p:cNvSpPr txBox="1">
            <a:spLocks/>
          </p:cNvSpPr>
          <p:nvPr/>
        </p:nvSpPr>
        <p:spPr bwMode="auto">
          <a:xfrm>
            <a:off x="1889125" y="1393223"/>
            <a:ext cx="83264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array of </a:t>
            </a:r>
            <a:r>
              <a:rPr lang="en-US" i="1" dirty="0" err="1"/>
              <a:t>linked-list</a:t>
            </a:r>
            <a:r>
              <a:rPr lang="en-US" dirty="0" err="1"/>
              <a:t>: menambahkan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busur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816" y="2500260"/>
            <a:ext cx="3531664" cy="21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9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204823"/>
          </a:xfrm>
        </p:spPr>
        <p:txBody>
          <a:bodyPr/>
          <a:lstStyle/>
          <a:p>
            <a:r>
              <a:rPr lang="en-US" i="1" dirty="0"/>
              <a:t>Multi linked-list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Multi Linked-List </a:t>
            </a:r>
            <a:r>
              <a:rPr lang="en-US" dirty="0"/>
              <a:t>(1)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291714" y="2447454"/>
          <a:ext cx="2874389" cy="25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Bitmap Image" r:id="rId3" imgW="3552381" imgH="3153215" progId="Paint.Picture">
                  <p:embed/>
                </p:oleObj>
              </mc:Choice>
              <mc:Fallback>
                <p:oleObj name="Bitmap Image" r:id="rId3" imgW="3552381" imgH="3153215" progId="Paint.Picture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714" y="2447454"/>
                        <a:ext cx="2874389" cy="2535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261" y="2210628"/>
            <a:ext cx="4782394" cy="34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6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204823"/>
          </a:xfrm>
        </p:spPr>
        <p:txBody>
          <a:bodyPr/>
          <a:lstStyle/>
          <a:p>
            <a:r>
              <a:rPr lang="en-US" i="1" dirty="0"/>
              <a:t>Multi linked-list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Multi Linked-List </a:t>
            </a:r>
            <a:r>
              <a:rPr lang="en-US" dirty="0"/>
              <a:t>(2)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047497" y="4232875"/>
            <a:ext cx="3962800" cy="195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700" dirty="0" err="1">
                <a:solidFill>
                  <a:srgbClr val="0070C0"/>
                </a:solidFill>
              </a:rPr>
              <a:t>Elemen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 err="1">
                <a:solidFill>
                  <a:srgbClr val="0070C0"/>
                </a:solidFill>
              </a:rPr>
              <a:t>lainnya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 err="1">
                <a:solidFill>
                  <a:srgbClr val="0070C0"/>
                </a:solidFill>
              </a:rPr>
              <a:t>menyatakan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 err="1">
                <a:solidFill>
                  <a:srgbClr val="0070C0"/>
                </a:solidFill>
              </a:rPr>
              <a:t>busur</a:t>
            </a:r>
            <a:endParaRPr lang="en-US" sz="1700" dirty="0">
              <a:solidFill>
                <a:srgbClr val="0070C0"/>
              </a:solidFill>
            </a:endParaRPr>
          </a:p>
          <a:p>
            <a:pPr>
              <a:lnSpc>
                <a:spcPct val="107000"/>
              </a:lnSpc>
            </a:pP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>
              <a:lnSpc>
                <a:spcPct val="107000"/>
              </a:lnSpc>
            </a:pPr>
            <a:r>
              <a:rPr lang="en-US" sz="1600" u="sng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edge: &lt;</a:t>
            </a:r>
            <a:r>
              <a:rPr lang="en-US" sz="1600" dirty="0" err="1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idVertex</a:t>
            </a: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u="sng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3513">
              <a:lnSpc>
                <a:spcPct val="107000"/>
              </a:lnSpc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weight: </a:t>
            </a:r>
            <a:r>
              <a:rPr lang="en-US" sz="1600" u="sng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integer,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3513">
              <a:lnSpc>
                <a:spcPct val="107000"/>
              </a:lnSpc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1600" dirty="0" err="1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adrEdge&gt;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"/>
          <p:cNvSpPr txBox="1">
            <a:spLocks/>
          </p:cNvSpPr>
          <p:nvPr/>
        </p:nvSpPr>
        <p:spPr bwMode="auto">
          <a:xfrm>
            <a:off x="1963953" y="2556984"/>
            <a:ext cx="4407294" cy="2162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 err="1">
                <a:solidFill>
                  <a:srgbClr val="0070C0"/>
                </a:solidFill>
              </a:rPr>
              <a:t>Elemen</a:t>
            </a:r>
            <a:r>
              <a:rPr lang="en-US" sz="1700" dirty="0">
                <a:solidFill>
                  <a:srgbClr val="0070C0"/>
                </a:solidFill>
              </a:rPr>
              <a:t> paling </a:t>
            </a:r>
            <a:r>
              <a:rPr lang="en-US" sz="1700" dirty="0" err="1">
                <a:solidFill>
                  <a:srgbClr val="0070C0"/>
                </a:solidFill>
              </a:rPr>
              <a:t>kiri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 err="1">
                <a:solidFill>
                  <a:srgbClr val="0070C0"/>
                </a:solidFill>
              </a:rPr>
              <a:t>menyatakan</a:t>
            </a:r>
            <a:r>
              <a:rPr lang="en-US" sz="1700" dirty="0">
                <a:solidFill>
                  <a:srgbClr val="0070C0"/>
                </a:solidFill>
              </a:rPr>
              <a:t> </a:t>
            </a:r>
            <a:r>
              <a:rPr lang="en-US" sz="1700" dirty="0" err="1">
                <a:solidFill>
                  <a:srgbClr val="0070C0"/>
                </a:solidFill>
              </a:rPr>
              <a:t>simpul</a:t>
            </a:r>
            <a:endParaRPr lang="en-US" sz="1700" dirty="0">
              <a:solidFill>
                <a:srgbClr val="0070C0"/>
              </a:solidFill>
            </a:endParaRPr>
          </a:p>
          <a:p>
            <a:pPr marL="358775" indent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ADT</a:t>
            </a:r>
          </a:p>
          <a:p>
            <a:pPr marL="27146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pointer to vertex</a:t>
            </a:r>
          </a:p>
          <a:p>
            <a:pPr marL="27146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5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pointer to edge</a:t>
            </a:r>
          </a:p>
          <a:p>
            <a:pPr marL="27146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vertex: &lt;id: </a:t>
            </a:r>
            <a:r>
              <a:rPr lang="en-US" sz="15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</a:p>
          <a:p>
            <a:pPr marL="1878013" indent="0" defTabSz="536575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next: </a:t>
            </a:r>
            <a:r>
              <a:rPr lang="en-US" sz="15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</a:p>
          <a:p>
            <a:pPr marL="1878013" indent="0" defTabSz="536575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firstEdge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5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420" y="2812432"/>
            <a:ext cx="4087274" cy="298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00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Multi Linked-List </a:t>
            </a:r>
            <a:r>
              <a:rPr lang="en-US" dirty="0"/>
              <a:t>(3)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59481" y="1974500"/>
          <a:ext cx="4695567" cy="4608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785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procedure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add1Edge (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input/output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G:graph, </a:t>
                      </a:r>
                    </a:p>
                    <a:p>
                      <a:pPr marL="1704975" indent="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: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baseline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adrVertex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pPr marL="1704975" indent="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u="sng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char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weight:</a:t>
                      </a:r>
                      <a:r>
                        <a:rPr lang="en-US" sz="1400" b="0" u="sng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integer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715963" indent="-715963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{I.S.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terdefinisi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sebuah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graf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simpul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asal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beralamat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indeks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baseline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simpul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baseline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tujuan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weight.</a:t>
                      </a:r>
                    </a:p>
                    <a:p>
                      <a:pPr marL="542925" indent="-542925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F.S. edge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berbobot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dari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sudah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ditambahkan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graf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G}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86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dictionary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:address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785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algorithm</a:t>
                      </a:r>
                    </a:p>
                    <a:p>
                      <a:pPr marL="111125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{insert first}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allocate(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destVertexID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dest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weight(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weight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firstEdge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107950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firstEdge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pSource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newP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 Placeholder 7"/>
          <p:cNvSpPr txBox="1">
            <a:spLocks/>
          </p:cNvSpPr>
          <p:nvPr/>
        </p:nvSpPr>
        <p:spPr bwMode="auto">
          <a:xfrm>
            <a:off x="1889125" y="1393223"/>
            <a:ext cx="83264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array of </a:t>
            </a:r>
            <a:r>
              <a:rPr lang="en-US" i="1" dirty="0" err="1"/>
              <a:t>linked-list</a:t>
            </a:r>
            <a:r>
              <a:rPr lang="en-US" dirty="0" err="1"/>
              <a:t>: menambahkan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busur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542" y="2441229"/>
            <a:ext cx="3807454" cy="288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59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81250"/>
            <a:ext cx="8326438" cy="4025490"/>
          </a:xfrm>
        </p:spPr>
        <p:txBody>
          <a:bodyPr/>
          <a:lstStyle/>
          <a:p>
            <a:r>
              <a:rPr lang="en-US" dirty="0" err="1"/>
              <a:t>Dengan</a:t>
            </a:r>
            <a:r>
              <a:rPr lang="en-US" dirty="0"/>
              <a:t> multi-linked list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dibatasi</a:t>
            </a:r>
            <a:r>
              <a:rPr lang="en-US" dirty="0"/>
              <a:t>.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i="1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(4)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34964" y="18294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18" y="2523382"/>
            <a:ext cx="4148247" cy="35304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54624" y="5666160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Sitka Heading" panose="02000505000000020004" pitchFamily="2" charset="0"/>
              </a:rPr>
              <a:t>Elemen</a:t>
            </a:r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itka Heading" panose="02000505000000020004" pitchFamily="2" charset="0"/>
              </a:rPr>
              <a:t>baru</a:t>
            </a:r>
            <a:endParaRPr lang="en-US" dirty="0">
              <a:solidFill>
                <a:srgbClr val="FF0000"/>
              </a:solidFill>
              <a:latin typeface="Sitka Heading" panose="02000505000000020004" pitchFamily="2" charset="0"/>
            </a:endParaRPr>
          </a:p>
        </p:txBody>
      </p:sp>
      <p:sp>
        <p:nvSpPr>
          <p:cNvPr id="18" name="Right Arrow 17"/>
          <p:cNvSpPr/>
          <p:nvPr/>
        </p:nvSpPr>
        <p:spPr>
          <a:xfrm rot="10800000" flipH="1" flipV="1">
            <a:off x="3885255" y="5766749"/>
            <a:ext cx="839977" cy="1681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9" name="Right Arrow 18"/>
          <p:cNvSpPr/>
          <p:nvPr/>
        </p:nvSpPr>
        <p:spPr>
          <a:xfrm rot="16200000" flipH="1" flipV="1">
            <a:off x="5469108" y="5552025"/>
            <a:ext cx="261291" cy="1681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0" name="Rectangle 19"/>
          <p:cNvSpPr/>
          <p:nvPr/>
        </p:nvSpPr>
        <p:spPr>
          <a:xfrm>
            <a:off x="3731900" y="5403789"/>
            <a:ext cx="274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9762" y="4799084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6341" y="2710709"/>
            <a:ext cx="37526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Misalnya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ditambahkan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sebuah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busur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baru</a:t>
            </a:r>
            <a:r>
              <a:rPr lang="en-US" dirty="0">
                <a:solidFill>
                  <a:srgbClr val="0070C0"/>
                </a:solidFill>
              </a:rPr>
              <a:t> (E, F), </a:t>
            </a:r>
            <a:r>
              <a:rPr lang="en-US" dirty="0" err="1">
                <a:solidFill>
                  <a:srgbClr val="0070C0"/>
                </a:solidFill>
              </a:rPr>
              <a:t>maka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baru</a:t>
            </a:r>
            <a:r>
              <a:rPr lang="en-US" dirty="0">
                <a:solidFill>
                  <a:srgbClr val="0070C0"/>
                </a:solidFill>
              </a:rPr>
              <a:t> F </a:t>
            </a:r>
            <a:r>
              <a:rPr lang="en-US" dirty="0" err="1">
                <a:solidFill>
                  <a:srgbClr val="0070C0"/>
                </a:solidFill>
              </a:rPr>
              <a:t>harus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ditambahkan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terlebih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dahulu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1419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204823"/>
          </a:xfrm>
        </p:spPr>
        <p:txBody>
          <a:bodyPr/>
          <a:lstStyle/>
          <a:p>
            <a:r>
              <a:rPr lang="en-US" i="1" dirty="0"/>
              <a:t>Multi linked-list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Sebelumnya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98890" y="2702520"/>
          <a:ext cx="2575134" cy="227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Bitmap Image" r:id="rId3" imgW="3552381" imgH="3153215" progId="Paint.Picture">
                  <p:embed/>
                </p:oleObj>
              </mc:Choice>
              <mc:Fallback>
                <p:oleObj name="Bitmap Image" r:id="rId3" imgW="3552381" imgH="3153215" progId="Paint.Picture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890" y="2702520"/>
                        <a:ext cx="2575134" cy="2271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402" y="2214800"/>
            <a:ext cx="4415465" cy="322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0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81250"/>
            <a:ext cx="8326438" cy="4025490"/>
          </a:xfrm>
        </p:spPr>
        <p:txBody>
          <a:bodyPr/>
          <a:lstStyle/>
          <a:p>
            <a:r>
              <a:rPr lang="en-US" dirty="0"/>
              <a:t>Graf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multi linked-list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endParaRPr lang="en-US" i="1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34964" y="18294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482" y="3756245"/>
            <a:ext cx="7091364" cy="2283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756" y="2085450"/>
            <a:ext cx="2864430" cy="2161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1270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81250"/>
            <a:ext cx="8326438" cy="4025490"/>
          </a:xfrm>
        </p:spPr>
        <p:txBody>
          <a:bodyPr/>
          <a:lstStyle/>
          <a:p>
            <a:r>
              <a:rPr lang="en-US" dirty="0"/>
              <a:t>Graf 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multi linked-list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endParaRPr lang="en-US" i="1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34964" y="18294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230" y="1869142"/>
            <a:ext cx="5729782" cy="20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932781" y="3905123"/>
            <a:ext cx="485742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ADT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pointer to vertex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pointer to edge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vertex: &lt;id: </a:t>
            </a:r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</a:p>
          <a:p>
            <a:pPr marL="1519238"/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edge: &lt;vertex_1: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</a:p>
          <a:p>
            <a:pPr marL="1346200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vertex_2: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</a:p>
          <a:p>
            <a:pPr marL="90170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listOfVertex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&lt;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firstVertex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90170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listOfEdge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&lt;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firstEdge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  <a:p>
            <a:pPr marL="90170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8713" y="4120863"/>
            <a:ext cx="4020507" cy="116955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90170"/>
            <a:r>
              <a:rPr lang="en-US" sz="1400" dirty="0" err="1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Untuk</a:t>
            </a:r>
            <a:r>
              <a:rPr lang="en-US" sz="1400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graf</a:t>
            </a:r>
            <a:r>
              <a:rPr lang="en-US" sz="1400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berbobot</a:t>
            </a:r>
            <a:r>
              <a:rPr lang="en-US" sz="1400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definisi</a:t>
            </a:r>
            <a:r>
              <a:rPr lang="en-US" sz="1400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edge:</a:t>
            </a:r>
            <a:endParaRPr lang="en-US" sz="1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71463"/>
            <a:r>
              <a:rPr lang="en-US" sz="1400" u="sng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edge: &lt;vertex_1: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</a:p>
          <a:p>
            <a:pPr marL="1519238"/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vertex_2: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adrVertex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weight: </a:t>
            </a:r>
            <a:r>
              <a:rPr lang="en-US" sz="1400" u="sng" dirty="0">
                <a:solidFill>
                  <a:srgbClr val="2F549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integer,</a:t>
            </a:r>
            <a:endParaRPr lang="en-US" sz="1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1519238"/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nextEdge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adrEdge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19554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349909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(1)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1889760" y="1356975"/>
            <a:ext cx="8326438" cy="4669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4000"/>
              </a:lnSpc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: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tetangga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i="1" dirty="0"/>
              <a:t>v.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89760" y="2300259"/>
          <a:ext cx="6019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procedure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getNextVertices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v: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adrVertex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                       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edgeList:listOfEdge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{I.S. Vertex </a:t>
                      </a:r>
                      <a:r>
                        <a:rPr lang="en-US" sz="15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tidak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nil;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edgeList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tidak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kosong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 F.S.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Semua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tetangga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sudah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ditampilkan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. 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dictionary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 :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adrEdge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algorithm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 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firstEdge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edgeList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while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p&lt;&gt; nil </a:t>
                      </a: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do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444500"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500" b="0" u="none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vertex_1(p)=v </a:t>
                      </a: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then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723900" indent="0" defTabSz="6223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(id(vertex_2(p))</a:t>
                      </a:r>
                    </a:p>
                    <a:p>
                      <a:pPr marL="444500"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else if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vertex_2(p)=v </a:t>
                      </a: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then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723900" indent="0" defTabSz="7239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output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(id(vertex_1(p))</a:t>
                      </a:r>
                    </a:p>
                    <a:p>
                      <a:pPr marL="444500"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u="sng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endif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  <a:p>
                      <a:pPr marL="291465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 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next(p)</a:t>
                      </a:r>
                    </a:p>
                    <a:p>
                      <a:pPr marL="10795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500" b="0" i="1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endwhile</a:t>
                      </a:r>
                      <a:r>
                        <a:rPr lang="en-US" sz="1500" b="0" i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p=nil}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131" y="3603812"/>
            <a:ext cx="5010823" cy="1629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0669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81250"/>
            <a:ext cx="8326438" cy="4025490"/>
          </a:xfrm>
        </p:spPr>
        <p:txBody>
          <a:bodyPr/>
          <a:lstStyle/>
          <a:p>
            <a:r>
              <a:rPr lang="en-US" dirty="0" err="1"/>
              <a:t>Dengan</a:t>
            </a:r>
            <a:r>
              <a:rPr lang="en-US" dirty="0"/>
              <a:t> multi-linked list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dibatasi</a:t>
            </a:r>
            <a:r>
              <a:rPr lang="en-US" dirty="0"/>
              <a:t>.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</a:p>
          <a:p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(E, F),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F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i="1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(2)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34964" y="18294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47" y="3662923"/>
            <a:ext cx="7712736" cy="1772913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 rot="10800000" flipH="1" flipV="1">
            <a:off x="8167798" y="4306989"/>
            <a:ext cx="331410" cy="1681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5" name="Right Arrow 14"/>
          <p:cNvSpPr/>
          <p:nvPr/>
        </p:nvSpPr>
        <p:spPr>
          <a:xfrm rot="5400000" flipH="1" flipV="1">
            <a:off x="9133679" y="4631006"/>
            <a:ext cx="331410" cy="1681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9" name="Rectangle 8"/>
          <p:cNvSpPr/>
          <p:nvPr/>
        </p:nvSpPr>
        <p:spPr>
          <a:xfrm>
            <a:off x="8607606" y="4180045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Sitka Heading" panose="02000505000000020004" pitchFamily="2" charset="0"/>
              </a:rPr>
              <a:t>Elemen</a:t>
            </a:r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itka Heading" panose="02000505000000020004" pitchFamily="2" charset="0"/>
              </a:rPr>
              <a:t>baru</a:t>
            </a:r>
            <a:endParaRPr lang="en-US" dirty="0">
              <a:solidFill>
                <a:srgbClr val="FF0000"/>
              </a:solidFill>
              <a:latin typeface="Sitka Heading" panose="02000505000000020004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67797" y="3930832"/>
            <a:ext cx="2744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54643" y="4540027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5213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/>
          <p:cNvSpPr txBox="1">
            <a:spLocks/>
          </p:cNvSpPr>
          <p:nvPr/>
        </p:nvSpPr>
        <p:spPr bwMode="auto">
          <a:xfrm>
            <a:off x="5310188" y="2288933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TERIMA KASIH</a:t>
            </a:r>
            <a:endParaRPr lang="en-US" sz="4000" b="0" dirty="0">
              <a:ln w="0"/>
              <a:effectLst>
                <a:reflection blurRad="6350" stA="53000" endA="300" endPos="35500" dir="5400000" sy="-90000" algn="bl" rotWithShape="0"/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25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CDF8CB628B97449CBF1C9C2DF0522A" ma:contentTypeVersion="12" ma:contentTypeDescription="Create a new document." ma:contentTypeScope="" ma:versionID="44eec28978b503e2efcb9212db538b87">
  <xsd:schema xmlns:xsd="http://www.w3.org/2001/XMLSchema" xmlns:xs="http://www.w3.org/2001/XMLSchema" xmlns:p="http://schemas.microsoft.com/office/2006/metadata/properties" xmlns:ns2="f710a105-9328-4c52-b86a-700c7d87a9d8" xmlns:ns3="da944019-e0c0-4cbe-b9e1-79848028e4af" targetNamespace="http://schemas.microsoft.com/office/2006/metadata/properties" ma:root="true" ma:fieldsID="50f9520c83d250bbff81f5ae34a02831" ns2:_="" ns3:_="">
    <xsd:import namespace="f710a105-9328-4c52-b86a-700c7d87a9d8"/>
    <xsd:import namespace="da944019-e0c0-4cbe-b9e1-79848028e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0a105-9328-4c52-b86a-700c7d87a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44019-e0c0-4cbe-b9e1-79848028e4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28c0b8-7eb1-4269-9651-4b2cb19e42d2}" ma:internalName="TaxCatchAll" ma:showField="CatchAllData" ma:web="da944019-e0c0-4cbe-b9e1-79848028e4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44019-e0c0-4cbe-b9e1-79848028e4af" xsi:nil="true"/>
    <lcf76f155ced4ddcb4097134ff3c332f xmlns="f710a105-9328-4c52-b86a-700c7d87a9d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BB76F62-0271-47C7-AE58-2EED147194A4}"/>
</file>

<file path=customXml/itemProps2.xml><?xml version="1.0" encoding="utf-8"?>
<ds:datastoreItem xmlns:ds="http://schemas.openxmlformats.org/officeDocument/2006/customXml" ds:itemID="{C3FEF08E-EF58-4E00-97CB-BC553B8B3D9D}"/>
</file>

<file path=customXml/itemProps3.xml><?xml version="1.0" encoding="utf-8"?>
<ds:datastoreItem xmlns:ds="http://schemas.openxmlformats.org/officeDocument/2006/customXml" ds:itemID="{56C15E89-50F4-45A6-8D92-4EDC8CE0F403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1326</Words>
  <Application>Microsoft Office PowerPoint</Application>
  <PresentationFormat>Layar Lebar</PresentationFormat>
  <Paragraphs>230</Paragraphs>
  <Slides>22</Slides>
  <Notes>4</Notes>
  <HiddenSlides>0</HiddenSlides>
  <MMClips>0</MMClips>
  <ScaleCrop>false</ScaleCrop>
  <HeadingPairs>
    <vt:vector size="8" baseType="variant">
      <vt:variant>
        <vt:lpstr>Font Dipakai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22</vt:i4>
      </vt:variant>
    </vt:vector>
  </HeadingPairs>
  <TitlesOfParts>
    <vt:vector size="34" baseType="lpstr">
      <vt:lpstr>Aharoni</vt:lpstr>
      <vt:lpstr>Arial</vt:lpstr>
      <vt:lpstr>Berlin Sans FB Demi</vt:lpstr>
      <vt:lpstr>Calibri</vt:lpstr>
      <vt:lpstr>Calibri Light</vt:lpstr>
      <vt:lpstr>Cambria</vt:lpstr>
      <vt:lpstr>Courier New</vt:lpstr>
      <vt:lpstr>Sitka Heading</vt:lpstr>
      <vt:lpstr>Verdana</vt:lpstr>
      <vt:lpstr>Wingdings</vt:lpstr>
      <vt:lpstr>Tema Office</vt:lpstr>
      <vt:lpstr>Bitmap Image</vt:lpstr>
      <vt:lpstr>STRUKTUR DATA</vt:lpstr>
      <vt:lpstr>Matriks Ketetanggaan (1) </vt:lpstr>
      <vt:lpstr>Matriks Ketetanggaan (2) </vt:lpstr>
      <vt:lpstr>Matriks Ketetanggaan (3) </vt:lpstr>
      <vt:lpstr>Matriks Insiden (1)</vt:lpstr>
      <vt:lpstr>Matriks Insiden (2)</vt:lpstr>
      <vt:lpstr>Matriks Insiden (3)</vt:lpstr>
      <vt:lpstr>Array of Linked-List</vt:lpstr>
      <vt:lpstr>Array of Linked-List (1)</vt:lpstr>
      <vt:lpstr>Array of Linked-List (2)</vt:lpstr>
      <vt:lpstr>Array of Linked-List (3)</vt:lpstr>
      <vt:lpstr>Array of Linked-List (4)</vt:lpstr>
      <vt:lpstr>Multi Linked-List (1)</vt:lpstr>
      <vt:lpstr>Multi Linked-List (2)</vt:lpstr>
      <vt:lpstr>Multi Linked-List (3)</vt:lpstr>
      <vt:lpstr>Contoh Algoritma (4)</vt:lpstr>
      <vt:lpstr>Review Materi Sebelumnya</vt:lpstr>
      <vt:lpstr>ADT</vt:lpstr>
      <vt:lpstr>ADT</vt:lpstr>
      <vt:lpstr>Contoh Algoritma (1)</vt:lpstr>
      <vt:lpstr>Contoh Algoritma (2)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DATA</dc:title>
  <dc:creator>HANI</dc:creator>
  <cp:lastModifiedBy>HANI</cp:lastModifiedBy>
  <cp:revision>2</cp:revision>
  <dcterms:created xsi:type="dcterms:W3CDTF">2021-12-05T09:35:11Z</dcterms:created>
  <dcterms:modified xsi:type="dcterms:W3CDTF">2021-12-05T09:37:34Z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0x010100C1CDF8CB628B97449CBF1C9C2DF0522A</vt:lpwstr>
  </property>
</Properties>
</file>