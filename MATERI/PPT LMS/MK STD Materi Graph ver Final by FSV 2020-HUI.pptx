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60" r:id="rId12"/>
    <p:sldId id="261" r:id="rId13"/>
    <p:sldId id="262" r:id="rId14"/>
    <p:sldId id="263" r:id="rId15"/>
    <p:sldId id="265" r:id="rId16"/>
    <p:sldId id="259" r:id="rId17"/>
    <p:sldId id="268" r:id="rId18"/>
    <p:sldId id="266" r:id="rId19"/>
    <p:sldId id="280" r:id="rId20"/>
    <p:sldId id="267" r:id="rId21"/>
    <p:sldId id="279" r:id="rId22"/>
    <p:sldId id="281" r:id="rId23"/>
    <p:sldId id="284" r:id="rId24"/>
    <p:sldId id="300" r:id="rId25"/>
    <p:sldId id="286" r:id="rId26"/>
    <p:sldId id="288" r:id="rId27"/>
    <p:sldId id="287" r:id="rId28"/>
    <p:sldId id="294" r:id="rId29"/>
    <p:sldId id="296" r:id="rId30"/>
    <p:sldId id="295" r:id="rId31"/>
    <p:sldId id="290" r:id="rId32"/>
    <p:sldId id="291" r:id="rId33"/>
    <p:sldId id="292" r:id="rId34"/>
    <p:sldId id="289" r:id="rId35"/>
    <p:sldId id="293" r:id="rId36"/>
    <p:sldId id="299" r:id="rId37"/>
    <p:sldId id="297" r:id="rId38"/>
    <p:sldId id="298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54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10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70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08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786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53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3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99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42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341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577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424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159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63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C665B85-AD21-4763-B5E1-A31BC691C1CC}" type="datetimeFigureOut">
              <a:rPr lang="en-US" smtClean="0"/>
              <a:t>12/9/2021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3A9AD53-BE44-43C2-9D33-3BF43F0F68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7237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400" b="1" dirty="0"/>
              <a:t>MK STRUKTUR DATA</a:t>
            </a:r>
          </a:p>
          <a:p>
            <a:r>
              <a:rPr lang="en-US" sz="1400" b="1" dirty="0"/>
              <a:t>KODE DOSEN : FSV</a:t>
            </a:r>
          </a:p>
          <a:p>
            <a:r>
              <a:rPr lang="en-US" sz="1400" b="1" dirty="0"/>
              <a:t>S1 INFORMATIKA, FAKULTAS INFORMATIKA, TELKOM UNIVERSITY</a:t>
            </a:r>
          </a:p>
          <a:p>
            <a:r>
              <a:rPr lang="en-US" sz="1400" b="1" dirty="0"/>
              <a:t>VERSI </a:t>
            </a:r>
            <a:r>
              <a:rPr lang="en-US" sz="1400" b="1" dirty="0" err="1"/>
              <a:t>Genap</a:t>
            </a:r>
            <a:r>
              <a:rPr lang="en-US" sz="1400" b="1" dirty="0"/>
              <a:t> 2019/2020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977160"/>
            <a:ext cx="6172200" cy="2886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259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Definisi Graf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557" y="2100263"/>
            <a:ext cx="10353821" cy="437368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sz="2800" b="1" dirty="0"/>
              <a:t>Graf </a:t>
            </a:r>
            <a:r>
              <a:rPr lang="en-US" sz="2800" b="1" i="1" dirty="0"/>
              <a:t>G</a:t>
            </a:r>
            <a:r>
              <a:rPr lang="en-US" sz="2800" b="1" dirty="0"/>
              <a:t> = (</a:t>
            </a:r>
            <a:r>
              <a:rPr lang="en-US" sz="2800" b="1" i="1" dirty="0"/>
              <a:t>V</a:t>
            </a:r>
            <a:r>
              <a:rPr lang="en-US" sz="2800" b="1" dirty="0"/>
              <a:t>, </a:t>
            </a:r>
            <a:r>
              <a:rPr lang="en-US" sz="2800" b="1" i="1" dirty="0"/>
              <a:t>E</a:t>
            </a:r>
            <a:r>
              <a:rPr lang="en-US" sz="2800" b="1" dirty="0"/>
              <a:t>), yang dalam </a:t>
            </a:r>
            <a:r>
              <a:rPr lang="en-US" sz="2800" b="1" dirty="0" err="1"/>
              <a:t>hal</a:t>
            </a:r>
            <a:r>
              <a:rPr lang="en-US" sz="2800" b="1" dirty="0"/>
              <a:t> </a:t>
            </a:r>
            <a:r>
              <a:rPr lang="en-US" sz="2800" b="1" dirty="0" err="1"/>
              <a:t>ini</a:t>
            </a:r>
            <a:r>
              <a:rPr lang="en-US" sz="2800" b="1" dirty="0"/>
              <a:t>:</a:t>
            </a:r>
          </a:p>
          <a:p>
            <a:r>
              <a:rPr lang="en-US" sz="2800" b="1" i="1" dirty="0"/>
              <a:t>V</a:t>
            </a:r>
            <a:r>
              <a:rPr lang="en-US" sz="2800" b="1" dirty="0"/>
              <a:t>  = </a:t>
            </a:r>
            <a:r>
              <a:rPr lang="en-US" sz="2800" b="1" dirty="0" err="1">
                <a:solidFill>
                  <a:srgbClr val="FF0000"/>
                </a:solidFill>
              </a:rPr>
              <a:t>himpunan</a:t>
            </a:r>
            <a:r>
              <a:rPr lang="en-US" sz="2800" b="1" dirty="0"/>
              <a:t> </a:t>
            </a:r>
            <a:r>
              <a:rPr lang="en-US" sz="2800" b="1" dirty="0" err="1"/>
              <a:t>tidak-kosong</a:t>
            </a:r>
            <a:r>
              <a:rPr lang="en-US" sz="2800" b="1" dirty="0"/>
              <a:t> </a:t>
            </a:r>
            <a:r>
              <a:rPr lang="en-US" sz="2800" b="1" dirty="0" err="1"/>
              <a:t>dari</a:t>
            </a:r>
            <a:r>
              <a:rPr lang="en-US" sz="2800" b="1" dirty="0"/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simpul-simpul</a:t>
            </a:r>
            <a:r>
              <a:rPr lang="en-US" sz="2800" b="1" dirty="0">
                <a:solidFill>
                  <a:srgbClr val="FF0000"/>
                </a:solidFill>
              </a:rPr>
              <a:t> (</a:t>
            </a:r>
            <a:r>
              <a:rPr lang="en-US" sz="2800" b="1" i="1" dirty="0">
                <a:solidFill>
                  <a:srgbClr val="FF0000"/>
                </a:solidFill>
              </a:rPr>
              <a:t>vertices/node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  <a:r>
              <a:rPr lang="en-US" sz="2800" b="1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en-US" sz="2800" b="1" dirty="0"/>
              <a:t>              = { </a:t>
            </a:r>
            <a:r>
              <a:rPr lang="en-US" sz="2800" b="1" i="1" dirty="0"/>
              <a:t>v</a:t>
            </a:r>
            <a:r>
              <a:rPr lang="en-US" sz="2800" b="1" dirty="0"/>
              <a:t>1 , </a:t>
            </a:r>
            <a:r>
              <a:rPr lang="en-US" sz="2800" b="1" i="1" dirty="0"/>
              <a:t>v</a:t>
            </a:r>
            <a:r>
              <a:rPr lang="en-US" sz="2800" b="1" dirty="0"/>
              <a:t>2 , ... , </a:t>
            </a:r>
            <a:r>
              <a:rPr lang="en-US" sz="2800" b="1" i="1" dirty="0" err="1"/>
              <a:t>vn</a:t>
            </a:r>
            <a:r>
              <a:rPr lang="en-US" sz="2800" b="1" dirty="0"/>
              <a:t> } </a:t>
            </a:r>
          </a:p>
          <a:p>
            <a:r>
              <a:rPr lang="en-US" sz="2800" b="1" i="1" dirty="0"/>
              <a:t>E</a:t>
            </a:r>
            <a:r>
              <a:rPr lang="en-US" sz="2800" b="1" dirty="0"/>
              <a:t> = </a:t>
            </a:r>
            <a:r>
              <a:rPr lang="en-US" sz="2800" b="1" dirty="0" err="1">
                <a:solidFill>
                  <a:srgbClr val="FF0000"/>
                </a:solidFill>
              </a:rPr>
              <a:t>himpunan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sisi</a:t>
            </a:r>
            <a:r>
              <a:rPr lang="en-US" sz="2800" b="1" dirty="0">
                <a:solidFill>
                  <a:srgbClr val="FF0000"/>
                </a:solidFill>
              </a:rPr>
              <a:t>/</a:t>
            </a:r>
            <a:r>
              <a:rPr lang="en-US" sz="2800" b="1" dirty="0" err="1">
                <a:solidFill>
                  <a:srgbClr val="FF0000"/>
                </a:solidFill>
              </a:rPr>
              <a:t>busur</a:t>
            </a:r>
            <a:r>
              <a:rPr lang="en-US" sz="2800" b="1" dirty="0">
                <a:solidFill>
                  <a:srgbClr val="FF0000"/>
                </a:solidFill>
              </a:rPr>
              <a:t> (</a:t>
            </a:r>
            <a:r>
              <a:rPr lang="en-US" sz="2800" b="1" i="1" dirty="0">
                <a:solidFill>
                  <a:srgbClr val="FF0000"/>
                </a:solidFill>
              </a:rPr>
              <a:t>edges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  <a:r>
              <a:rPr lang="en-US" sz="2800" b="1" dirty="0"/>
              <a:t> yang </a:t>
            </a:r>
            <a:r>
              <a:rPr lang="en-US" sz="2800" b="1" dirty="0" err="1"/>
              <a:t>menghubungkan</a:t>
            </a:r>
            <a:r>
              <a:rPr lang="en-US" sz="2800" b="1" dirty="0"/>
              <a:t> </a:t>
            </a:r>
            <a:r>
              <a:rPr lang="en-US" sz="2800" b="1" dirty="0" err="1"/>
              <a:t>sepasang</a:t>
            </a:r>
            <a:r>
              <a:rPr lang="en-US" sz="2800" b="1" dirty="0"/>
              <a:t> </a:t>
            </a:r>
            <a:r>
              <a:rPr lang="en-US" sz="2800" b="1" dirty="0" err="1"/>
              <a:t>simpul</a:t>
            </a:r>
            <a:r>
              <a:rPr lang="en-US" sz="2800" b="1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en-US" sz="2800" b="1" dirty="0"/>
              <a:t>              = {</a:t>
            </a:r>
            <a:r>
              <a:rPr lang="en-US" sz="2800" b="1" i="1" dirty="0"/>
              <a:t>e</a:t>
            </a:r>
            <a:r>
              <a:rPr lang="en-US" sz="2800" b="1" dirty="0"/>
              <a:t>1 , </a:t>
            </a:r>
            <a:r>
              <a:rPr lang="en-US" sz="2800" b="1" i="1" dirty="0"/>
              <a:t>e</a:t>
            </a:r>
            <a:r>
              <a:rPr lang="en-US" sz="2800" b="1" dirty="0"/>
              <a:t>2 , ... , </a:t>
            </a:r>
            <a:r>
              <a:rPr lang="en-US" sz="2800" b="1" i="1" dirty="0"/>
              <a:t>en</a:t>
            </a:r>
            <a:r>
              <a:rPr lang="en-US" sz="2800" b="1" dirty="0"/>
              <a:t> 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A91D4A4-51A8-45B1-84F7-7FFB9790BA7A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6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Definisi Graf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928485" y="1796385"/>
            <a:ext cx="4191000" cy="406241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b="1" dirty="0"/>
              <a:t>V = {v1, v2, v3}</a:t>
            </a:r>
          </a:p>
          <a:p>
            <a:pPr>
              <a:lnSpc>
                <a:spcPct val="90000"/>
              </a:lnSpc>
            </a:pPr>
            <a:endParaRPr lang="en-US" sz="2000" b="1" dirty="0"/>
          </a:p>
          <a:p>
            <a:pPr>
              <a:lnSpc>
                <a:spcPct val="90000"/>
              </a:lnSpc>
            </a:pPr>
            <a:r>
              <a:rPr lang="en-US" sz="2000" b="1" dirty="0"/>
              <a:t>E = {e1, e2, e3, e4, e5}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/>
              <a:t>        = {(v1,v2), (v1,v2),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/>
              <a:t>             (v1,v3), (v2,v3),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b="1" dirty="0"/>
              <a:t>             (v3,v3)} 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01986"/>
              </p:ext>
            </p:extLst>
          </p:nvPr>
        </p:nvGraphicFramePr>
        <p:xfrm>
          <a:off x="1466001" y="2570291"/>
          <a:ext cx="422101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Visio" r:id="rId3" imgW="2546604" imgH="1517904" progId="">
                  <p:embed/>
                </p:oleObj>
              </mc:Choice>
              <mc:Fallback>
                <p:oleObj name="Visio" r:id="rId3" imgW="2546604" imgH="1517904" progId="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001" y="2570291"/>
                        <a:ext cx="4221010" cy="25146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317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Definisi Graf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172" y="2587979"/>
            <a:ext cx="3819525" cy="2905125"/>
          </a:xfrm>
          <a:prstGeom prst="rect">
            <a:avLst/>
          </a:prstGeom>
        </p:spPr>
      </p:pic>
      <p:sp>
        <p:nvSpPr>
          <p:cNvPr id="43" name="Rectangle 4"/>
          <p:cNvSpPr txBox="1">
            <a:spLocks noChangeArrowheads="1"/>
          </p:cNvSpPr>
          <p:nvPr/>
        </p:nvSpPr>
        <p:spPr>
          <a:xfrm>
            <a:off x="5943157" y="1924430"/>
            <a:ext cx="5620486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2000" b="1" i="1" dirty="0"/>
              <a:t>V</a:t>
            </a:r>
            <a:r>
              <a:rPr lang="en-US" sz="2000" b="1" dirty="0"/>
              <a:t> = { 1, 2, 3, 4  }</a:t>
            </a:r>
            <a:endParaRPr lang="en-US" sz="2000" b="1" i="1" dirty="0"/>
          </a:p>
          <a:p>
            <a:pPr>
              <a:buFont typeface="Wingdings" pitchFamily="2" charset="2"/>
              <a:buNone/>
            </a:pPr>
            <a:r>
              <a:rPr lang="en-US" sz="2000" b="1" i="1" dirty="0"/>
              <a:t>E</a:t>
            </a:r>
            <a:r>
              <a:rPr lang="en-US" sz="2000" b="1" dirty="0"/>
              <a:t> = {(1, 2), (2, 3), </a:t>
            </a:r>
          </a:p>
          <a:p>
            <a:pPr>
              <a:buFont typeface="Wingdings" pitchFamily="2" charset="2"/>
              <a:buNone/>
            </a:pPr>
            <a:r>
              <a:rPr lang="en-US" sz="2000" b="1" dirty="0"/>
              <a:t>       (1, 3), (1, 3), (2, 4), </a:t>
            </a:r>
          </a:p>
          <a:p>
            <a:pPr>
              <a:buFont typeface="Wingdings" pitchFamily="2" charset="2"/>
              <a:buNone/>
            </a:pPr>
            <a:r>
              <a:rPr lang="en-US" sz="2000" b="1" dirty="0"/>
              <a:t>       (3, 4), (3, 4), (3, 3)}	</a:t>
            </a:r>
          </a:p>
          <a:p>
            <a:pPr>
              <a:buFont typeface="Wingdings" pitchFamily="2" charset="2"/>
              <a:buNone/>
            </a:pPr>
            <a:r>
              <a:rPr lang="en-US" sz="2000" b="1" dirty="0"/>
              <a:t>   = { </a:t>
            </a:r>
            <a:r>
              <a:rPr lang="en-US" sz="2000" b="1" i="1" dirty="0"/>
              <a:t>e</a:t>
            </a:r>
            <a:r>
              <a:rPr lang="en-US" sz="2000" b="1" dirty="0"/>
              <a:t>1, </a:t>
            </a:r>
            <a:r>
              <a:rPr lang="en-US" sz="2000" b="1" i="1" dirty="0"/>
              <a:t>e</a:t>
            </a:r>
            <a:r>
              <a:rPr lang="en-US" sz="2000" b="1" dirty="0"/>
              <a:t>2, </a:t>
            </a:r>
            <a:r>
              <a:rPr lang="en-US" sz="2000" b="1" i="1" dirty="0"/>
              <a:t>e</a:t>
            </a:r>
            <a:r>
              <a:rPr lang="en-US" sz="2000" b="1" dirty="0"/>
              <a:t>3, </a:t>
            </a:r>
            <a:r>
              <a:rPr lang="en-US" sz="2000" b="1" i="1" dirty="0"/>
              <a:t>e</a:t>
            </a:r>
            <a:r>
              <a:rPr lang="en-US" sz="2000" b="1" dirty="0"/>
              <a:t>4, </a:t>
            </a:r>
            <a:r>
              <a:rPr lang="en-US" sz="2000" b="1" i="1" dirty="0"/>
              <a:t>e</a:t>
            </a:r>
            <a:r>
              <a:rPr lang="en-US" sz="2000" b="1" dirty="0"/>
              <a:t>5, </a:t>
            </a:r>
            <a:r>
              <a:rPr lang="en-US" sz="2000" b="1" i="1" dirty="0"/>
              <a:t>e</a:t>
            </a:r>
            <a:r>
              <a:rPr lang="en-US" sz="2000" b="1" dirty="0"/>
              <a:t>6, </a:t>
            </a:r>
            <a:r>
              <a:rPr lang="en-US" sz="2000" b="1" i="1" dirty="0"/>
              <a:t>e</a:t>
            </a:r>
            <a:r>
              <a:rPr lang="en-US" sz="2000" b="1" dirty="0"/>
              <a:t>7, </a:t>
            </a:r>
            <a:r>
              <a:rPr lang="en-US" sz="2000" b="1" i="1" dirty="0"/>
              <a:t>e</a:t>
            </a:r>
            <a:r>
              <a:rPr lang="en-US" sz="2000" b="1" dirty="0"/>
              <a:t>8}</a:t>
            </a:r>
          </a:p>
          <a:p>
            <a:r>
              <a:rPr lang="en-US" b="1" dirty="0" err="1"/>
              <a:t>sisi</a:t>
            </a:r>
            <a:r>
              <a:rPr lang="en-US" b="1" dirty="0"/>
              <a:t>  </a:t>
            </a:r>
            <a:r>
              <a:rPr lang="en-US" b="1" i="1" dirty="0"/>
              <a:t>e</a:t>
            </a:r>
            <a:r>
              <a:rPr lang="en-US" b="1" baseline="-25000" dirty="0"/>
              <a:t>3</a:t>
            </a:r>
            <a:r>
              <a:rPr lang="en-US" b="1" dirty="0"/>
              <a:t> = (1, 3)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i="1" dirty="0"/>
              <a:t>e</a:t>
            </a:r>
            <a:r>
              <a:rPr lang="en-US" b="1" baseline="-25000" dirty="0"/>
              <a:t>4</a:t>
            </a:r>
            <a:r>
              <a:rPr lang="en-US" b="1" dirty="0"/>
              <a:t> = (1, 3) </a:t>
            </a:r>
            <a:br>
              <a:rPr lang="en-US" b="1" dirty="0"/>
            </a:br>
            <a:r>
              <a:rPr lang="en-US" b="1" dirty="0" err="1"/>
              <a:t>dinamakan</a:t>
            </a:r>
            <a:r>
              <a:rPr lang="en-US" b="1" dirty="0"/>
              <a:t> </a:t>
            </a:r>
            <a:r>
              <a:rPr lang="en-US" b="1" dirty="0" err="1"/>
              <a:t>sisi-ganda</a:t>
            </a:r>
            <a:r>
              <a:rPr lang="en-US" b="1" dirty="0"/>
              <a:t> (</a:t>
            </a:r>
            <a:r>
              <a:rPr lang="en-US" b="1" i="1" dirty="0"/>
              <a:t>multiple edges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i="1" dirty="0" err="1"/>
              <a:t>paralel</a:t>
            </a:r>
            <a:r>
              <a:rPr lang="en-US" b="1" i="1" dirty="0"/>
              <a:t> edges</a:t>
            </a:r>
            <a:r>
              <a:rPr lang="en-US" b="1" dirty="0"/>
              <a:t>) 	 </a:t>
            </a:r>
          </a:p>
          <a:p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i="1" dirty="0"/>
              <a:t>e</a:t>
            </a:r>
            <a:r>
              <a:rPr lang="en-US" b="1" baseline="-25000" dirty="0"/>
              <a:t>8</a:t>
            </a:r>
            <a:r>
              <a:rPr lang="en-US" b="1" dirty="0"/>
              <a:t> = (3, 3) </a:t>
            </a:r>
            <a:br>
              <a:rPr lang="en-US" b="1" dirty="0"/>
            </a:br>
            <a:r>
              <a:rPr lang="en-US" b="1" dirty="0" err="1"/>
              <a:t>dinamakan</a:t>
            </a:r>
            <a:r>
              <a:rPr lang="en-US" b="1" dirty="0"/>
              <a:t> </a:t>
            </a:r>
            <a:r>
              <a:rPr lang="en-US" b="1" dirty="0" err="1"/>
              <a:t>gelang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kalang</a:t>
            </a:r>
            <a:r>
              <a:rPr lang="en-US" b="1" dirty="0"/>
              <a:t> (</a:t>
            </a:r>
            <a:r>
              <a:rPr lang="en-US" b="1" i="1" dirty="0"/>
              <a:t>loop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9606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Graf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405167"/>
            <a:ext cx="6355811" cy="3636511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AU" sz="2400" dirty="0" err="1"/>
              <a:t>Berdasarkan</a:t>
            </a:r>
            <a:r>
              <a:rPr lang="en-AU" sz="2400" dirty="0"/>
              <a:t> </a:t>
            </a:r>
            <a:r>
              <a:rPr lang="en-AU" sz="2400" dirty="0" err="1"/>
              <a:t>ada</a:t>
            </a:r>
            <a:r>
              <a:rPr lang="en-AU" sz="2400" dirty="0"/>
              <a:t> </a:t>
            </a:r>
            <a:r>
              <a:rPr lang="en-AU" sz="2400" dirty="0" err="1"/>
              <a:t>tidaknya</a:t>
            </a:r>
            <a:r>
              <a:rPr lang="en-AU" sz="2400" dirty="0"/>
              <a:t> </a:t>
            </a:r>
            <a:r>
              <a:rPr lang="en-AU" sz="2400" dirty="0" err="1"/>
              <a:t>gelang</a:t>
            </a:r>
            <a:r>
              <a:rPr lang="en-AU" sz="2400" dirty="0"/>
              <a:t> </a:t>
            </a:r>
            <a:r>
              <a:rPr lang="en-AU" sz="2400" dirty="0" err="1"/>
              <a:t>atau</a:t>
            </a:r>
            <a:r>
              <a:rPr lang="en-AU" sz="2400" dirty="0"/>
              <a:t> </a:t>
            </a:r>
            <a:r>
              <a:rPr lang="en-AU" sz="2400" dirty="0" err="1"/>
              <a:t>sisi</a:t>
            </a:r>
            <a:r>
              <a:rPr lang="en-AU" sz="2400" dirty="0"/>
              <a:t> </a:t>
            </a:r>
            <a:r>
              <a:rPr lang="en-AU" sz="2400" dirty="0" err="1"/>
              <a:t>ganda</a:t>
            </a:r>
            <a:r>
              <a:rPr lang="en-AU" sz="2400" dirty="0"/>
              <a:t> </a:t>
            </a:r>
            <a:r>
              <a:rPr lang="en-AU" sz="2400" dirty="0" err="1"/>
              <a:t>pada</a:t>
            </a:r>
            <a:r>
              <a:rPr lang="en-AU" sz="2400" dirty="0"/>
              <a:t> </a:t>
            </a:r>
            <a:r>
              <a:rPr lang="en-AU" sz="2400" dirty="0" err="1"/>
              <a:t>suatu</a:t>
            </a:r>
            <a:r>
              <a:rPr lang="en-AU" sz="2400" dirty="0"/>
              <a:t> graph, </a:t>
            </a:r>
            <a:r>
              <a:rPr lang="en-AU" sz="2400" dirty="0" err="1"/>
              <a:t>maka</a:t>
            </a:r>
            <a:r>
              <a:rPr lang="en-AU" sz="2400" dirty="0"/>
              <a:t> graph </a:t>
            </a:r>
            <a:r>
              <a:rPr lang="en-AU" sz="2400" dirty="0" err="1"/>
              <a:t>digolongkan</a:t>
            </a:r>
            <a:r>
              <a:rPr lang="en-AU" sz="2400" dirty="0"/>
              <a:t> </a:t>
            </a:r>
            <a:r>
              <a:rPr lang="en-AU" sz="2400" dirty="0" err="1"/>
              <a:t>menjadi</a:t>
            </a:r>
            <a:r>
              <a:rPr lang="en-AU" sz="2400" dirty="0"/>
              <a:t> </a:t>
            </a:r>
            <a:r>
              <a:rPr lang="en-AU" sz="2400" dirty="0" err="1"/>
              <a:t>dua</a:t>
            </a:r>
            <a:r>
              <a:rPr lang="en-AU" sz="2400" dirty="0"/>
              <a:t> </a:t>
            </a:r>
            <a:r>
              <a:rPr lang="en-AU" sz="2400" dirty="0" err="1"/>
              <a:t>jenis</a:t>
            </a:r>
            <a:r>
              <a:rPr lang="en-AU" sz="2400" dirty="0"/>
              <a:t>: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1. </a:t>
            </a:r>
            <a:r>
              <a:rPr lang="en-US" sz="2400" b="1" dirty="0"/>
              <a:t>Graph </a:t>
            </a:r>
            <a:r>
              <a:rPr lang="en-US" sz="2400" b="1" dirty="0" err="1"/>
              <a:t>sederhana</a:t>
            </a:r>
            <a:r>
              <a:rPr lang="en-US" sz="2400" dirty="0"/>
              <a:t> (</a:t>
            </a:r>
            <a:r>
              <a:rPr lang="en-US" sz="2400" i="1" dirty="0"/>
              <a:t>simple graph</a:t>
            </a:r>
            <a:r>
              <a:rPr lang="en-US" sz="2400" dirty="0"/>
              <a:t>).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2. </a:t>
            </a:r>
            <a:r>
              <a:rPr lang="en-US" sz="2400" b="1" dirty="0"/>
              <a:t>Graph </a:t>
            </a:r>
            <a:r>
              <a:rPr lang="en-US" sz="2400" b="1" dirty="0" err="1"/>
              <a:t>tak-sederhana</a:t>
            </a:r>
            <a:r>
              <a:rPr lang="en-US" sz="2400" dirty="0"/>
              <a:t> (</a:t>
            </a:r>
            <a:r>
              <a:rPr lang="en-US" sz="2400" i="1" dirty="0" err="1"/>
              <a:t>unsimple</a:t>
            </a:r>
            <a:r>
              <a:rPr lang="en-US" sz="2400" i="1" dirty="0"/>
              <a:t>-graph</a:t>
            </a:r>
            <a:r>
              <a:rPr lang="en-US" sz="2400" dirty="0"/>
              <a:t>).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    </a:t>
            </a:r>
          </a:p>
          <a:p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081" y="447188"/>
            <a:ext cx="2811060" cy="25959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980" y="3448855"/>
            <a:ext cx="3921261" cy="30082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79081" y="447188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806488" y="3448855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2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5984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748" y="2615955"/>
            <a:ext cx="6834113" cy="3636511"/>
          </a:xfrm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sz="2800" dirty="0" err="1"/>
              <a:t>Berdasarkan</a:t>
            </a:r>
            <a:r>
              <a:rPr lang="en-US" sz="2800" dirty="0"/>
              <a:t> </a:t>
            </a:r>
            <a:r>
              <a:rPr lang="en-US" sz="2800" dirty="0" err="1"/>
              <a:t>orientasi</a:t>
            </a:r>
            <a:r>
              <a:rPr lang="en-US" sz="2800" dirty="0"/>
              <a:t> </a:t>
            </a:r>
            <a:r>
              <a:rPr lang="en-US" sz="2800" dirty="0" err="1"/>
              <a:t>arah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err="1"/>
              <a:t>sisi</a:t>
            </a:r>
            <a:r>
              <a:rPr lang="en-US" sz="2800" dirty="0"/>
              <a:t>, </a:t>
            </a:r>
            <a:r>
              <a:rPr lang="en-US" sz="2800" dirty="0" err="1"/>
              <a:t>maka</a:t>
            </a:r>
            <a:r>
              <a:rPr lang="en-US" sz="2800" dirty="0"/>
              <a:t>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dirty="0" err="1"/>
              <a:t>umum</a:t>
            </a:r>
            <a:r>
              <a:rPr lang="en-US" sz="2800" dirty="0"/>
              <a:t> graph  </a:t>
            </a:r>
            <a:r>
              <a:rPr lang="en-US" sz="2800" dirty="0" err="1"/>
              <a:t>dibedakan</a:t>
            </a:r>
            <a:r>
              <a:rPr lang="en-US" sz="2800" dirty="0"/>
              <a:t> </a:t>
            </a:r>
            <a:r>
              <a:rPr lang="en-US" sz="2800" dirty="0" err="1"/>
              <a:t>atas</a:t>
            </a:r>
            <a:r>
              <a:rPr lang="en-US" sz="2800" dirty="0"/>
              <a:t> 2 </a:t>
            </a:r>
            <a:r>
              <a:rPr lang="en-US" sz="2800" dirty="0" err="1"/>
              <a:t>jenis</a:t>
            </a:r>
            <a:r>
              <a:rPr lang="en-US" sz="2800" dirty="0"/>
              <a:t>:</a:t>
            </a:r>
          </a:p>
          <a:p>
            <a:pPr marL="0" indent="0">
              <a:buFont typeface="Wingdings" pitchFamily="2" charset="2"/>
              <a:buNone/>
            </a:pPr>
            <a:r>
              <a:rPr lang="en-US" sz="2800" dirty="0"/>
              <a:t>1.  </a:t>
            </a:r>
            <a:r>
              <a:rPr lang="en-US" sz="2800" b="1" dirty="0"/>
              <a:t>Graph</a:t>
            </a:r>
            <a:r>
              <a:rPr lang="en-US" sz="2800" dirty="0"/>
              <a:t> </a:t>
            </a:r>
            <a:r>
              <a:rPr lang="en-US" sz="2800" b="1" dirty="0" err="1"/>
              <a:t>tak-berarah</a:t>
            </a:r>
            <a:endParaRPr lang="en-US" sz="2800" b="1" dirty="0"/>
          </a:p>
          <a:p>
            <a:pPr marL="0" indent="0">
              <a:buFont typeface="Wingdings" pitchFamily="2" charset="2"/>
              <a:buNone/>
            </a:pPr>
            <a:r>
              <a:rPr lang="en-US" sz="2800" b="1" dirty="0"/>
              <a:t>          </a:t>
            </a:r>
            <a:r>
              <a:rPr lang="en-US" sz="2800" dirty="0"/>
              <a:t> (</a:t>
            </a:r>
            <a:r>
              <a:rPr lang="en-US" sz="2800" i="1" dirty="0"/>
              <a:t>undirected graph</a:t>
            </a:r>
            <a:r>
              <a:rPr lang="en-US" sz="2800" dirty="0"/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lang="en-US" sz="2800" dirty="0"/>
              <a:t>2.  </a:t>
            </a:r>
            <a:r>
              <a:rPr lang="en-US" sz="2800" b="1" dirty="0"/>
              <a:t>Graph </a:t>
            </a:r>
            <a:r>
              <a:rPr lang="en-US" sz="2800" b="1" dirty="0" err="1"/>
              <a:t>berarah</a:t>
            </a:r>
            <a:r>
              <a:rPr lang="en-US" sz="2800" dirty="0"/>
              <a:t> (</a:t>
            </a:r>
            <a:r>
              <a:rPr lang="en-US" sz="2800" i="1" dirty="0"/>
              <a:t>directed graph</a:t>
            </a:r>
          </a:p>
          <a:p>
            <a:pPr marL="0" indent="0">
              <a:buFont typeface="Wingdings" pitchFamily="2" charset="2"/>
              <a:buNone/>
            </a:pPr>
            <a:r>
              <a:rPr lang="en-US" sz="2800" i="1" dirty="0"/>
              <a:t>           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i="1" dirty="0"/>
              <a:t>digraph</a:t>
            </a:r>
            <a:r>
              <a:rPr lang="en-US" sz="2800" dirty="0"/>
              <a:t>)</a:t>
            </a:r>
          </a:p>
          <a:p>
            <a:pPr marL="0" indent="0">
              <a:buFont typeface="Wingdings" pitchFamily="2" charset="2"/>
              <a:buNone/>
            </a:pPr>
            <a:r>
              <a:rPr lang="en-US" sz="2800" dirty="0"/>
              <a:t>    </a:t>
            </a:r>
          </a:p>
          <a:p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582" y="1317977"/>
            <a:ext cx="2811060" cy="25959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582" y="4121438"/>
            <a:ext cx="2811060" cy="246224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97582" y="1280790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97581" y="3972545"/>
            <a:ext cx="5725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2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521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Ketetanggan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insidensi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Dua</a:t>
            </a:r>
            <a:r>
              <a:rPr lang="en-US" sz="2800" dirty="0"/>
              <a:t> </a:t>
            </a:r>
            <a:r>
              <a:rPr lang="en-US" sz="2800" dirty="0" err="1"/>
              <a:t>buah</a:t>
            </a:r>
            <a:r>
              <a:rPr lang="en-US" sz="2800" dirty="0"/>
              <a:t> </a:t>
            </a:r>
            <a:r>
              <a:rPr lang="en-US" sz="2800" dirty="0" err="1"/>
              <a:t>simpul</a:t>
            </a:r>
            <a:r>
              <a:rPr lang="en-US" sz="2800" dirty="0"/>
              <a:t> </a:t>
            </a:r>
            <a:r>
              <a:rPr lang="en-US" sz="2800" dirty="0" err="1"/>
              <a:t>dikatakan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bertetangga</a:t>
            </a:r>
            <a:r>
              <a:rPr lang="en-US" sz="2800" dirty="0"/>
              <a:t> </a:t>
            </a:r>
            <a:r>
              <a:rPr lang="en-US" sz="2800" dirty="0" err="1"/>
              <a:t>bila</a:t>
            </a:r>
            <a:r>
              <a:rPr lang="en-US" sz="2800" dirty="0"/>
              <a:t> </a:t>
            </a:r>
            <a:r>
              <a:rPr lang="en-US" sz="2800" dirty="0" err="1"/>
              <a:t>keduanya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FF0000"/>
                </a:solidFill>
              </a:rPr>
              <a:t>terhubung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langsung</a:t>
            </a:r>
            <a:r>
              <a:rPr lang="en-US" sz="2800" dirty="0"/>
              <a:t>. </a:t>
            </a:r>
            <a:r>
              <a:rPr lang="en-US" sz="2800" dirty="0" err="1"/>
              <a:t>Secara</a:t>
            </a:r>
            <a:r>
              <a:rPr lang="en-US" sz="2800" dirty="0"/>
              <a:t> formal v1 </a:t>
            </a:r>
            <a:r>
              <a:rPr lang="en-US" sz="2800" dirty="0" err="1"/>
              <a:t>bertetangga</a:t>
            </a:r>
            <a:r>
              <a:rPr lang="en-US" sz="2800" dirty="0"/>
              <a:t> (</a:t>
            </a:r>
            <a:r>
              <a:rPr lang="en-US" sz="2800" i="1" dirty="0">
                <a:solidFill>
                  <a:srgbClr val="FF0000"/>
                </a:solidFill>
              </a:rPr>
              <a:t>adjacent</a:t>
            </a:r>
            <a:r>
              <a:rPr lang="en-US" sz="2800" dirty="0"/>
              <a:t>) </a:t>
            </a:r>
            <a:r>
              <a:rPr lang="en-US" sz="2800" dirty="0" err="1"/>
              <a:t>dengan</a:t>
            </a:r>
            <a:r>
              <a:rPr lang="en-US" sz="2800" dirty="0"/>
              <a:t> v2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>
                <a:sym typeface="Symbol" pitchFamily="18" charset="2"/>
              </a:rPr>
              <a:t></a:t>
            </a:r>
            <a:r>
              <a:rPr lang="en-US" sz="2800" dirty="0"/>
              <a:t> e </a:t>
            </a:r>
            <a:r>
              <a:rPr lang="en-US" sz="2800" dirty="0">
                <a:sym typeface="Symbol" pitchFamily="18" charset="2"/>
              </a:rPr>
              <a:t></a:t>
            </a:r>
            <a:r>
              <a:rPr lang="en-US" sz="2800" dirty="0"/>
              <a:t> E </a:t>
            </a:r>
            <a:r>
              <a:rPr lang="en-US" sz="2800" dirty="0" err="1"/>
              <a:t>sedemikian</a:t>
            </a:r>
            <a:r>
              <a:rPr lang="en-US" sz="2800" dirty="0"/>
              <a:t> </a:t>
            </a:r>
            <a:r>
              <a:rPr lang="en-US" sz="2800" dirty="0" err="1"/>
              <a:t>sehingga</a:t>
            </a:r>
            <a:r>
              <a:rPr lang="en-US" sz="2800" dirty="0"/>
              <a:t> e=(v1,v2).</a:t>
            </a:r>
          </a:p>
          <a:p>
            <a:endParaRPr lang="en-US" sz="2800" dirty="0"/>
          </a:p>
          <a:p>
            <a:r>
              <a:rPr lang="en-US" sz="2800" dirty="0" err="1"/>
              <a:t>Untuk</a:t>
            </a:r>
            <a:r>
              <a:rPr lang="en-US" sz="2800" dirty="0"/>
              <a:t> e=(</a:t>
            </a:r>
            <a:r>
              <a:rPr lang="en-US" sz="2800" dirty="0" err="1"/>
              <a:t>vj,vk</a:t>
            </a:r>
            <a:r>
              <a:rPr lang="en-US" sz="2800" dirty="0"/>
              <a:t>) </a:t>
            </a:r>
            <a:r>
              <a:rPr lang="en-US" sz="2800" dirty="0" err="1"/>
              <a:t>maka</a:t>
            </a:r>
            <a:r>
              <a:rPr lang="en-US" sz="2800" dirty="0"/>
              <a:t> e </a:t>
            </a:r>
            <a:r>
              <a:rPr lang="en-US" sz="2800" dirty="0" err="1">
                <a:solidFill>
                  <a:srgbClr val="FF0000"/>
                </a:solidFill>
              </a:rPr>
              <a:t>bersisian</a:t>
            </a:r>
            <a:r>
              <a:rPr lang="en-US" sz="2800" dirty="0"/>
              <a:t> (</a:t>
            </a:r>
            <a:r>
              <a:rPr lang="en-US" sz="2800" i="1" dirty="0">
                <a:solidFill>
                  <a:srgbClr val="FF0000"/>
                </a:solidFill>
              </a:rPr>
              <a:t>incident</a:t>
            </a:r>
            <a:r>
              <a:rPr lang="en-US" sz="2800" dirty="0"/>
              <a:t>)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vj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e </a:t>
            </a:r>
            <a:r>
              <a:rPr lang="en-US" sz="2800" dirty="0" err="1"/>
              <a:t>bersisian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vk</a:t>
            </a:r>
            <a:r>
              <a:rPr lang="en-US" sz="2800" dirty="0"/>
              <a:t>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106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5754" y="5950692"/>
            <a:ext cx="5324178" cy="689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d(v1) = d(v2) = 3, d(v3)=4, d(v4)=0 </a:t>
            </a:r>
          </a:p>
          <a:p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840" y="3729081"/>
            <a:ext cx="3514137" cy="20508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984" y="3608595"/>
            <a:ext cx="2476500" cy="17240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599" y="2311749"/>
            <a:ext cx="115824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</a:rPr>
              <a:t>Derajat</a:t>
            </a:r>
            <a:r>
              <a:rPr lang="en-US" sz="2800" b="1" dirty="0"/>
              <a:t> : </a:t>
            </a:r>
            <a:r>
              <a:rPr lang="en-US" sz="2800" b="1" dirty="0" err="1"/>
              <a:t>banyaknya</a:t>
            </a:r>
            <a:r>
              <a:rPr lang="en-US" sz="2800" b="1" dirty="0"/>
              <a:t> </a:t>
            </a:r>
            <a:r>
              <a:rPr lang="en-US" sz="2800" b="1" dirty="0" err="1"/>
              <a:t>sisi</a:t>
            </a:r>
            <a:r>
              <a:rPr lang="en-US" sz="2800" b="1" dirty="0"/>
              <a:t> yang </a:t>
            </a:r>
            <a:r>
              <a:rPr lang="en-US" sz="2800" b="1" dirty="0" err="1"/>
              <a:t>bersisian</a:t>
            </a:r>
            <a:r>
              <a:rPr lang="en-US" sz="2800" b="1" dirty="0"/>
              <a:t> </a:t>
            </a:r>
            <a:r>
              <a:rPr lang="en-US" sz="2800" b="1" dirty="0" err="1"/>
              <a:t>dengan</a:t>
            </a:r>
            <a:r>
              <a:rPr lang="en-US" sz="2800" b="1" dirty="0"/>
              <a:t>  </a:t>
            </a:r>
            <a:r>
              <a:rPr lang="en-US" sz="2800" b="1" dirty="0" err="1"/>
              <a:t>simpul</a:t>
            </a:r>
            <a:r>
              <a:rPr lang="en-US" sz="2800" b="1" dirty="0"/>
              <a:t> </a:t>
            </a:r>
            <a:r>
              <a:rPr lang="en-US" sz="2800" b="1" dirty="0" err="1"/>
              <a:t>tersebut</a:t>
            </a:r>
            <a:endParaRPr lang="en-US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7606152" y="5717087"/>
            <a:ext cx="37758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din(v1)=1, </a:t>
            </a:r>
            <a:r>
              <a:rPr lang="en-US" b="1" dirty="0" err="1"/>
              <a:t>dout</a:t>
            </a:r>
            <a:r>
              <a:rPr lang="en-US" b="1" dirty="0"/>
              <a:t>(v1)=1, d(v1)=2</a:t>
            </a:r>
          </a:p>
          <a:p>
            <a:r>
              <a:rPr lang="en-US" b="1" dirty="0"/>
              <a:t>din(v2)=0, </a:t>
            </a:r>
            <a:r>
              <a:rPr lang="en-US" b="1" dirty="0" err="1"/>
              <a:t>dout</a:t>
            </a:r>
            <a:r>
              <a:rPr lang="en-US" b="1" dirty="0"/>
              <a:t>(v2)=2, d(v1)=2</a:t>
            </a:r>
          </a:p>
          <a:p>
            <a:r>
              <a:rPr lang="en-US" b="1" dirty="0"/>
              <a:t>din(v3)=3, </a:t>
            </a:r>
            <a:r>
              <a:rPr lang="en-US" b="1" dirty="0" err="1"/>
              <a:t>dout</a:t>
            </a:r>
            <a:r>
              <a:rPr lang="en-US" b="1" dirty="0"/>
              <a:t>(v2)=1, d(v2)=4</a:t>
            </a:r>
          </a:p>
        </p:txBody>
      </p:sp>
    </p:spTree>
    <p:extLst>
      <p:ext uri="{BB962C8B-B14F-4D97-AF65-F5344CB8AC3E}">
        <p14:creationId xmlns:p14="http://schemas.microsoft.com/office/powerpoint/2010/main" val="3494751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Matrik</a:t>
            </a:r>
            <a:r>
              <a:rPr lang="en-US" dirty="0"/>
              <a:t> </a:t>
            </a:r>
            <a:r>
              <a:rPr lang="en-US" dirty="0" err="1"/>
              <a:t>Ketetanggan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21" y="1814868"/>
            <a:ext cx="2674140" cy="25605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829" y="4638817"/>
            <a:ext cx="1685925" cy="1828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161" y="1557439"/>
            <a:ext cx="3262313" cy="25985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230" y="4359700"/>
            <a:ext cx="2162176" cy="230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59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Bersisian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3447" y="2350219"/>
            <a:ext cx="3608571" cy="36566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329" y="2350219"/>
            <a:ext cx="4154658" cy="350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</a:t>
            </a:r>
            <a:r>
              <a:rPr lang="en-US" dirty="0" err="1"/>
              <a:t>Ketetanggan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16" y="1800256"/>
            <a:ext cx="5947259" cy="3636511"/>
          </a:xfrm>
        </p:spPr>
        <p:txBody>
          <a:bodyPr/>
          <a:lstStyle/>
          <a:p>
            <a:r>
              <a:rPr lang="en-US" dirty="0"/>
              <a:t>Node :             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Edge :          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node.</a:t>
            </a:r>
          </a:p>
          <a:p>
            <a:pPr marL="0" indent="0">
              <a:buNone/>
            </a:pPr>
            <a:r>
              <a:rPr lang="en-US" dirty="0"/>
              <a:t>Edge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arah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arah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251" y="1051881"/>
            <a:ext cx="2438971" cy="24326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798" y="2213769"/>
            <a:ext cx="638175" cy="62865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033587" y="3900488"/>
            <a:ext cx="514349" cy="0"/>
          </a:xfrm>
          <a:prstGeom prst="straightConnector1">
            <a:avLst/>
          </a:prstGeom>
          <a:ln w="28575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426" y="1051881"/>
            <a:ext cx="2396747" cy="242887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1378428" y="3395003"/>
            <a:ext cx="514349" cy="0"/>
          </a:xfrm>
          <a:prstGeom prst="straightConnector1">
            <a:avLst/>
          </a:prstGeom>
          <a:ln w="28575"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314679" y="4268591"/>
            <a:ext cx="514349" cy="0"/>
          </a:xfrm>
          <a:prstGeom prst="straightConnector1">
            <a:avLst/>
          </a:prstGeom>
          <a:ln w="28575">
            <a:solidFill>
              <a:srgbClr val="FFFF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99379" y="405550"/>
            <a:ext cx="170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Graph </a:t>
            </a:r>
            <a:r>
              <a:rPr lang="en-US" b="1" dirty="0" err="1"/>
              <a:t>Tak</a:t>
            </a:r>
            <a:r>
              <a:rPr lang="en-US" b="1" dirty="0"/>
              <a:t> </a:t>
            </a:r>
            <a:r>
              <a:rPr lang="en-US" b="1" dirty="0" err="1"/>
              <a:t>Berarah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200361" y="405550"/>
            <a:ext cx="1704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Graph </a:t>
            </a:r>
            <a:r>
              <a:rPr lang="en-US" b="1" dirty="0" err="1"/>
              <a:t>Berarah</a:t>
            </a:r>
            <a:endParaRPr lang="en-US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379" y="3900488"/>
            <a:ext cx="4414129" cy="27009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3426" y="3480756"/>
            <a:ext cx="532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List </a:t>
            </a:r>
            <a:r>
              <a:rPr lang="en-US" b="1" dirty="0" err="1"/>
              <a:t>Ketetanggan</a:t>
            </a:r>
            <a:r>
              <a:rPr lang="en-US" b="1" dirty="0"/>
              <a:t> Graph </a:t>
            </a:r>
            <a:r>
              <a:rPr lang="en-US" b="1" dirty="0" err="1"/>
              <a:t>tak</a:t>
            </a:r>
            <a:r>
              <a:rPr lang="en-US" b="1" dirty="0"/>
              <a:t> </a:t>
            </a:r>
            <a:r>
              <a:rPr lang="en-US" b="1" dirty="0" err="1"/>
              <a:t>berarah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582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Contoh</a:t>
            </a:r>
            <a:r>
              <a:rPr lang="en-US" sz="3200" dirty="0"/>
              <a:t> Graph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Berarah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Multi Linked List 1 </a:t>
            </a:r>
            <a:r>
              <a:rPr lang="en-US" sz="3200" dirty="0" err="1"/>
              <a:t>ke</a:t>
            </a:r>
            <a:r>
              <a:rPr lang="en-US" sz="3200" dirty="0"/>
              <a:t> N </a:t>
            </a:r>
            <a:r>
              <a:rPr lang="en-US" sz="3200" dirty="0" err="1"/>
              <a:t>dengan</a:t>
            </a:r>
            <a:r>
              <a:rPr lang="en-US" sz="3200" dirty="0"/>
              <a:t>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2616553"/>
            <a:ext cx="1933575" cy="2847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061" y="1940279"/>
            <a:ext cx="6372225" cy="420052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3843338" y="3690496"/>
            <a:ext cx="800100" cy="700088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Contoh</a:t>
            </a:r>
            <a:r>
              <a:rPr lang="en-US" sz="3600" dirty="0"/>
              <a:t> Graph </a:t>
            </a:r>
            <a:r>
              <a:rPr lang="en-US" sz="3600" dirty="0" err="1"/>
              <a:t>Tidak</a:t>
            </a:r>
            <a:r>
              <a:rPr lang="en-US" sz="3600" dirty="0"/>
              <a:t> </a:t>
            </a:r>
            <a:r>
              <a:rPr lang="en-US" sz="3600" dirty="0" err="1"/>
              <a:t>Berarah</a:t>
            </a:r>
            <a:r>
              <a:rPr lang="en-US" sz="3600" dirty="0"/>
              <a:t> </a:t>
            </a:r>
            <a:r>
              <a:rPr lang="en-US" sz="3600" dirty="0" err="1"/>
              <a:t>menggunakan</a:t>
            </a:r>
            <a:r>
              <a:rPr lang="en-US" sz="3600" dirty="0"/>
              <a:t> Multi Linked List 1 </a:t>
            </a:r>
            <a:r>
              <a:rPr lang="en-US" sz="3600" dirty="0" err="1"/>
              <a:t>ke</a:t>
            </a:r>
            <a:r>
              <a:rPr lang="en-US" sz="3600" dirty="0"/>
              <a:t> N </a:t>
            </a:r>
            <a:r>
              <a:rPr lang="en-US" sz="3600" dirty="0" err="1"/>
              <a:t>dengan</a:t>
            </a:r>
            <a:r>
              <a:rPr lang="en-US" sz="3600" dirty="0"/>
              <a:t>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2616553"/>
            <a:ext cx="1933575" cy="2847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887" y="1924973"/>
            <a:ext cx="6211045" cy="423294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3843338" y="3690496"/>
            <a:ext cx="800100" cy="700088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90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Contoh</a:t>
            </a:r>
            <a:r>
              <a:rPr lang="en-US" sz="3600" dirty="0"/>
              <a:t> Graph </a:t>
            </a:r>
            <a:r>
              <a:rPr lang="en-US" sz="3600" dirty="0" err="1"/>
              <a:t>Berarah</a:t>
            </a:r>
            <a:r>
              <a:rPr lang="en-US" sz="3600" dirty="0"/>
              <a:t> </a:t>
            </a:r>
            <a:r>
              <a:rPr lang="en-US" sz="3600" dirty="0" err="1"/>
              <a:t>menggunakan</a:t>
            </a:r>
            <a:r>
              <a:rPr lang="en-US" sz="3600" dirty="0"/>
              <a:t> Multi Linked List 1 </a:t>
            </a:r>
            <a:r>
              <a:rPr lang="en-US" sz="3600" dirty="0" err="1"/>
              <a:t>ke</a:t>
            </a:r>
            <a:r>
              <a:rPr lang="en-US" sz="3600" dirty="0"/>
              <a:t> N </a:t>
            </a:r>
            <a:r>
              <a:rPr lang="en-US" sz="3600" dirty="0" err="1"/>
              <a:t>dengan</a:t>
            </a:r>
            <a:r>
              <a:rPr lang="en-US" sz="3600" dirty="0"/>
              <a:t>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6" y="2368461"/>
            <a:ext cx="2384400" cy="33441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314" y="2368463"/>
            <a:ext cx="7621595" cy="316285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3322833" y="3690496"/>
            <a:ext cx="800100" cy="700088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28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Graph </a:t>
            </a:r>
            <a:r>
              <a:rPr lang="en-US" dirty="0" err="1"/>
              <a:t>Berarah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Multi Linked List 1 </a:t>
            </a:r>
            <a:r>
              <a:rPr lang="en-US" dirty="0" err="1"/>
              <a:t>ke</a:t>
            </a:r>
            <a:r>
              <a:rPr lang="en-US" dirty="0"/>
              <a:t> N </a:t>
            </a:r>
            <a:r>
              <a:rPr lang="en-US" dirty="0" err="1"/>
              <a:t>dengan</a:t>
            </a:r>
            <a:r>
              <a:rPr lang="en-US" dirty="0"/>
              <a:t> pointer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6" y="2368461"/>
            <a:ext cx="2384400" cy="3344158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3144590" y="3690496"/>
            <a:ext cx="800100" cy="700088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933" y="2368461"/>
            <a:ext cx="7703384" cy="321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65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Pembentukan</a:t>
            </a:r>
            <a:r>
              <a:rPr lang="en-US" sz="3200" dirty="0"/>
              <a:t> Graph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Berarah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Multi Linked List 1 </a:t>
            </a:r>
            <a:r>
              <a:rPr lang="en-US" sz="3200" dirty="0" err="1"/>
              <a:t>ke</a:t>
            </a:r>
            <a:r>
              <a:rPr lang="en-US" sz="3200" dirty="0"/>
              <a:t> N </a:t>
            </a:r>
            <a:r>
              <a:rPr lang="en-US" sz="3200" dirty="0" err="1"/>
              <a:t>versi</a:t>
            </a:r>
            <a:r>
              <a:rPr lang="en-US" sz="3200" dirty="0"/>
              <a:t> info</a:t>
            </a:r>
          </a:p>
        </p:txBody>
      </p:sp>
      <p:sp>
        <p:nvSpPr>
          <p:cNvPr id="4" name="Oval 3"/>
          <p:cNvSpPr/>
          <p:nvPr/>
        </p:nvSpPr>
        <p:spPr>
          <a:xfrm>
            <a:off x="9303722" y="292481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8" y="2044238"/>
            <a:ext cx="1952625" cy="1095375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8962530" y="2708748"/>
            <a:ext cx="354842" cy="21606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02732" y="2390253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11" name="Oval 10"/>
          <p:cNvSpPr/>
          <p:nvPr/>
        </p:nvSpPr>
        <p:spPr>
          <a:xfrm>
            <a:off x="8553098" y="356423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98" y="2044238"/>
            <a:ext cx="3295650" cy="1095375"/>
          </a:xfrm>
          <a:prstGeom prst="rect">
            <a:avLst/>
          </a:prstGeom>
        </p:spPr>
      </p:pic>
      <p:cxnSp>
        <p:nvCxnSpPr>
          <p:cNvPr id="15" name="Straight Arrow Connector 14"/>
          <p:cNvCxnSpPr>
            <a:stCxn id="4" idx="3"/>
            <a:endCxn id="11" idx="7"/>
          </p:cNvCxnSpPr>
          <p:nvPr/>
        </p:nvCxnSpPr>
        <p:spPr>
          <a:xfrm flipH="1">
            <a:off x="9054008" y="3416037"/>
            <a:ext cx="335657" cy="232478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48" y="2044238"/>
            <a:ext cx="3314700" cy="209550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9945491" y="356423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48" y="2044238"/>
            <a:ext cx="4848225" cy="2085975"/>
          </a:xfrm>
          <a:prstGeom prst="rect">
            <a:avLst/>
          </a:prstGeom>
        </p:spPr>
      </p:pic>
      <p:cxnSp>
        <p:nvCxnSpPr>
          <p:cNvPr id="21" name="Straight Arrow Connector 20"/>
          <p:cNvCxnSpPr>
            <a:stCxn id="4" idx="5"/>
            <a:endCxn id="19" idx="1"/>
          </p:cNvCxnSpPr>
          <p:nvPr/>
        </p:nvCxnSpPr>
        <p:spPr>
          <a:xfrm>
            <a:off x="9804632" y="3416037"/>
            <a:ext cx="226802" cy="232478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573" y="2044238"/>
            <a:ext cx="4876800" cy="308610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9291891" y="4289815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107" y="2044238"/>
            <a:ext cx="6353175" cy="3086100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stCxn id="4" idx="4"/>
            <a:endCxn id="26" idx="0"/>
          </p:cNvCxnSpPr>
          <p:nvPr/>
        </p:nvCxnSpPr>
        <p:spPr>
          <a:xfrm flipH="1">
            <a:off x="9585318" y="3500318"/>
            <a:ext cx="11831" cy="789497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40" y="2011717"/>
            <a:ext cx="6343650" cy="4057650"/>
          </a:xfrm>
          <a:prstGeom prst="rect">
            <a:avLst/>
          </a:prstGeom>
        </p:spPr>
      </p:pic>
      <p:cxnSp>
        <p:nvCxnSpPr>
          <p:cNvPr id="32" name="Straight Arrow Connector 31"/>
          <p:cNvCxnSpPr>
            <a:endCxn id="26" idx="2"/>
          </p:cNvCxnSpPr>
          <p:nvPr/>
        </p:nvCxnSpPr>
        <p:spPr>
          <a:xfrm>
            <a:off x="8962530" y="4139738"/>
            <a:ext cx="329361" cy="437829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40" y="2044238"/>
            <a:ext cx="6461837" cy="3952875"/>
          </a:xfrm>
          <a:prstGeom prst="rect">
            <a:avLst/>
          </a:prstGeom>
        </p:spPr>
      </p:pic>
      <p:cxnSp>
        <p:nvCxnSpPr>
          <p:cNvPr id="37" name="Straight Arrow Connector 36"/>
          <p:cNvCxnSpPr>
            <a:stCxn id="19" idx="4"/>
            <a:endCxn id="26" idx="6"/>
          </p:cNvCxnSpPr>
          <p:nvPr/>
        </p:nvCxnSpPr>
        <p:spPr>
          <a:xfrm flipH="1">
            <a:off x="9878744" y="4139738"/>
            <a:ext cx="360174" cy="437829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Content Placeholder 39"/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84591" y="2005112"/>
            <a:ext cx="6542382" cy="410972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043863" y="2257425"/>
            <a:ext cx="3014662" cy="310038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8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11" grpId="0" animBg="1"/>
      <p:bldP spid="19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Hapus</a:t>
            </a:r>
            <a:r>
              <a:rPr lang="en-US" dirty="0"/>
              <a:t> Node </a:t>
            </a:r>
            <a:r>
              <a:rPr lang="en-US" dirty="0" err="1"/>
              <a:t>dan</a:t>
            </a:r>
            <a:r>
              <a:rPr lang="en-US" dirty="0"/>
              <a:t>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9303722" y="292481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8962530" y="2708748"/>
            <a:ext cx="354842" cy="21606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02732" y="2390253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8" name="Oval 7"/>
          <p:cNvSpPr/>
          <p:nvPr/>
        </p:nvSpPr>
        <p:spPr>
          <a:xfrm>
            <a:off x="8553098" y="356423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cxnSp>
        <p:nvCxnSpPr>
          <p:cNvPr id="9" name="Straight Arrow Connector 8"/>
          <p:cNvCxnSpPr>
            <a:stCxn id="5" idx="3"/>
            <a:endCxn id="8" idx="7"/>
          </p:cNvCxnSpPr>
          <p:nvPr/>
        </p:nvCxnSpPr>
        <p:spPr>
          <a:xfrm flipH="1">
            <a:off x="9054008" y="3416037"/>
            <a:ext cx="335657" cy="232478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945491" y="356423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1" name="Straight Arrow Connector 10"/>
          <p:cNvCxnSpPr>
            <a:stCxn id="5" idx="5"/>
            <a:endCxn id="10" idx="1"/>
          </p:cNvCxnSpPr>
          <p:nvPr/>
        </p:nvCxnSpPr>
        <p:spPr>
          <a:xfrm>
            <a:off x="9804632" y="3416037"/>
            <a:ext cx="226802" cy="232478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291891" y="4289815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13" name="Straight Arrow Connector 12"/>
          <p:cNvCxnSpPr>
            <a:stCxn id="5" idx="4"/>
            <a:endCxn id="12" idx="0"/>
          </p:cNvCxnSpPr>
          <p:nvPr/>
        </p:nvCxnSpPr>
        <p:spPr>
          <a:xfrm flipH="1">
            <a:off x="9585318" y="3500318"/>
            <a:ext cx="11831" cy="789497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2" idx="2"/>
          </p:cNvCxnSpPr>
          <p:nvPr/>
        </p:nvCxnSpPr>
        <p:spPr>
          <a:xfrm>
            <a:off x="8962530" y="4139738"/>
            <a:ext cx="329361" cy="437829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4"/>
            <a:endCxn id="12" idx="6"/>
          </p:cNvCxnSpPr>
          <p:nvPr/>
        </p:nvCxnSpPr>
        <p:spPr>
          <a:xfrm flipH="1">
            <a:off x="9878744" y="4139738"/>
            <a:ext cx="360174" cy="437829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43863" y="2257425"/>
            <a:ext cx="3014662" cy="310038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13" y="2043863"/>
            <a:ext cx="6610087" cy="399335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25" y="2000690"/>
            <a:ext cx="6754771" cy="403653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63" y="2015861"/>
            <a:ext cx="6855882" cy="412776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354" y="1986402"/>
            <a:ext cx="6896939" cy="415722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97" y="1960520"/>
            <a:ext cx="7007677" cy="418310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571" y="1937459"/>
            <a:ext cx="7023409" cy="420616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90" y="1960519"/>
            <a:ext cx="7040689" cy="424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8" grpId="1" animBg="1"/>
      <p:bldP spid="10" grpId="0" animBg="1"/>
      <p:bldP spid="12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Graph MLL 1 </a:t>
            </a:r>
            <a:r>
              <a:rPr lang="en-US" dirty="0" err="1"/>
              <a:t>ke</a:t>
            </a:r>
            <a:r>
              <a:rPr lang="en-US" dirty="0"/>
              <a:t> N </a:t>
            </a:r>
            <a:r>
              <a:rPr lang="en-US" dirty="0" err="1"/>
              <a:t>Versi</a:t>
            </a:r>
            <a:r>
              <a:rPr lang="en-US" dirty="0"/>
              <a:t>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4624826" cy="363651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List Parent </a:t>
            </a:r>
            <a:r>
              <a:rPr lang="en-US" b="1" dirty="0" err="1"/>
              <a:t>menyimpan</a:t>
            </a:r>
            <a:r>
              <a:rPr lang="en-US" b="1" dirty="0"/>
              <a:t> data Node yang </a:t>
            </a:r>
            <a:r>
              <a:rPr lang="en-US" b="1" dirty="0" err="1"/>
              <a:t>ada</a:t>
            </a:r>
            <a:r>
              <a:rPr lang="en-US" b="1" dirty="0"/>
              <a:t> di Graph</a:t>
            </a:r>
          </a:p>
          <a:p>
            <a:r>
              <a:rPr lang="en-US" b="1" dirty="0"/>
              <a:t>List Child </a:t>
            </a:r>
            <a:r>
              <a:rPr lang="en-US" b="1" dirty="0" err="1"/>
              <a:t>menyimpan</a:t>
            </a:r>
            <a:r>
              <a:rPr lang="en-US" b="1" dirty="0"/>
              <a:t> </a:t>
            </a:r>
            <a:r>
              <a:rPr lang="en-US" b="1" dirty="0" err="1"/>
              <a:t>tetangga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Node </a:t>
            </a:r>
            <a:r>
              <a:rPr lang="en-US" b="1" dirty="0" err="1"/>
              <a:t>pada</a:t>
            </a:r>
            <a:r>
              <a:rPr lang="en-US" b="1" dirty="0"/>
              <a:t> Parent </a:t>
            </a:r>
            <a:r>
              <a:rPr lang="en-US" b="1" dirty="0" err="1"/>
              <a:t>berbentuk</a:t>
            </a:r>
            <a:r>
              <a:rPr lang="en-US" b="1" dirty="0"/>
              <a:t> Info</a:t>
            </a:r>
          </a:p>
          <a:p>
            <a:pPr marL="0" indent="0">
              <a:buNone/>
            </a:pPr>
            <a:r>
              <a:rPr lang="en-US" b="1" dirty="0" err="1"/>
              <a:t>Contoh</a:t>
            </a:r>
            <a:r>
              <a:rPr lang="en-US" b="1" dirty="0"/>
              <a:t> :</a:t>
            </a:r>
          </a:p>
          <a:p>
            <a:r>
              <a:rPr lang="en-US" b="1" dirty="0" err="1"/>
              <a:t>Pada</a:t>
            </a:r>
            <a:r>
              <a:rPr lang="en-US" b="1" dirty="0"/>
              <a:t> graph </a:t>
            </a:r>
            <a:r>
              <a:rPr lang="en-US" b="1" dirty="0" err="1"/>
              <a:t>terlihat</a:t>
            </a:r>
            <a:r>
              <a:rPr lang="en-US" b="1" dirty="0"/>
              <a:t> </a:t>
            </a:r>
            <a:r>
              <a:rPr lang="en-US" b="1" dirty="0" err="1"/>
              <a:t>terdapat</a:t>
            </a:r>
            <a:r>
              <a:rPr lang="en-US" b="1" dirty="0"/>
              <a:t> 4 Node </a:t>
            </a:r>
            <a:r>
              <a:rPr lang="en-US" b="1" dirty="0" err="1"/>
              <a:t>yaitu</a:t>
            </a:r>
            <a:r>
              <a:rPr lang="en-US" b="1" dirty="0"/>
              <a:t> A, B, C, </a:t>
            </a:r>
            <a:r>
              <a:rPr lang="en-US" b="1" dirty="0" err="1"/>
              <a:t>dan</a:t>
            </a:r>
            <a:r>
              <a:rPr lang="en-US" b="1" dirty="0"/>
              <a:t> D. </a:t>
            </a:r>
            <a:r>
              <a:rPr lang="en-US" b="1" dirty="0" err="1"/>
              <a:t>Maka</a:t>
            </a:r>
            <a:r>
              <a:rPr lang="en-US" b="1" dirty="0"/>
              <a:t> </a:t>
            </a:r>
            <a:r>
              <a:rPr lang="en-US" b="1" dirty="0" err="1"/>
              <a:t>elemen</a:t>
            </a:r>
            <a:r>
              <a:rPr lang="en-US" b="1" dirty="0"/>
              <a:t> list parent </a:t>
            </a:r>
            <a:r>
              <a:rPr lang="en-US" b="1" dirty="0" err="1"/>
              <a:t>terdiri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A, B, C, </a:t>
            </a:r>
            <a:r>
              <a:rPr lang="en-US" b="1" dirty="0" err="1"/>
              <a:t>dan</a:t>
            </a:r>
            <a:r>
              <a:rPr lang="en-US" b="1" dirty="0"/>
              <a:t> D</a:t>
            </a:r>
          </a:p>
          <a:p>
            <a:r>
              <a:rPr lang="en-US" b="1" dirty="0" err="1"/>
              <a:t>Pada</a:t>
            </a:r>
            <a:r>
              <a:rPr lang="en-US" b="1" dirty="0"/>
              <a:t> graph </a:t>
            </a:r>
            <a:r>
              <a:rPr lang="en-US" b="1" dirty="0" err="1"/>
              <a:t>terlihat</a:t>
            </a:r>
            <a:r>
              <a:rPr lang="en-US" b="1" dirty="0"/>
              <a:t> Node B </a:t>
            </a:r>
            <a:r>
              <a:rPr lang="en-US" b="1" dirty="0" err="1"/>
              <a:t>bertetangga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Node A </a:t>
            </a:r>
            <a:r>
              <a:rPr lang="en-US" b="1" dirty="0" err="1"/>
              <a:t>dan</a:t>
            </a:r>
            <a:r>
              <a:rPr lang="en-US" b="1" dirty="0"/>
              <a:t> D, </a:t>
            </a:r>
            <a:r>
              <a:rPr lang="en-US" b="1" dirty="0" err="1"/>
              <a:t>maka</a:t>
            </a:r>
            <a:r>
              <a:rPr lang="en-US" b="1" dirty="0"/>
              <a:t> </a:t>
            </a:r>
            <a:r>
              <a:rPr lang="en-US" b="1" dirty="0" err="1"/>
              <a:t>elemen</a:t>
            </a:r>
            <a:r>
              <a:rPr lang="en-US" b="1" dirty="0"/>
              <a:t> child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elemen</a:t>
            </a:r>
            <a:r>
              <a:rPr lang="en-US" b="1" dirty="0"/>
              <a:t> parent B </a:t>
            </a:r>
            <a:r>
              <a:rPr lang="en-US" b="1" dirty="0" err="1"/>
              <a:t>adalah</a:t>
            </a:r>
            <a:r>
              <a:rPr lang="en-US" b="1" dirty="0"/>
              <a:t> A </a:t>
            </a:r>
            <a:r>
              <a:rPr lang="en-US" b="1" dirty="0" err="1"/>
              <a:t>dan</a:t>
            </a:r>
            <a:r>
              <a:rPr lang="en-US" b="1" dirty="0"/>
              <a:t> D</a:t>
            </a:r>
          </a:p>
        </p:txBody>
      </p:sp>
      <p:pic>
        <p:nvPicPr>
          <p:cNvPr id="4" name="Content Placeholder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024" y="3614737"/>
            <a:ext cx="4937063" cy="310131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445" y="1514832"/>
            <a:ext cx="1976219" cy="20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3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0512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Data Graph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Type </a:t>
            </a:r>
            <a:r>
              <a:rPr lang="en-US" b="1" dirty="0" err="1"/>
              <a:t>InfotypeNode</a:t>
            </a:r>
            <a:r>
              <a:rPr lang="en-US" b="1" dirty="0"/>
              <a:t> : ………….</a:t>
            </a:r>
          </a:p>
          <a:p>
            <a:pPr marL="0" indent="0">
              <a:buNone/>
            </a:pPr>
            <a:r>
              <a:rPr lang="en-US" b="1" dirty="0"/>
              <a:t>Type </a:t>
            </a:r>
            <a:r>
              <a:rPr lang="en-US" b="1" dirty="0" err="1"/>
              <a:t>InfotypeEdge</a:t>
            </a:r>
            <a:r>
              <a:rPr lang="en-US" b="1" dirty="0"/>
              <a:t> : ………….</a:t>
            </a:r>
          </a:p>
          <a:p>
            <a:pPr marL="0" indent="0">
              <a:buNone/>
            </a:pPr>
            <a:r>
              <a:rPr lang="en-US" b="1" dirty="0"/>
              <a:t>Type adrNode : pointer to </a:t>
            </a:r>
            <a:r>
              <a:rPr lang="en-US" b="1" dirty="0" err="1"/>
              <a:t>elmtNode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Type </a:t>
            </a:r>
            <a:r>
              <a:rPr lang="en-US" b="1" dirty="0" err="1"/>
              <a:t>adrEdge</a:t>
            </a:r>
            <a:r>
              <a:rPr lang="en-US" b="1" dirty="0"/>
              <a:t> : pointer to </a:t>
            </a:r>
            <a:r>
              <a:rPr lang="en-US" b="1" dirty="0" err="1"/>
              <a:t>elmtEdge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Type </a:t>
            </a:r>
            <a:r>
              <a:rPr lang="en-US" b="1" dirty="0" err="1"/>
              <a:t>elmtNode</a:t>
            </a:r>
            <a:r>
              <a:rPr lang="en-US" b="1" dirty="0"/>
              <a:t> : &lt; Info : </a:t>
            </a:r>
            <a:r>
              <a:rPr lang="en-US" b="1" dirty="0" err="1"/>
              <a:t>infotypeNode</a:t>
            </a:r>
            <a:r>
              <a:rPr lang="en-US" b="1" dirty="0"/>
              <a:t>,</a:t>
            </a:r>
          </a:p>
          <a:p>
            <a:pPr marL="0" indent="0">
              <a:buNone/>
            </a:pPr>
            <a:r>
              <a:rPr lang="en-US" b="1" dirty="0"/>
              <a:t>				   firstEdge : adrEdge,</a:t>
            </a:r>
          </a:p>
          <a:p>
            <a:pPr marL="0" indent="0">
              <a:buNone/>
            </a:pPr>
            <a:r>
              <a:rPr lang="en-US" b="1" dirty="0"/>
              <a:t>				   </a:t>
            </a:r>
            <a:r>
              <a:rPr lang="en-US" b="1" dirty="0" err="1"/>
              <a:t>nextNode</a:t>
            </a:r>
            <a:r>
              <a:rPr lang="en-US" b="1" dirty="0"/>
              <a:t> : adrNode&gt;</a:t>
            </a:r>
          </a:p>
          <a:p>
            <a:pPr marL="0" indent="0">
              <a:buNone/>
            </a:pPr>
            <a:r>
              <a:rPr lang="en-US" b="1" dirty="0"/>
              <a:t>Type </a:t>
            </a:r>
            <a:r>
              <a:rPr lang="en-US" b="1" dirty="0" err="1"/>
              <a:t>elmtEdge</a:t>
            </a:r>
            <a:r>
              <a:rPr lang="en-US" b="1" dirty="0"/>
              <a:t> : &lt; Info : </a:t>
            </a:r>
            <a:r>
              <a:rPr lang="en-US" b="1" dirty="0" err="1"/>
              <a:t>infotypeEdge</a:t>
            </a:r>
            <a:r>
              <a:rPr lang="en-US" b="1" dirty="0"/>
              <a:t>,</a:t>
            </a:r>
          </a:p>
          <a:p>
            <a:pPr marL="0" indent="0">
              <a:buNone/>
            </a:pPr>
            <a:r>
              <a:rPr lang="en-US" b="1" dirty="0"/>
              <a:t>				  nextEdge : adrEdge&gt;</a:t>
            </a:r>
          </a:p>
          <a:p>
            <a:pPr marL="0" indent="0">
              <a:buNone/>
            </a:pPr>
            <a:r>
              <a:rPr lang="en-US" b="1" dirty="0"/>
              <a:t>Type Graph : &lt; Start : adrNode&gt;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360" y="1270320"/>
            <a:ext cx="2396747" cy="2428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545" y="3703541"/>
            <a:ext cx="4414129" cy="270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58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Graph MLL 1 </a:t>
            </a:r>
            <a:r>
              <a:rPr lang="en-US" dirty="0" err="1"/>
              <a:t>ke</a:t>
            </a:r>
            <a:r>
              <a:rPr lang="en-US" dirty="0"/>
              <a:t> N </a:t>
            </a:r>
            <a:r>
              <a:rPr lang="en-US" dirty="0" err="1"/>
              <a:t>Versi</a:t>
            </a:r>
            <a:r>
              <a:rPr lang="en-US" dirty="0"/>
              <a:t>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7393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/>
              <a:t>Primitf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ADT Graph </a:t>
            </a:r>
            <a:r>
              <a:rPr lang="en-US" dirty="0" err="1"/>
              <a:t>adalah</a:t>
            </a:r>
            <a:r>
              <a:rPr lang="en-US" dirty="0"/>
              <a:t> :</a:t>
            </a:r>
          </a:p>
          <a:p>
            <a:r>
              <a:rPr lang="en-US" b="1" dirty="0"/>
              <a:t>Create Graph </a:t>
            </a:r>
            <a:r>
              <a:rPr lang="en-US" dirty="0"/>
              <a:t>: Me-NULL-</a:t>
            </a:r>
            <a:r>
              <a:rPr lang="en-US" dirty="0" err="1"/>
              <a:t>kan</a:t>
            </a:r>
            <a:r>
              <a:rPr lang="en-US" dirty="0"/>
              <a:t> pointer Start</a:t>
            </a:r>
          </a:p>
          <a:p>
            <a:r>
              <a:rPr lang="en-US" b="1" dirty="0" err="1"/>
              <a:t>Alokasi</a:t>
            </a:r>
            <a:r>
              <a:rPr lang="en-US" b="1" dirty="0"/>
              <a:t> Node </a:t>
            </a:r>
            <a:r>
              <a:rPr lang="en-US" dirty="0"/>
              <a:t>: </a:t>
            </a:r>
            <a:r>
              <a:rPr lang="en-US" dirty="0" err="1"/>
              <a:t>alokasi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parent</a:t>
            </a:r>
          </a:p>
          <a:p>
            <a:r>
              <a:rPr lang="en-US" b="1" dirty="0" err="1"/>
              <a:t>Alokasi</a:t>
            </a:r>
            <a:r>
              <a:rPr lang="en-US" b="1" dirty="0"/>
              <a:t> edge </a:t>
            </a:r>
            <a:r>
              <a:rPr lang="en-US" dirty="0"/>
              <a:t>: </a:t>
            </a:r>
            <a:r>
              <a:rPr lang="en-US" dirty="0" err="1"/>
              <a:t>alokasi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child</a:t>
            </a:r>
          </a:p>
          <a:p>
            <a:r>
              <a:rPr lang="en-US" b="1" dirty="0"/>
              <a:t>Add New Node</a:t>
            </a:r>
            <a:r>
              <a:rPr lang="en-US" dirty="0"/>
              <a:t> : Insert Last List Parent</a:t>
            </a:r>
          </a:p>
          <a:p>
            <a:r>
              <a:rPr lang="en-US" b="1" dirty="0" err="1"/>
              <a:t>FindNode</a:t>
            </a:r>
            <a:r>
              <a:rPr lang="en-US" b="1" dirty="0"/>
              <a:t> </a:t>
            </a:r>
            <a:r>
              <a:rPr lang="en-US" dirty="0"/>
              <a:t>: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node </a:t>
            </a:r>
            <a:r>
              <a:rPr lang="en-US" dirty="0" err="1"/>
              <a:t>tertentu</a:t>
            </a:r>
            <a:endParaRPr lang="en-US" dirty="0"/>
          </a:p>
          <a:p>
            <a:r>
              <a:rPr lang="en-US" b="1" dirty="0"/>
              <a:t>Insert Last Edge </a:t>
            </a:r>
            <a:r>
              <a:rPr lang="en-US" dirty="0"/>
              <a:t>: </a:t>
            </a:r>
            <a:r>
              <a:rPr lang="en-US" dirty="0" err="1"/>
              <a:t>meng</a:t>
            </a:r>
            <a:r>
              <a:rPr lang="en-US" dirty="0"/>
              <a:t> </a:t>
            </a:r>
            <a:r>
              <a:rPr lang="en-US" dirty="0" err="1"/>
              <a:t>insertkan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edge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terkahir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parent </a:t>
            </a:r>
            <a:r>
              <a:rPr lang="en-US" dirty="0" err="1"/>
              <a:t>tertentu</a:t>
            </a:r>
            <a:endParaRPr lang="en-US" dirty="0"/>
          </a:p>
          <a:p>
            <a:r>
              <a:rPr lang="en-US" b="1" dirty="0"/>
              <a:t>Connecting </a:t>
            </a:r>
            <a:r>
              <a:rPr lang="en-US" dirty="0"/>
              <a:t>two nodes / add edge : Insert Last Child </a:t>
            </a:r>
            <a:r>
              <a:rPr lang="en-US" dirty="0" err="1"/>
              <a:t>pada</a:t>
            </a:r>
            <a:r>
              <a:rPr lang="en-US" dirty="0"/>
              <a:t> 2 </a:t>
            </a:r>
            <a:r>
              <a:rPr lang="en-US" dirty="0" err="1"/>
              <a:t>elemen</a:t>
            </a:r>
            <a:r>
              <a:rPr lang="en-US" dirty="0"/>
              <a:t> parent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terhubung</a:t>
            </a:r>
            <a:endParaRPr lang="en-US" dirty="0"/>
          </a:p>
          <a:p>
            <a:r>
              <a:rPr lang="en-US" b="1" dirty="0"/>
              <a:t>deleteEdge </a:t>
            </a:r>
            <a:r>
              <a:rPr lang="en-US" dirty="0"/>
              <a:t>: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child/edge,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edge di first, di </a:t>
            </a:r>
            <a:r>
              <a:rPr lang="en-US" dirty="0" err="1"/>
              <a:t>akhir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edge (after)</a:t>
            </a:r>
          </a:p>
          <a:p>
            <a:r>
              <a:rPr lang="en-US" b="1" dirty="0"/>
              <a:t>Disconnecting</a:t>
            </a:r>
            <a:r>
              <a:rPr lang="en-US" dirty="0"/>
              <a:t>/delete edge: Delete 2 </a:t>
            </a:r>
            <a:r>
              <a:rPr lang="en-US" dirty="0" err="1"/>
              <a:t>elemen</a:t>
            </a:r>
            <a:r>
              <a:rPr lang="en-US" dirty="0"/>
              <a:t> child </a:t>
            </a:r>
            <a:r>
              <a:rPr lang="en-US" dirty="0" err="1"/>
              <a:t>dari</a:t>
            </a:r>
            <a:r>
              <a:rPr lang="en-US" dirty="0"/>
              <a:t> 2 </a:t>
            </a:r>
            <a:r>
              <a:rPr lang="en-US" dirty="0" err="1"/>
              <a:t>Elemen</a:t>
            </a:r>
            <a:r>
              <a:rPr lang="en-US" dirty="0"/>
              <a:t> parent (2 node yang </a:t>
            </a:r>
            <a:r>
              <a:rPr lang="en-US" dirty="0" err="1"/>
              <a:t>terputus</a:t>
            </a:r>
            <a:r>
              <a:rPr lang="en-US" dirty="0"/>
              <a:t>).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child </a:t>
            </a:r>
            <a:r>
              <a:rPr lang="en-US" dirty="0" err="1"/>
              <a:t>bisa</a:t>
            </a:r>
            <a:r>
              <a:rPr lang="en-US" dirty="0"/>
              <a:t> di First, </a:t>
            </a:r>
            <a:r>
              <a:rPr lang="en-US" dirty="0" err="1"/>
              <a:t>akhir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.</a:t>
            </a:r>
          </a:p>
          <a:p>
            <a:r>
              <a:rPr lang="en-US" b="1" dirty="0"/>
              <a:t>Delete Node </a:t>
            </a:r>
            <a:r>
              <a:rPr lang="en-US" dirty="0"/>
              <a:t>: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parent,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child yang </a:t>
            </a:r>
            <a:r>
              <a:rPr lang="en-US" dirty="0" err="1"/>
              <a:t>berisi</a:t>
            </a:r>
            <a:r>
              <a:rPr lang="en-US" dirty="0"/>
              <a:t> info node yang di delete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parent.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parent </a:t>
            </a:r>
            <a:r>
              <a:rPr lang="en-US" dirty="0" err="1"/>
              <a:t>maupun</a:t>
            </a:r>
            <a:r>
              <a:rPr lang="en-US" dirty="0"/>
              <a:t> child </a:t>
            </a:r>
            <a:r>
              <a:rPr lang="en-US" dirty="0" err="1"/>
              <a:t>bisa</a:t>
            </a:r>
            <a:r>
              <a:rPr lang="en-US" dirty="0"/>
              <a:t> di First, </a:t>
            </a:r>
            <a:r>
              <a:rPr lang="en-US" dirty="0" err="1"/>
              <a:t>akhir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diantara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.</a:t>
            </a:r>
          </a:p>
          <a:p>
            <a:r>
              <a:rPr lang="en-US" b="1" dirty="0" err="1"/>
              <a:t>ShowTetangga</a:t>
            </a:r>
            <a:r>
              <a:rPr lang="en-US" dirty="0"/>
              <a:t> : </a:t>
            </a:r>
            <a:r>
              <a:rPr lang="en-US" dirty="0" err="1"/>
              <a:t>menampilkan</a:t>
            </a:r>
            <a:r>
              <a:rPr lang="en-US" dirty="0"/>
              <a:t> node </a:t>
            </a:r>
            <a:r>
              <a:rPr lang="en-US" dirty="0" err="1"/>
              <a:t>tetanga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node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graph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539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908388" cy="970450"/>
          </a:xfrm>
        </p:spPr>
        <p:txBody>
          <a:bodyPr/>
          <a:lstStyle/>
          <a:p>
            <a:r>
              <a:rPr lang="en-US" dirty="0"/>
              <a:t>Create Graph, </a:t>
            </a:r>
            <a:r>
              <a:rPr lang="en-US" dirty="0" err="1"/>
              <a:t>Alokasi</a:t>
            </a:r>
            <a:r>
              <a:rPr lang="en-US" dirty="0"/>
              <a:t> Node, </a:t>
            </a:r>
            <a:r>
              <a:rPr lang="en-US" dirty="0" err="1"/>
              <a:t>Alokasi</a:t>
            </a:r>
            <a:r>
              <a:rPr lang="en-US" dirty="0"/>
              <a:t>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904" y="1652298"/>
            <a:ext cx="4920906" cy="1561922"/>
          </a:xfrm>
          <a:solidFill>
            <a:srgbClr val="99CCFF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ysClr val="windowText" lastClr="000000"/>
                </a:solidFill>
              </a:rPr>
              <a:t>Procedure </a:t>
            </a:r>
            <a:r>
              <a:rPr lang="en-US" b="1" dirty="0" err="1">
                <a:solidFill>
                  <a:sysClr val="windowText" lastClr="000000"/>
                </a:solidFill>
              </a:rPr>
              <a:t>createGraph</a:t>
            </a:r>
            <a:r>
              <a:rPr lang="en-US" b="1" dirty="0">
                <a:solidFill>
                  <a:sysClr val="windowText" lastClr="000000"/>
                </a:solidFill>
              </a:rPr>
              <a:t>(in/out G : Graph)</a:t>
            </a:r>
          </a:p>
          <a:p>
            <a:pPr marL="0" indent="0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Algoritma</a:t>
            </a:r>
          </a:p>
          <a:p>
            <a:pPr marL="0" indent="0">
              <a:buNone/>
            </a:pPr>
            <a:r>
              <a:rPr lang="en-US" dirty="0">
                <a:solidFill>
                  <a:sysClr val="windowText" lastClr="000000"/>
                </a:solidFill>
              </a:rPr>
              <a:t>Start(G)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 NULL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80095" y="2645768"/>
            <a:ext cx="6968197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b="1" dirty="0">
                <a:ln/>
                <a:solidFill>
                  <a:schemeClr val="bg1"/>
                </a:solidFill>
              </a:rPr>
              <a:t>Function </a:t>
            </a:r>
            <a:r>
              <a:rPr lang="en-US" b="1" dirty="0" err="1">
                <a:ln/>
                <a:solidFill>
                  <a:schemeClr val="bg1"/>
                </a:solidFill>
              </a:rPr>
              <a:t>aLokasiNode</a:t>
            </a:r>
            <a:r>
              <a:rPr lang="en-US" b="1" dirty="0">
                <a:ln/>
                <a:solidFill>
                  <a:schemeClr val="bg1"/>
                </a:solidFill>
              </a:rPr>
              <a:t>(</a:t>
            </a:r>
            <a:r>
              <a:rPr lang="en-US" b="1" dirty="0" err="1">
                <a:ln/>
                <a:solidFill>
                  <a:schemeClr val="bg1"/>
                </a:solidFill>
              </a:rPr>
              <a:t>infoNode</a:t>
            </a:r>
            <a:r>
              <a:rPr lang="en-US" b="1" dirty="0">
                <a:ln/>
                <a:solidFill>
                  <a:schemeClr val="bg1"/>
                </a:solidFill>
              </a:rPr>
              <a:t>: </a:t>
            </a:r>
            <a:r>
              <a:rPr lang="en-US" b="1" dirty="0" err="1">
                <a:ln/>
                <a:solidFill>
                  <a:schemeClr val="bg1"/>
                </a:solidFill>
              </a:rPr>
              <a:t>infotypeNode</a:t>
            </a:r>
            <a:r>
              <a:rPr lang="en-US" b="1" dirty="0">
                <a:ln/>
                <a:solidFill>
                  <a:schemeClr val="bg1"/>
                </a:solidFill>
              </a:rPr>
              <a:t>)</a:t>
            </a:r>
            <a:r>
              <a:rPr lang="en-US" b="1" dirty="0">
                <a:ln/>
                <a:solidFill>
                  <a:schemeClr val="bg1"/>
                </a:solidFill>
                <a:sym typeface="Wingdings" panose="05000000000000000000" pitchFamily="2" charset="2"/>
              </a:rPr>
              <a:t> adrNode</a:t>
            </a:r>
          </a:p>
          <a:p>
            <a:r>
              <a:rPr lang="en-US" b="1" dirty="0">
                <a:ln/>
                <a:solidFill>
                  <a:schemeClr val="bg1"/>
                </a:solidFill>
                <a:sym typeface="Wingdings" panose="05000000000000000000" pitchFamily="2" charset="2"/>
              </a:rPr>
              <a:t>Kamus </a:t>
            </a:r>
          </a:p>
          <a:p>
            <a:r>
              <a:rPr lang="en-US" dirty="0">
                <a:ln/>
                <a:solidFill>
                  <a:schemeClr val="bg1"/>
                </a:solidFill>
                <a:sym typeface="Wingdings" panose="05000000000000000000" pitchFamily="2" charset="2"/>
              </a:rPr>
              <a:t>P : adrNode</a:t>
            </a:r>
          </a:p>
          <a:p>
            <a:r>
              <a:rPr lang="en-US" b="1" dirty="0">
                <a:ln/>
                <a:solidFill>
                  <a:schemeClr val="bg1"/>
                </a:solidFill>
                <a:sym typeface="Wingdings" panose="05000000000000000000" pitchFamily="2" charset="2"/>
              </a:rPr>
              <a:t>Algoritma </a:t>
            </a:r>
          </a:p>
          <a:p>
            <a:r>
              <a:rPr lang="en-US" dirty="0" err="1">
                <a:ln/>
                <a:solidFill>
                  <a:schemeClr val="bg1"/>
                </a:solidFill>
                <a:sym typeface="Wingdings" panose="05000000000000000000" pitchFamily="2" charset="2"/>
              </a:rPr>
              <a:t>Pnew</a:t>
            </a:r>
            <a:r>
              <a:rPr lang="en-US" dirty="0">
                <a:ln/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ln/>
                <a:solidFill>
                  <a:schemeClr val="bg1"/>
                </a:solidFill>
                <a:sym typeface="Wingdings" panose="05000000000000000000" pitchFamily="2" charset="2"/>
              </a:rPr>
              <a:t>elmtNode</a:t>
            </a:r>
            <a:endParaRPr lang="en-US" dirty="0">
              <a:ln/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dirty="0">
                <a:ln/>
                <a:solidFill>
                  <a:schemeClr val="bg1"/>
                </a:solidFill>
                <a:sym typeface="Wingdings" panose="05000000000000000000" pitchFamily="2" charset="2"/>
              </a:rPr>
              <a:t>Info(P)</a:t>
            </a:r>
            <a:r>
              <a:rPr lang="en-US" dirty="0" err="1">
                <a:ln/>
                <a:solidFill>
                  <a:schemeClr val="bg1"/>
                </a:solidFill>
                <a:sym typeface="Wingdings" panose="05000000000000000000" pitchFamily="2" charset="2"/>
              </a:rPr>
              <a:t>infoNode</a:t>
            </a:r>
            <a:endParaRPr lang="en-US" dirty="0">
              <a:ln/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dirty="0" err="1">
                <a:ln/>
                <a:solidFill>
                  <a:schemeClr val="bg1"/>
                </a:solidFill>
                <a:sym typeface="Wingdings" panose="05000000000000000000" pitchFamily="2" charset="2"/>
              </a:rPr>
              <a:t>firstEdge</a:t>
            </a:r>
            <a:r>
              <a:rPr lang="en-US" dirty="0">
                <a:ln/>
                <a:solidFill>
                  <a:schemeClr val="bg1"/>
                </a:solidFill>
                <a:sym typeface="Wingdings" panose="05000000000000000000" pitchFamily="2" charset="2"/>
              </a:rPr>
              <a:t>(P)NULL</a:t>
            </a:r>
          </a:p>
          <a:p>
            <a:r>
              <a:rPr lang="en-US" dirty="0" err="1">
                <a:ln/>
                <a:solidFill>
                  <a:schemeClr val="bg1"/>
                </a:solidFill>
                <a:sym typeface="Wingdings" panose="05000000000000000000" pitchFamily="2" charset="2"/>
              </a:rPr>
              <a:t>nextNodeNULL</a:t>
            </a:r>
            <a:endParaRPr lang="en-US" dirty="0">
              <a:ln/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dirty="0">
                <a:ln/>
                <a:solidFill>
                  <a:schemeClr val="bg1"/>
                </a:solidFill>
                <a:sym typeface="Wingdings" panose="05000000000000000000" pitchFamily="2" charset="2"/>
              </a:rPr>
              <a:t> P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0834" y="3938430"/>
            <a:ext cx="6788908" cy="23083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Function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alokasiEdge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(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infoEdge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: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infotypeEdge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) adrEdge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 : adrEdge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</a:p>
          <a:p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Pnew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elmtEdge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Info(P)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infoEdge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nextNodeNULL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 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22" y="3888629"/>
            <a:ext cx="1457325" cy="5429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247" y="5533968"/>
            <a:ext cx="1028700" cy="1152525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5400000">
            <a:off x="1123924" y="3056251"/>
            <a:ext cx="605754" cy="434395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ight Arrow 10"/>
          <p:cNvSpPr/>
          <p:nvPr/>
        </p:nvSpPr>
        <p:spPr>
          <a:xfrm rot="18728736">
            <a:off x="9476343" y="2294960"/>
            <a:ext cx="605754" cy="434395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ight Arrow 11"/>
          <p:cNvSpPr/>
          <p:nvPr/>
        </p:nvSpPr>
        <p:spPr>
          <a:xfrm rot="2872829">
            <a:off x="10700610" y="4994010"/>
            <a:ext cx="605754" cy="434395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377" y="1529818"/>
            <a:ext cx="12763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20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New Node (Insert Last Parent)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218005" y="2049871"/>
            <a:ext cx="6788908" cy="31393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addNewNode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(In/Out G : Graph, In P : adrNode)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Q : adrNode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 (Start(G) =NULL)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Srtart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(G) P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QStart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(G)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While(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nextNode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(Q) != NULL) do</a:t>
            </a:r>
            <a:b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QnextNode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(Q)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nextNode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(Q)P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5379" y="3335949"/>
            <a:ext cx="1266825" cy="93345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737853" y="2559946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96661" y="2343880"/>
            <a:ext cx="354842" cy="21606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36863" y="2025385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10" name="Oval 9"/>
          <p:cNvSpPr/>
          <p:nvPr/>
        </p:nvSpPr>
        <p:spPr>
          <a:xfrm>
            <a:off x="10141251" y="2539475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6863" y="1993599"/>
            <a:ext cx="3365341" cy="123311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5400000">
            <a:off x="9456270" y="4221394"/>
            <a:ext cx="494129" cy="484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005752" y="4836049"/>
            <a:ext cx="337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Setelah</a:t>
            </a:r>
            <a:r>
              <a:rPr lang="en-US" dirty="0"/>
              <a:t> node </a:t>
            </a:r>
            <a:r>
              <a:rPr lang="en-US" dirty="0" err="1"/>
              <a:t>baru</a:t>
            </a:r>
            <a:r>
              <a:rPr lang="en-US" dirty="0"/>
              <a:t> di add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7904415" y="3335949"/>
            <a:ext cx="1666875" cy="942975"/>
            <a:chOff x="7904415" y="3335949"/>
            <a:chExt cx="1666875" cy="942975"/>
          </a:xfrm>
        </p:grpSpPr>
        <p:pic>
          <p:nvPicPr>
            <p:cNvPr id="5" name="Content Placeholder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04415" y="3335949"/>
              <a:ext cx="1666875" cy="942975"/>
            </a:xfrm>
            <a:prstGeom prst="rect">
              <a:avLst/>
            </a:prstGeom>
            <a:effectLst>
              <a:outerShdw blurRad="50800" dir="14400000">
                <a:srgbClr val="000000">
                  <a:alpha val="40000"/>
                </a:srgbClr>
              </a:outerShdw>
            </a:effectLst>
          </p:spPr>
        </p:pic>
        <p:cxnSp>
          <p:nvCxnSpPr>
            <p:cNvPr id="19" name="Straight Connector 18"/>
            <p:cNvCxnSpPr/>
            <p:nvPr/>
          </p:nvCxnSpPr>
          <p:spPr>
            <a:xfrm flipH="1">
              <a:off x="8904850" y="3897368"/>
              <a:ext cx="309488" cy="284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7932990" y="5234495"/>
            <a:ext cx="3276600" cy="1552575"/>
            <a:chOff x="7932990" y="5234495"/>
            <a:chExt cx="3276600" cy="155257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2990" y="5234495"/>
              <a:ext cx="3276600" cy="1552575"/>
            </a:xfrm>
            <a:prstGeom prst="rect">
              <a:avLst/>
            </a:prstGeom>
          </p:spPr>
        </p:pic>
        <p:cxnSp>
          <p:nvCxnSpPr>
            <p:cNvPr id="25" name="Straight Connector 24"/>
            <p:cNvCxnSpPr/>
            <p:nvPr/>
          </p:nvCxnSpPr>
          <p:spPr>
            <a:xfrm flipH="1">
              <a:off x="9015218" y="5791620"/>
              <a:ext cx="309488" cy="2849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6247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638" y="3066171"/>
            <a:ext cx="6505575" cy="3143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666" y="2067543"/>
            <a:ext cx="3767356" cy="44598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menghubungan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node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edge</a:t>
            </a:r>
          </a:p>
          <a:p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node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dikoneksikan</a:t>
            </a:r>
            <a:r>
              <a:rPr lang="en-US" dirty="0"/>
              <a:t> di list parent. </a:t>
            </a:r>
            <a:r>
              <a:rPr lang="en-US" dirty="0" err="1"/>
              <a:t>Misal</a:t>
            </a:r>
            <a:r>
              <a:rPr lang="en-US" dirty="0"/>
              <a:t> Node D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dihubungkan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Node B. </a:t>
            </a:r>
          </a:p>
          <a:p>
            <a:r>
              <a:rPr lang="en-US" dirty="0" err="1"/>
              <a:t>Kemudian</a:t>
            </a:r>
            <a:r>
              <a:rPr lang="en-US" dirty="0"/>
              <a:t>, </a:t>
            </a:r>
            <a:r>
              <a:rPr lang="en-US" dirty="0" err="1"/>
              <a:t>alokasi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edge yang </a:t>
            </a:r>
            <a:r>
              <a:rPr lang="en-US" dirty="0" err="1"/>
              <a:t>berisi</a:t>
            </a:r>
            <a:r>
              <a:rPr lang="en-US" dirty="0"/>
              <a:t> info node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disambungkan</a:t>
            </a:r>
            <a:r>
              <a:rPr lang="en-US" dirty="0"/>
              <a:t>. </a:t>
            </a:r>
            <a:r>
              <a:rPr lang="en-US" dirty="0" err="1"/>
              <a:t>Misal</a:t>
            </a:r>
            <a:r>
              <a:rPr lang="en-US" dirty="0"/>
              <a:t> Node D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dihubungkan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Node B.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2 </a:t>
            </a:r>
            <a:r>
              <a:rPr lang="en-US" dirty="0" err="1"/>
              <a:t>elemen</a:t>
            </a:r>
            <a:r>
              <a:rPr lang="en-US" dirty="0"/>
              <a:t> edge yang </a:t>
            </a:r>
            <a:r>
              <a:rPr lang="en-US" dirty="0" err="1"/>
              <a:t>infonya</a:t>
            </a:r>
            <a:r>
              <a:rPr lang="en-US" dirty="0"/>
              <a:t> D </a:t>
            </a:r>
            <a:r>
              <a:rPr lang="en-US" dirty="0" err="1"/>
              <a:t>dan</a:t>
            </a:r>
            <a:r>
              <a:rPr lang="en-US" dirty="0"/>
              <a:t> B</a:t>
            </a:r>
          </a:p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insert Last </a:t>
            </a:r>
            <a:r>
              <a:rPr lang="en-US" dirty="0" err="1"/>
              <a:t>elemen</a:t>
            </a:r>
            <a:r>
              <a:rPr lang="en-US" dirty="0"/>
              <a:t> edge </a:t>
            </a:r>
            <a:r>
              <a:rPr lang="en-US" dirty="0" err="1"/>
              <a:t>dengan</a:t>
            </a:r>
            <a:r>
              <a:rPr lang="en-US" dirty="0"/>
              <a:t> info B di node D. </a:t>
            </a:r>
            <a:r>
              <a:rPr lang="en-US" dirty="0" err="1"/>
              <a:t>Begitu</a:t>
            </a:r>
            <a:r>
              <a:rPr lang="en-US" dirty="0"/>
              <a:t> juga </a:t>
            </a:r>
            <a:r>
              <a:rPr lang="en-US" dirty="0" err="1"/>
              <a:t>dengan</a:t>
            </a:r>
            <a:r>
              <a:rPr lang="en-US" dirty="0"/>
              <a:t> edge </a:t>
            </a:r>
            <a:r>
              <a:rPr lang="en-US" dirty="0" err="1"/>
              <a:t>dengan</a:t>
            </a:r>
            <a:r>
              <a:rPr lang="en-US" dirty="0"/>
              <a:t> info D di node B.</a:t>
            </a:r>
          </a:p>
        </p:txBody>
      </p:sp>
      <p:sp>
        <p:nvSpPr>
          <p:cNvPr id="4" name="Oval 3"/>
          <p:cNvSpPr/>
          <p:nvPr/>
        </p:nvSpPr>
        <p:spPr>
          <a:xfrm>
            <a:off x="5741435" y="90356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400243" y="687498"/>
            <a:ext cx="354842" cy="21606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40445" y="369003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7" name="Oval 6"/>
          <p:cNvSpPr/>
          <p:nvPr/>
        </p:nvSpPr>
        <p:spPr>
          <a:xfrm>
            <a:off x="7144833" y="883093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40445" y="337217"/>
            <a:ext cx="4276946" cy="24763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4" idx="6"/>
            <a:endCxn id="7" idx="2"/>
          </p:cNvCxnSpPr>
          <p:nvPr/>
        </p:nvCxnSpPr>
        <p:spPr>
          <a:xfrm flipV="1">
            <a:off x="6328288" y="1170845"/>
            <a:ext cx="816545" cy="20471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67486" y="1841221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6" name="Straight Arrow Connector 15"/>
          <p:cNvCxnSpPr>
            <a:stCxn id="4" idx="4"/>
            <a:endCxn id="15" idx="1"/>
          </p:cNvCxnSpPr>
          <p:nvPr/>
        </p:nvCxnSpPr>
        <p:spPr>
          <a:xfrm>
            <a:off x="6034862" y="1479068"/>
            <a:ext cx="518567" cy="446434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12359" y="1742841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877" y="5361185"/>
            <a:ext cx="942975" cy="971550"/>
          </a:xfrm>
          <a:prstGeom prst="rect">
            <a:avLst/>
          </a:prstGeom>
          <a:ln>
            <a:noFill/>
            <a:prstDash val="dash"/>
          </a:ln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5762" y="4336672"/>
            <a:ext cx="933450" cy="981075"/>
          </a:xfrm>
          <a:prstGeom prst="rect">
            <a:avLst/>
          </a:prstGeom>
          <a:ln>
            <a:noFill/>
            <a:prstDash val="dash"/>
          </a:ln>
        </p:spPr>
      </p:pic>
      <p:cxnSp>
        <p:nvCxnSpPr>
          <p:cNvPr id="23" name="Straight Arrow Connector 22"/>
          <p:cNvCxnSpPr/>
          <p:nvPr/>
        </p:nvCxnSpPr>
        <p:spPr>
          <a:xfrm>
            <a:off x="6967412" y="3317958"/>
            <a:ext cx="354842" cy="216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10442" y="3066171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P1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7630218" y="4663177"/>
            <a:ext cx="374299" cy="328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10692952" y="3622789"/>
            <a:ext cx="360233" cy="328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7812359" y="4867422"/>
            <a:ext cx="0" cy="4937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10862703" y="3842909"/>
            <a:ext cx="0" cy="4937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0357899" y="3362341"/>
            <a:ext cx="354842" cy="216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400929" y="3110554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P2</a:t>
            </a:r>
          </a:p>
        </p:txBody>
      </p:sp>
    </p:spTree>
    <p:extLst>
      <p:ext uri="{BB962C8B-B14F-4D97-AF65-F5344CB8AC3E}">
        <p14:creationId xmlns:p14="http://schemas.microsoft.com/office/powerpoint/2010/main" val="104362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 animBg="1"/>
      <p:bldP spid="15" grpId="0" animBg="1"/>
      <p:bldP spid="19" grpId="0" animBg="1"/>
      <p:bldP spid="24" grpId="0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Prosedur</a:t>
            </a:r>
            <a:r>
              <a:rPr lang="en-US" dirty="0"/>
              <a:t> proses Connecting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FindNode</a:t>
            </a:r>
            <a:endParaRPr lang="en-US" sz="2800" dirty="0"/>
          </a:p>
          <a:p>
            <a:r>
              <a:rPr lang="en-US" sz="2800" dirty="0" err="1"/>
              <a:t>InsertLastEdge</a:t>
            </a:r>
            <a:endParaRPr lang="en-US" sz="2800" dirty="0"/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1114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40964" y="2317157"/>
            <a:ext cx="8110069" cy="39703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Function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findNode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(G : Graph, data :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infotypeNode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) adrNode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 : adrNode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If(Start(G) = NULL)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 NULL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PStart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(G)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While(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infoNode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(P)!=data) AND 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nextNode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(P) != NULL) do</a:t>
            </a:r>
            <a:b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QnextNode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(Q)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If(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infoNode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(P)=data)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P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 NULL</a:t>
            </a:r>
          </a:p>
        </p:txBody>
      </p:sp>
    </p:spTree>
    <p:extLst>
      <p:ext uri="{BB962C8B-B14F-4D97-AF65-F5344CB8AC3E}">
        <p14:creationId xmlns:p14="http://schemas.microsoft.com/office/powerpoint/2010/main" val="4013427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Last Edge </a:t>
            </a:r>
            <a:r>
              <a:rPr lang="en-US" dirty="0" err="1"/>
              <a:t>pada</a:t>
            </a:r>
            <a:r>
              <a:rPr lang="en-US" dirty="0"/>
              <a:t> Parent </a:t>
            </a:r>
            <a:r>
              <a:rPr lang="en-US" dirty="0" err="1"/>
              <a:t>tertentu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67041" y="1417638"/>
            <a:ext cx="9747762" cy="369331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insertLastEdge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(In/Out G : Graph, In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PNode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: adrNode,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PEdge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: adrEdge)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 : adrNode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 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=NULL) then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Output(“Node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tidak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ditemukan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”)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 if 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firstEdge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 = NULL)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firstEdge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(Pnode)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PEdge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pPr lvl="1"/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P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firstEdge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While 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nextEdge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(P) != NULL) do</a:t>
            </a:r>
            <a:b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PnextEdge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(P)</a:t>
            </a:r>
          </a:p>
          <a:p>
            <a:pPr lvl="1"/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nextEdga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(P)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PEdge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202" y="2388088"/>
            <a:ext cx="5534025" cy="4000500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 flipH="1">
            <a:off x="10112307" y="4809291"/>
            <a:ext cx="154781" cy="165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9637652" y="3571176"/>
            <a:ext cx="354842" cy="216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0682" y="3319389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0210816" y="4918516"/>
            <a:ext cx="0" cy="35686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5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07407E-6 L -0.01081 0.13704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7" y="6852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7 L -0.00989 0.13125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" y="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7332" y="2106467"/>
            <a:ext cx="4860432" cy="45243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connecting(In/Out G : Graph, In node1, node2: char)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E1,E2, Q: adrEdge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P1,P2 : adrNode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P1FIndNode(G,node1)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P2FIndNode(G,node2)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 (P1!=NULL AND P2!=NULL)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E1alokasiNode(node2)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insertLastEdge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(G,P1,E1)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E2alokasiNode(node1)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insertLastEdge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(G,P2,E2)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Output(“Node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tidak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ditemukan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”)</a:t>
            </a:r>
          </a:p>
          <a:p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901" y="3176142"/>
            <a:ext cx="6505575" cy="314325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476206" y="1013535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7135014" y="797469"/>
            <a:ext cx="354842" cy="21606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75216" y="478974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9" name="Oval 8"/>
          <p:cNvSpPr/>
          <p:nvPr/>
        </p:nvSpPr>
        <p:spPr>
          <a:xfrm>
            <a:off x="8879604" y="99306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5216" y="447188"/>
            <a:ext cx="4276946" cy="24763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6" idx="6"/>
            <a:endCxn id="9" idx="2"/>
          </p:cNvCxnSpPr>
          <p:nvPr/>
        </p:nvCxnSpPr>
        <p:spPr>
          <a:xfrm flipV="1">
            <a:off x="8063059" y="1280816"/>
            <a:ext cx="816545" cy="20471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202257" y="1951192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3" name="Straight Arrow Connector 12"/>
          <p:cNvCxnSpPr>
            <a:stCxn id="6" idx="4"/>
            <a:endCxn id="12" idx="1"/>
          </p:cNvCxnSpPr>
          <p:nvPr/>
        </p:nvCxnSpPr>
        <p:spPr>
          <a:xfrm>
            <a:off x="7769633" y="1589039"/>
            <a:ext cx="518567" cy="446434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547130" y="1852812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40" y="5471156"/>
            <a:ext cx="942975" cy="971550"/>
          </a:xfrm>
          <a:prstGeom prst="rect">
            <a:avLst/>
          </a:prstGeom>
          <a:ln>
            <a:noFill/>
            <a:prstDash val="dash"/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025" y="4446643"/>
            <a:ext cx="933450" cy="981075"/>
          </a:xfrm>
          <a:prstGeom prst="rect">
            <a:avLst/>
          </a:prstGeom>
          <a:ln>
            <a:noFill/>
            <a:prstDash val="dash"/>
          </a:ln>
        </p:spPr>
      </p:pic>
      <p:cxnSp>
        <p:nvCxnSpPr>
          <p:cNvPr id="17" name="Straight Arrow Connector 16"/>
          <p:cNvCxnSpPr/>
          <p:nvPr/>
        </p:nvCxnSpPr>
        <p:spPr>
          <a:xfrm>
            <a:off x="7361675" y="3427929"/>
            <a:ext cx="354842" cy="216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4705" y="3176142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P1</a:t>
            </a:r>
          </a:p>
        </p:txBody>
      </p:sp>
      <p:cxnSp>
        <p:nvCxnSpPr>
          <p:cNvPr id="19" name="Straight Connector 18"/>
          <p:cNvCxnSpPr/>
          <p:nvPr/>
        </p:nvCxnSpPr>
        <p:spPr>
          <a:xfrm flipH="1">
            <a:off x="8024481" y="4773148"/>
            <a:ext cx="374299" cy="328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11087215" y="3732760"/>
            <a:ext cx="360233" cy="328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8206622" y="4977393"/>
            <a:ext cx="0" cy="4937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11256966" y="3952880"/>
            <a:ext cx="0" cy="4937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0752162" y="3472312"/>
            <a:ext cx="354842" cy="216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795192" y="3220525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P2</a:t>
            </a:r>
          </a:p>
        </p:txBody>
      </p:sp>
      <p:cxnSp>
        <p:nvCxnSpPr>
          <p:cNvPr id="25" name="Straight Arrow Connector 24"/>
          <p:cNvCxnSpPr>
            <a:endCxn id="14" idx="1"/>
          </p:cNvCxnSpPr>
          <p:nvPr/>
        </p:nvCxnSpPr>
        <p:spPr>
          <a:xfrm>
            <a:off x="9364989" y="1482443"/>
            <a:ext cx="268084" cy="454650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36167" y="2428316"/>
            <a:ext cx="1939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//Node 1 : B, //Node 2: D</a:t>
            </a:r>
          </a:p>
        </p:txBody>
      </p:sp>
    </p:spTree>
    <p:extLst>
      <p:ext uri="{BB962C8B-B14F-4D97-AF65-F5344CB8AC3E}">
        <p14:creationId xmlns:p14="http://schemas.microsoft.com/office/powerpoint/2010/main" val="95104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 animBg="1"/>
      <p:bldP spid="10" grpId="0" animBg="1"/>
      <p:bldP spid="12" grpId="0" animBg="1"/>
      <p:bldP spid="14" grpId="0" animBg="1"/>
      <p:bldP spid="18" grpId="0"/>
      <p:bldP spid="24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97" y="-96131"/>
            <a:ext cx="8110160" cy="970450"/>
          </a:xfrm>
        </p:spPr>
        <p:txBody>
          <a:bodyPr/>
          <a:lstStyle/>
          <a:p>
            <a:r>
              <a:rPr lang="en-US" dirty="0"/>
              <a:t>Disconnecting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749" y="1013535"/>
            <a:ext cx="3429440" cy="5429171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ysClr val="windowText" lastClr="000000"/>
                </a:solidFill>
              </a:rPr>
              <a:t>Tahapan</a:t>
            </a:r>
            <a:r>
              <a:rPr lang="en-US" dirty="0">
                <a:solidFill>
                  <a:sysClr val="windowText" lastClr="000000"/>
                </a:solidFill>
              </a:rPr>
              <a:t> disconnecting node 1 </a:t>
            </a:r>
            <a:r>
              <a:rPr lang="en-US" dirty="0" err="1">
                <a:solidFill>
                  <a:sysClr val="windowText" lastClr="000000"/>
                </a:solidFill>
              </a:rPr>
              <a:t>dengan</a:t>
            </a:r>
            <a:r>
              <a:rPr lang="en-US" dirty="0">
                <a:solidFill>
                  <a:sysClr val="windowText" lastClr="000000"/>
                </a:solidFill>
              </a:rPr>
              <a:t> node 2 :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Mencari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lokasi</a:t>
            </a:r>
            <a:r>
              <a:rPr lang="en-US" dirty="0">
                <a:solidFill>
                  <a:sysClr val="windowText" lastClr="000000"/>
                </a:solidFill>
              </a:rPr>
              <a:t> node 1 </a:t>
            </a:r>
            <a:r>
              <a:rPr lang="en-US" dirty="0" err="1">
                <a:solidFill>
                  <a:sysClr val="windowText" lastClr="000000"/>
                </a:solidFill>
              </a:rPr>
              <a:t>dan</a:t>
            </a:r>
            <a:r>
              <a:rPr lang="en-US" dirty="0">
                <a:solidFill>
                  <a:sysClr val="windowText" lastClr="000000"/>
                </a:solidFill>
              </a:rPr>
              <a:t> node 2. </a:t>
            </a:r>
            <a:r>
              <a:rPr lang="en-US" dirty="0" err="1">
                <a:solidFill>
                  <a:sysClr val="windowText" lastClr="000000"/>
                </a:solidFill>
              </a:rPr>
              <a:t>Misal</a:t>
            </a:r>
            <a:r>
              <a:rPr lang="en-US" dirty="0">
                <a:solidFill>
                  <a:sysClr val="windowText" lastClr="000000"/>
                </a:solidFill>
              </a:rPr>
              <a:t> Node 1 = B, Node 2 = D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Lalu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mencari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pada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anak</a:t>
            </a:r>
            <a:r>
              <a:rPr lang="en-US" dirty="0">
                <a:solidFill>
                  <a:sysClr val="windowText" lastClr="000000"/>
                </a:solidFill>
              </a:rPr>
              <a:t> node 1 edge yang </a:t>
            </a:r>
            <a:r>
              <a:rPr lang="en-US" dirty="0" err="1">
                <a:solidFill>
                  <a:sysClr val="windowText" lastClr="000000"/>
                </a:solidFill>
              </a:rPr>
              <a:t>berisi</a:t>
            </a:r>
            <a:r>
              <a:rPr lang="en-US" dirty="0">
                <a:solidFill>
                  <a:sysClr val="windowText" lastClr="000000"/>
                </a:solidFill>
              </a:rPr>
              <a:t> info node 2. </a:t>
            </a:r>
            <a:r>
              <a:rPr lang="en-US" dirty="0" err="1">
                <a:solidFill>
                  <a:sysClr val="windowText" lastClr="000000"/>
                </a:solidFill>
              </a:rPr>
              <a:t>Lalu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lakukan</a:t>
            </a:r>
            <a:r>
              <a:rPr lang="en-US" dirty="0">
                <a:solidFill>
                  <a:sysClr val="windowText" lastClr="000000"/>
                </a:solidFill>
              </a:rPr>
              <a:t> delete edge</a:t>
            </a:r>
          </a:p>
          <a:p>
            <a:r>
              <a:rPr lang="en-US" dirty="0" err="1">
                <a:solidFill>
                  <a:sysClr val="windowText" lastClr="000000"/>
                </a:solidFill>
              </a:rPr>
              <a:t>Lalu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mencari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pada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anak</a:t>
            </a:r>
            <a:r>
              <a:rPr lang="en-US" dirty="0">
                <a:solidFill>
                  <a:sysClr val="windowText" lastClr="000000"/>
                </a:solidFill>
              </a:rPr>
              <a:t> node 2 edge yang </a:t>
            </a:r>
            <a:r>
              <a:rPr lang="en-US" dirty="0" err="1">
                <a:solidFill>
                  <a:sysClr val="windowText" lastClr="000000"/>
                </a:solidFill>
              </a:rPr>
              <a:t>berisi</a:t>
            </a:r>
            <a:r>
              <a:rPr lang="en-US" dirty="0">
                <a:solidFill>
                  <a:sysClr val="windowText" lastClr="000000"/>
                </a:solidFill>
              </a:rPr>
              <a:t> info node 1. </a:t>
            </a:r>
            <a:r>
              <a:rPr lang="en-US" dirty="0" err="1">
                <a:solidFill>
                  <a:sysClr val="windowText" lastClr="000000"/>
                </a:solidFill>
              </a:rPr>
              <a:t>Lalu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lakukan</a:t>
            </a:r>
            <a:r>
              <a:rPr lang="en-US" dirty="0">
                <a:solidFill>
                  <a:sysClr val="windowText" lastClr="000000"/>
                </a:solidFill>
              </a:rPr>
              <a:t> delete edge</a:t>
            </a:r>
          </a:p>
        </p:txBody>
      </p:sp>
      <p:sp>
        <p:nvSpPr>
          <p:cNvPr id="4" name="Oval 3"/>
          <p:cNvSpPr/>
          <p:nvPr/>
        </p:nvSpPr>
        <p:spPr>
          <a:xfrm>
            <a:off x="7476206" y="1013535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A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7135014" y="797469"/>
            <a:ext cx="354842" cy="216066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75216" y="478974"/>
            <a:ext cx="10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</a:p>
        </p:txBody>
      </p:sp>
      <p:sp>
        <p:nvSpPr>
          <p:cNvPr id="7" name="Oval 6"/>
          <p:cNvSpPr/>
          <p:nvPr/>
        </p:nvSpPr>
        <p:spPr>
          <a:xfrm>
            <a:off x="8879604" y="993064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5216" y="447188"/>
            <a:ext cx="4276946" cy="247632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4" idx="6"/>
            <a:endCxn id="7" idx="2"/>
          </p:cNvCxnSpPr>
          <p:nvPr/>
        </p:nvCxnSpPr>
        <p:spPr>
          <a:xfrm flipV="1">
            <a:off x="8063059" y="1280816"/>
            <a:ext cx="816545" cy="20471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02257" y="1951192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C</a:t>
            </a:r>
          </a:p>
        </p:txBody>
      </p:sp>
      <p:cxnSp>
        <p:nvCxnSpPr>
          <p:cNvPr id="11" name="Straight Arrow Connector 10"/>
          <p:cNvCxnSpPr>
            <a:stCxn id="4" idx="4"/>
            <a:endCxn id="10" idx="1"/>
          </p:cNvCxnSpPr>
          <p:nvPr/>
        </p:nvCxnSpPr>
        <p:spPr>
          <a:xfrm>
            <a:off x="7769633" y="1589039"/>
            <a:ext cx="518567" cy="446434"/>
          </a:xfrm>
          <a:prstGeom prst="straightConnector1">
            <a:avLst/>
          </a:prstGeom>
          <a:ln w="381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547130" y="1852812"/>
            <a:ext cx="586853" cy="57550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</a:t>
            </a:r>
          </a:p>
        </p:txBody>
      </p:sp>
      <p:cxnSp>
        <p:nvCxnSpPr>
          <p:cNvPr id="13" name="Straight Arrow Connector 12"/>
          <p:cNvCxnSpPr>
            <a:endCxn id="12" idx="1"/>
          </p:cNvCxnSpPr>
          <p:nvPr/>
        </p:nvCxnSpPr>
        <p:spPr>
          <a:xfrm>
            <a:off x="9364989" y="1482443"/>
            <a:ext cx="268084" cy="45465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901" y="3176142"/>
            <a:ext cx="6505575" cy="31432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r="55358" b="14117"/>
          <a:stretch/>
        </p:blipFill>
        <p:spPr>
          <a:xfrm>
            <a:off x="7999141" y="5471156"/>
            <a:ext cx="420960" cy="834394"/>
          </a:xfrm>
          <a:prstGeom prst="rect">
            <a:avLst/>
          </a:prstGeom>
          <a:ln>
            <a:noFill/>
            <a:prstDash val="dash"/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r="50364" b="3728"/>
          <a:stretch/>
        </p:blipFill>
        <p:spPr>
          <a:xfrm>
            <a:off x="11100025" y="4446643"/>
            <a:ext cx="463325" cy="944507"/>
          </a:xfrm>
          <a:prstGeom prst="rect">
            <a:avLst/>
          </a:prstGeom>
          <a:ln>
            <a:noFill/>
            <a:prstDash val="dash"/>
          </a:ln>
        </p:spPr>
      </p:pic>
      <p:cxnSp>
        <p:nvCxnSpPr>
          <p:cNvPr id="17" name="Straight Arrow Connector 16"/>
          <p:cNvCxnSpPr/>
          <p:nvPr/>
        </p:nvCxnSpPr>
        <p:spPr>
          <a:xfrm>
            <a:off x="8206622" y="4977393"/>
            <a:ext cx="0" cy="4937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1256966" y="3952880"/>
            <a:ext cx="0" cy="4937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721867" y="3518001"/>
            <a:ext cx="354842" cy="216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39343" y="3182862"/>
            <a:ext cx="65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P1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10656631" y="3497309"/>
            <a:ext cx="354842" cy="216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74107" y="3162170"/>
            <a:ext cx="65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P2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636861" y="5621629"/>
            <a:ext cx="354842" cy="2160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54337" y="5286490"/>
            <a:ext cx="65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E1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8028916" y="4813360"/>
            <a:ext cx="374299" cy="328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0743919" y="4709381"/>
            <a:ext cx="354842" cy="21606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361395" y="4374242"/>
            <a:ext cx="65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E2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H="1">
            <a:off x="11098761" y="3728120"/>
            <a:ext cx="374299" cy="328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80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8" grpId="0" animBg="1"/>
      <p:bldP spid="10" grpId="0" animBg="1"/>
      <p:bldP spid="12" grpId="0" animBg="1"/>
      <p:bldP spid="21" grpId="0"/>
      <p:bldP spid="23" grpId="0"/>
      <p:bldP spid="25" grpId="0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Prosedur</a:t>
            </a:r>
            <a:r>
              <a:rPr lang="en-US" dirty="0"/>
              <a:t> proses Disconnecting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FindNode</a:t>
            </a:r>
            <a:r>
              <a:rPr lang="en-US" sz="2800" dirty="0"/>
              <a:t> (</a:t>
            </a:r>
            <a:r>
              <a:rPr lang="en-US" sz="2800" dirty="0" err="1"/>
              <a:t>sudah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di slide </a:t>
            </a:r>
            <a:r>
              <a:rPr lang="en-US" sz="2800" dirty="0" err="1"/>
              <a:t>sebelumnya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FIndEdge</a:t>
            </a:r>
            <a:endParaRPr lang="en-US" sz="2800" dirty="0"/>
          </a:p>
          <a:p>
            <a:r>
              <a:rPr lang="en-US" sz="2800" dirty="0"/>
              <a:t>DeleteEdge </a:t>
            </a:r>
          </a:p>
          <a:p>
            <a:pPr lvl="1"/>
            <a:r>
              <a:rPr lang="en-US" sz="2400" dirty="0"/>
              <a:t>DeleteFirstEdge</a:t>
            </a:r>
          </a:p>
          <a:p>
            <a:pPr lvl="1"/>
            <a:r>
              <a:rPr lang="en-US" sz="2400" dirty="0"/>
              <a:t>DeleteLastEdge</a:t>
            </a:r>
          </a:p>
          <a:p>
            <a:pPr lvl="1"/>
            <a:r>
              <a:rPr lang="en-US" sz="2400" dirty="0" err="1"/>
              <a:t>DeleteAfterEdge</a:t>
            </a: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8997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FindEdge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10000" y="2222287"/>
            <a:ext cx="8419725" cy="397031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Function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findEdge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(G : Graph, Pnode : adrNode, data : char) adrEdge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 : adrEdge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 Start(G) or Pnode=NULL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 NULL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PfirstEdge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(Pnode)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While (info(P) != data) AND (nextEdge(P) != NULL) do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PnextEdge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If( info(P) = data)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 P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 NULL</a:t>
            </a:r>
          </a:p>
        </p:txBody>
      </p:sp>
    </p:spTree>
    <p:extLst>
      <p:ext uri="{BB962C8B-B14F-4D97-AF65-F5344CB8AC3E}">
        <p14:creationId xmlns:p14="http://schemas.microsoft.com/office/powerpoint/2010/main" val="107765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Delete First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10000" y="2222287"/>
            <a:ext cx="10729913" cy="25853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deleteFirstEdge(In/Out G : Graph, In Pnode : adrNode, Out P : adrEdge)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 Start(G)=NULL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Output (“EMPTY”)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PfirstEdge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(Pnode)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firstEdge(Pnode)nextEdge(P)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nextEdge(P)NULL</a:t>
            </a:r>
          </a:p>
        </p:txBody>
      </p:sp>
    </p:spTree>
    <p:extLst>
      <p:ext uri="{BB962C8B-B14F-4D97-AF65-F5344CB8AC3E}">
        <p14:creationId xmlns:p14="http://schemas.microsoft.com/office/powerpoint/2010/main" val="33300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Last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52085" y="2592224"/>
            <a:ext cx="10729913" cy="34163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deleteLastEdge(In/Out G : Graph, In Pnode : adrNode, Out P : adrEdge)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Q: adrEdge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 Start(G)=NULL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Output (“EMPTY”)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QfirstEdge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(Pnode)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While (nextEdge(Q)!=NULL) do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QnextEdge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(Q)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PnextEdge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(Q)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nextEdge(Q)NULL</a:t>
            </a:r>
          </a:p>
        </p:txBody>
      </p:sp>
    </p:spTree>
    <p:extLst>
      <p:ext uri="{BB962C8B-B14F-4D97-AF65-F5344CB8AC3E}">
        <p14:creationId xmlns:p14="http://schemas.microsoft.com/office/powerpoint/2010/main" val="192873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After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52085" y="2592224"/>
            <a:ext cx="10729913" cy="20313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deleteAfterEdge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(In/Out G : Graph, In Pnode : adrNode, In </a:t>
            </a:r>
            <a:r>
              <a:rPr lang="en-US" b="1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Prec</a:t>
            </a: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: adrEdge, Out P : adrEdge)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PnextEdge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prec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 nextEdge(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prec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)nextEdge(P)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 nextEdge(P)NULL</a:t>
            </a:r>
          </a:p>
        </p:txBody>
      </p:sp>
    </p:spTree>
    <p:extLst>
      <p:ext uri="{BB962C8B-B14F-4D97-AF65-F5344CB8AC3E}">
        <p14:creationId xmlns:p14="http://schemas.microsoft.com/office/powerpoint/2010/main" val="267856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Edge (Child)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949" y="2222285"/>
            <a:ext cx="2181663" cy="36365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Delete Edge </a:t>
            </a:r>
            <a:r>
              <a:rPr lang="en-US" dirty="0" err="1"/>
              <a:t>adalah</a:t>
            </a:r>
            <a:r>
              <a:rPr lang="en-US" dirty="0"/>
              <a:t> proses </a:t>
            </a:r>
            <a:r>
              <a:rPr lang="en-US" dirty="0" err="1"/>
              <a:t>menghapus</a:t>
            </a:r>
            <a:r>
              <a:rPr lang="en-US" dirty="0"/>
              <a:t> edge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alamatnya</a:t>
            </a:r>
            <a:r>
              <a:rPr lang="en-US" dirty="0"/>
              <a:t>.</a:t>
            </a:r>
          </a:p>
          <a:p>
            <a:r>
              <a:rPr lang="en-US" dirty="0"/>
              <a:t>proses delete </a:t>
            </a:r>
            <a:r>
              <a:rPr lang="en-US" dirty="0" err="1"/>
              <a:t>bisa</a:t>
            </a:r>
            <a:r>
              <a:rPr lang="en-US" dirty="0"/>
              <a:t> first, last </a:t>
            </a:r>
            <a:r>
              <a:rPr lang="en-US" dirty="0" err="1"/>
              <a:t>atau</a:t>
            </a:r>
            <a:r>
              <a:rPr lang="en-US" dirty="0"/>
              <a:t> after </a:t>
            </a:r>
            <a:r>
              <a:rPr lang="en-US" dirty="0" err="1"/>
              <a:t>tergantung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edge yang </a:t>
            </a:r>
            <a:r>
              <a:rPr lang="en-US" dirty="0" err="1"/>
              <a:t>dihapus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182456" y="2222285"/>
            <a:ext cx="8604732" cy="424731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deleteEdge(In/Out G : Graph, In Pnode : adrNode, In Pedge : adrEdge)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Eout,prec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: adrEdge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If(Pedge=firstEdge(Pnode) then // deleteFirst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deleteFirstEdge(Pnode,Eout)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 if (next(Pedge)=NULL) then //deleteLast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deleteLastEdge(Pnode,Eout)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 //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deleteAFter</a:t>
            </a:r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precfirstEdge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(Pnode)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while (nextEdge(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prec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)!=Pedge) do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prec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 nextEdge(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prec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deleteAFterEdge(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G,Pnode,prec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Eout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253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Disconnecting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93633" y="1362886"/>
            <a:ext cx="8604732" cy="53553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Disconnecting(In/Out G : Graph, In Node1, Node2: char)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N1, N2 : adrNode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E1,E2,Eout : adrEdge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N1FIndNode(G,Node1)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N2FIndNode(G,Node2)</a:t>
            </a:r>
          </a:p>
          <a:p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If(N1 != NULL AND N2 != NULL) then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E1findEdge(G,N1, Node2)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E2findEdge(G,N2, Node1)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If( E1 !=NULL AND E2 != NULL)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deleteEdge(G,N1,E1,Eout)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deleteEdge(G,N2,E2,Eout)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output(“Edge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Tidak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ditemukan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”)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output(“Node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Tidak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ditemukan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”)		</a:t>
            </a:r>
          </a:p>
          <a:p>
            <a:endParaRPr lang="en-US" dirty="0">
              <a:solidFill>
                <a:sysClr val="windowText" lastClr="000000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4461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12" y="698862"/>
            <a:ext cx="10571998" cy="970450"/>
          </a:xfrm>
        </p:spPr>
        <p:txBody>
          <a:bodyPr/>
          <a:lstStyle/>
          <a:p>
            <a:r>
              <a:rPr lang="en-US" dirty="0"/>
              <a:t>Show </a:t>
            </a:r>
            <a:r>
              <a:rPr lang="en-US" dirty="0" err="1"/>
              <a:t>Tetangga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77733" y="2086786"/>
            <a:ext cx="8604732" cy="45243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Procedure Show (G : Graph)</a:t>
            </a:r>
          </a:p>
          <a:p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Kamus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N : adrNode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 : adrEdge</a:t>
            </a:r>
            <a:b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</a:br>
            <a:r>
              <a:rPr lang="en-US" b="1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Algoritma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If (Start(G) != NULL) then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NStart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(G)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Output(“Node”, info(N), “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tetangganya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 : “) 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While(N != Null) do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EfisrtEdge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(N)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While (E!=NULL) do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	output(info(E))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	EnextEdge(E)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	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NnextNode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(N)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Else</a:t>
            </a:r>
          </a:p>
          <a:p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	Output(“Graf </a:t>
            </a:r>
            <a:r>
              <a:rPr lang="en-US" dirty="0" err="1">
                <a:solidFill>
                  <a:sysClr val="windowText" lastClr="000000"/>
                </a:solidFill>
                <a:sym typeface="Wingdings" panose="05000000000000000000" pitchFamily="2" charset="2"/>
              </a:rPr>
              <a:t>Kosong</a:t>
            </a:r>
            <a:r>
              <a:rPr lang="en-US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296768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Latihan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Buatlah</a:t>
            </a:r>
            <a:r>
              <a:rPr lang="en-US" dirty="0"/>
              <a:t> function yang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degree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Node </a:t>
            </a:r>
            <a:r>
              <a:rPr lang="en-US" dirty="0" err="1"/>
              <a:t>pada</a:t>
            </a:r>
            <a:r>
              <a:rPr lang="en-US" dirty="0"/>
              <a:t> graph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berarah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Function </a:t>
            </a:r>
            <a:r>
              <a:rPr lang="en-US" dirty="0" err="1"/>
              <a:t>hitungDegree</a:t>
            </a:r>
            <a:r>
              <a:rPr lang="en-US" dirty="0"/>
              <a:t>(G: Graph, node: char)</a:t>
            </a:r>
            <a:r>
              <a:rPr lang="en-US" dirty="0">
                <a:sym typeface="Wingdings" panose="05000000000000000000" pitchFamily="2" charset="2"/>
              </a:rPr>
              <a:t>integer</a:t>
            </a:r>
          </a:p>
          <a:p>
            <a:r>
              <a:rPr lang="en-US" dirty="0" err="1">
                <a:sym typeface="Wingdings" panose="05000000000000000000" pitchFamily="2" charset="2"/>
              </a:rPr>
              <a:t>Buatlah</a:t>
            </a:r>
            <a:r>
              <a:rPr lang="en-US" dirty="0">
                <a:sym typeface="Wingdings" panose="05000000000000000000" pitchFamily="2" charset="2"/>
              </a:rPr>
              <a:t> Procedure yang </a:t>
            </a:r>
            <a:r>
              <a:rPr lang="en-US" dirty="0" err="1">
                <a:sym typeface="Wingdings" panose="05000000000000000000" pitchFamily="2" charset="2"/>
              </a:rPr>
              <a:t>mengoutputkan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jumlah</a:t>
            </a:r>
            <a:r>
              <a:rPr lang="en-US" dirty="0">
                <a:sym typeface="Wingdings" panose="05000000000000000000" pitchFamily="2" charset="2"/>
              </a:rPr>
              <a:t> degree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setiap</a:t>
            </a:r>
            <a:r>
              <a:rPr lang="en-US" dirty="0">
                <a:sym typeface="Wingdings" panose="05000000000000000000" pitchFamily="2" charset="2"/>
              </a:rPr>
              <a:t> node yang </a:t>
            </a:r>
            <a:r>
              <a:rPr lang="en-US" dirty="0" err="1">
                <a:sym typeface="Wingdings" panose="05000000000000000000" pitchFamily="2" charset="2"/>
              </a:rPr>
              <a:t>ada</a:t>
            </a:r>
            <a:r>
              <a:rPr lang="en-US" dirty="0">
                <a:sym typeface="Wingdings" panose="05000000000000000000" pitchFamily="2" charset="2"/>
              </a:rPr>
              <a:t> di Graph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Procedure </a:t>
            </a:r>
            <a:r>
              <a:rPr lang="en-US" dirty="0" err="1">
                <a:sym typeface="Wingdings" panose="05000000000000000000" pitchFamily="2" charset="2"/>
              </a:rPr>
              <a:t>showDegree</a:t>
            </a:r>
            <a:r>
              <a:rPr lang="en-US" dirty="0">
                <a:sym typeface="Wingdings" panose="05000000000000000000" pitchFamily="2" charset="2"/>
              </a:rPr>
              <a:t>(In G : Graph)</a:t>
            </a:r>
            <a:endParaRPr lang="en-US" i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i="1" dirty="0">
                <a:sym typeface="Wingdings" panose="05000000000000000000" pitchFamily="2" charset="2"/>
              </a:rPr>
              <a:t>	{</a:t>
            </a:r>
            <a:r>
              <a:rPr lang="en-US" i="1" dirty="0" err="1">
                <a:sym typeface="Wingdings" panose="05000000000000000000" pitchFamily="2" charset="2"/>
              </a:rPr>
              <a:t>Anda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bisa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memanfaatkan</a:t>
            </a:r>
            <a:r>
              <a:rPr lang="en-US" i="1" dirty="0">
                <a:sym typeface="Wingdings" panose="05000000000000000000" pitchFamily="2" charset="2"/>
              </a:rPr>
              <a:t> Function </a:t>
            </a:r>
            <a:r>
              <a:rPr lang="en-US" i="1" dirty="0" err="1">
                <a:sym typeface="Wingdings" panose="05000000000000000000" pitchFamily="2" charset="2"/>
              </a:rPr>
              <a:t>hitungDegree</a:t>
            </a:r>
            <a:r>
              <a:rPr lang="en-US" i="1" dirty="0">
                <a:sym typeface="Wingdings" panose="05000000000000000000" pitchFamily="2" charset="2"/>
              </a:rPr>
              <a:t> di </a:t>
            </a:r>
            <a:r>
              <a:rPr lang="en-US" i="1" dirty="0" err="1">
                <a:sym typeface="Wingdings" panose="05000000000000000000" pitchFamily="2" charset="2"/>
              </a:rPr>
              <a:t>atas</a:t>
            </a:r>
            <a:r>
              <a:rPr lang="en-US" i="1" dirty="0">
                <a:sym typeface="Wingdings" panose="05000000000000000000" pitchFamily="2" charset="2"/>
              </a:rPr>
              <a:t>}</a:t>
            </a:r>
          </a:p>
          <a:p>
            <a:r>
              <a:rPr lang="en-US" dirty="0" err="1"/>
              <a:t>Buatlah</a:t>
            </a:r>
            <a:r>
              <a:rPr lang="en-US" dirty="0"/>
              <a:t> function yang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node loop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graph</a:t>
            </a:r>
          </a:p>
          <a:p>
            <a:pPr marL="0" indent="0">
              <a:buNone/>
            </a:pPr>
            <a:r>
              <a:rPr lang="en-US" dirty="0"/>
              <a:t>	Function loop(G: Graph)</a:t>
            </a:r>
            <a:r>
              <a:rPr lang="en-US" dirty="0">
                <a:sym typeface="Wingdings" panose="05000000000000000000" pitchFamily="2" charset="2"/>
              </a:rPr>
              <a:t> integer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830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Latihan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597113"/>
          </a:xfrm>
        </p:spPr>
        <p:txBody>
          <a:bodyPr/>
          <a:lstStyle/>
          <a:p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Graph </a:t>
            </a:r>
            <a:r>
              <a:rPr lang="en-US" dirty="0" err="1"/>
              <a:t>berarah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ketetanggan</a:t>
            </a:r>
            <a:r>
              <a:rPr lang="en-US" dirty="0"/>
              <a:t> list </a:t>
            </a:r>
            <a:r>
              <a:rPr lang="en-US" dirty="0" err="1"/>
              <a:t>nya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09" y="2870182"/>
            <a:ext cx="1424553" cy="19979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316" y="2907865"/>
            <a:ext cx="4602366" cy="1922591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827424" y="5194300"/>
            <a:ext cx="5014576" cy="132080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procedure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:</a:t>
            </a:r>
          </a:p>
          <a:p>
            <a:r>
              <a:rPr lang="en-US" dirty="0" err="1"/>
              <a:t>AddNewNode</a:t>
            </a:r>
            <a:endParaRPr lang="en-US" dirty="0"/>
          </a:p>
          <a:p>
            <a:r>
              <a:rPr lang="en-US" dirty="0"/>
              <a:t>Connecting</a:t>
            </a:r>
          </a:p>
          <a:p>
            <a:r>
              <a:rPr lang="en-US" dirty="0"/>
              <a:t>Disconnecting</a:t>
            </a:r>
          </a:p>
        </p:txBody>
      </p:sp>
    </p:spTree>
    <p:extLst>
      <p:ext uri="{BB962C8B-B14F-4D97-AF65-F5344CB8AC3E}">
        <p14:creationId xmlns:p14="http://schemas.microsoft.com/office/powerpoint/2010/main" val="33203275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CDF8CB628B97449CBF1C9C2DF0522A" ma:contentTypeVersion="12" ma:contentTypeDescription="Create a new document." ma:contentTypeScope="" ma:versionID="44eec28978b503e2efcb9212db538b87">
  <xsd:schema xmlns:xsd="http://www.w3.org/2001/XMLSchema" xmlns:xs="http://www.w3.org/2001/XMLSchema" xmlns:p="http://schemas.microsoft.com/office/2006/metadata/properties" xmlns:ns2="f710a105-9328-4c52-b86a-700c7d87a9d8" xmlns:ns3="da944019-e0c0-4cbe-b9e1-79848028e4af" targetNamespace="http://schemas.microsoft.com/office/2006/metadata/properties" ma:root="true" ma:fieldsID="50f9520c83d250bbff81f5ae34a02831" ns2:_="" ns3:_="">
    <xsd:import namespace="f710a105-9328-4c52-b86a-700c7d87a9d8"/>
    <xsd:import namespace="da944019-e0c0-4cbe-b9e1-79848028e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0a105-9328-4c52-b86a-700c7d87a9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d36bd76-decb-4dd1-ad12-0d0eb5e8b8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44019-e0c0-4cbe-b9e1-79848028e4a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28c0b8-7eb1-4269-9651-4b2cb19e42d2}" ma:internalName="TaxCatchAll" ma:showField="CatchAllData" ma:web="da944019-e0c0-4cbe-b9e1-79848028e4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44019-e0c0-4cbe-b9e1-79848028e4af" xsi:nil="true"/>
    <lcf76f155ced4ddcb4097134ff3c332f xmlns="f710a105-9328-4c52-b86a-700c7d87a9d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AEE98FB-97EE-4894-918E-72975A1278BE}"/>
</file>

<file path=customXml/itemProps2.xml><?xml version="1.0" encoding="utf-8"?>
<ds:datastoreItem xmlns:ds="http://schemas.openxmlformats.org/officeDocument/2006/customXml" ds:itemID="{45C42AEF-B7FE-436A-9F8A-5A2B6B50D3EE}"/>
</file>

<file path=customXml/itemProps3.xml><?xml version="1.0" encoding="utf-8"?>
<ds:datastoreItem xmlns:ds="http://schemas.openxmlformats.org/officeDocument/2006/customXml" ds:itemID="{16B43C51-B851-4653-8155-F6EE4AE1F322}"/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421</TotalTime>
  <Words>2370</Words>
  <Application>Microsoft Office PowerPoint</Application>
  <PresentationFormat>Layar Lebar</PresentationFormat>
  <Paragraphs>344</Paragraphs>
  <Slides>38</Slides>
  <Notes>0</Notes>
  <HiddenSlides>0</HiddenSlides>
  <MMClips>0</MMClips>
  <ScaleCrop>false</ScaleCrop>
  <HeadingPairs>
    <vt:vector size="8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Server OLE Tertanam</vt:lpstr>
      </vt:variant>
      <vt:variant>
        <vt:i4>1</vt:i4>
      </vt:variant>
      <vt:variant>
        <vt:lpstr>Judul Slide</vt:lpstr>
      </vt:variant>
      <vt:variant>
        <vt:i4>38</vt:i4>
      </vt:variant>
    </vt:vector>
  </HeadingPairs>
  <TitlesOfParts>
    <vt:vector size="43" baseType="lpstr">
      <vt:lpstr>Century Gothic</vt:lpstr>
      <vt:lpstr>Wingdings</vt:lpstr>
      <vt:lpstr>Wingdings 2</vt:lpstr>
      <vt:lpstr>Quotable</vt:lpstr>
      <vt:lpstr>Visio</vt:lpstr>
      <vt:lpstr>GRAF</vt:lpstr>
      <vt:lpstr>Definisi Graf</vt:lpstr>
      <vt:lpstr>Definisi Graf</vt:lpstr>
      <vt:lpstr>Definisi Graf</vt:lpstr>
      <vt:lpstr>Jenis Graf</vt:lpstr>
      <vt:lpstr>Jenis Graph</vt:lpstr>
      <vt:lpstr>Ketetanggan dan insidensi</vt:lpstr>
      <vt:lpstr>Presentasi PowerPoint</vt:lpstr>
      <vt:lpstr>Matrik Ketetanggan</vt:lpstr>
      <vt:lpstr>Matriks Bersisian</vt:lpstr>
      <vt:lpstr>List Ketetanggan</vt:lpstr>
      <vt:lpstr>Contoh Graph Tidak Berarah menggunakan Multi Linked List 1 ke N dengan info</vt:lpstr>
      <vt:lpstr>Contoh Graph Tidak Berarah menggunakan Multi Linked List 1 ke N dengan Pointer</vt:lpstr>
      <vt:lpstr>Contoh Graph Berarah menggunakan Multi Linked List 1 ke N dengan info</vt:lpstr>
      <vt:lpstr>Contoh Graph Berarah menggunakan Multi Linked List 1 ke N dengan pointer</vt:lpstr>
      <vt:lpstr>Pembentukan Graph Tidak Berarah Menggunakan Multi Linked List 1 ke N versi info</vt:lpstr>
      <vt:lpstr>Operasi Hapus Node dan Edge</vt:lpstr>
      <vt:lpstr>ADT Graph MLL 1 ke N Versi Info</vt:lpstr>
      <vt:lpstr>Presentasi PowerPoint</vt:lpstr>
      <vt:lpstr>ADT Graph MLL 1 ke N Versi Info</vt:lpstr>
      <vt:lpstr>Create Graph, Alokasi Node, Alokasi Edge</vt:lpstr>
      <vt:lpstr>Add New Node (Insert Last Parent)</vt:lpstr>
      <vt:lpstr>Connecting</vt:lpstr>
      <vt:lpstr>Fungsi Prosedur proses Connecting</vt:lpstr>
      <vt:lpstr>Find Node</vt:lpstr>
      <vt:lpstr>Insert Last Edge pada Parent tertentu</vt:lpstr>
      <vt:lpstr>Connecting</vt:lpstr>
      <vt:lpstr>Disconnecting</vt:lpstr>
      <vt:lpstr>Fungsi Prosedur proses Disconnecting</vt:lpstr>
      <vt:lpstr>FindEdge</vt:lpstr>
      <vt:lpstr>Delete First Edge</vt:lpstr>
      <vt:lpstr>Delete Last Edge</vt:lpstr>
      <vt:lpstr>Delete After Edge</vt:lpstr>
      <vt:lpstr>Delete Edge (Child)</vt:lpstr>
      <vt:lpstr>Disconnecting</vt:lpstr>
      <vt:lpstr>Show Tetangga</vt:lpstr>
      <vt:lpstr>Latihan</vt:lpstr>
      <vt:lpstr>Latihan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HANI</cp:lastModifiedBy>
  <cp:revision>41</cp:revision>
  <dcterms:created xsi:type="dcterms:W3CDTF">2020-03-30T10:25:50Z</dcterms:created>
  <dcterms:modified xsi:type="dcterms:W3CDTF">2021-12-09T06:49:26Z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0x010100C1CDF8CB628B97449CBF1C9C2DF0522A</vt:lpwstr>
  </property>
</Properties>
</file>