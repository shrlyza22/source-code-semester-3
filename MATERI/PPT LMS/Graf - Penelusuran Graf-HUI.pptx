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96" r:id="rId2"/>
    <p:sldId id="397" r:id="rId3"/>
    <p:sldId id="398" r:id="rId4"/>
    <p:sldId id="399" r:id="rId5"/>
    <p:sldId id="410" r:id="rId6"/>
    <p:sldId id="400" r:id="rId7"/>
    <p:sldId id="401" r:id="rId8"/>
    <p:sldId id="402" r:id="rId9"/>
    <p:sldId id="403" r:id="rId10"/>
    <p:sldId id="404" r:id="rId11"/>
    <p:sldId id="411" r:id="rId12"/>
    <p:sldId id="405" r:id="rId13"/>
    <p:sldId id="406" r:id="rId14"/>
    <p:sldId id="407" r:id="rId15"/>
    <p:sldId id="408" r:id="rId16"/>
    <p:sldId id="409" r:id="rId17"/>
    <p:sldId id="4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6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C15F4-0CE9-4DFA-B2B4-D7634513D15E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C48CD-7EB1-4CBA-A6CA-3AF6A13AE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56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73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4E8A165-7B08-4C38-8EBB-A7260E447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FF97683E-DE42-425D-82F2-FA5EF930B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AA27446-170B-4462-BB9B-CDA14DB38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ABA2FA2B-0375-4F3D-90DF-90A59246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3CFEB2D3-6199-4428-9D95-F194FD2B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6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72BF2EC-2ACE-450F-9FA5-5FAA230F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B379061-C6CC-4A0A-B2BB-B3DA74DF4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42D39367-3D64-47AF-BC7B-716AF512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D419BEE-7AC3-44D3-B705-3E7B807C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10E889CA-8449-4E33-AF37-21E66B72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1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E17C94F-877D-43ED-A637-011EDD93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08572CE7-6F6C-4969-9D92-4DA97B459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0DE4FDF-3DC0-4649-9D5A-F84A768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C66CD3C-8DBD-46D0-990D-241C2161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48AC1E4-0A70-418C-BDC2-9D830A83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2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F0B7A4D-D16B-44FA-9685-F875F966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101D740-1155-4BF0-8084-BBC0C58E5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D3FA58AF-FFFA-47D6-B530-9DAD20E56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DD578E93-1B3D-41CC-AB00-5E6D804A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7FFF58B0-EC75-4F3F-8494-C1DD9991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FAADADD1-D41F-44DC-AB09-6AC3AC39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CC88445-C96C-4BCE-BFC5-B757D802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2F4AF8A1-5029-4E04-857A-7DD9CC53C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2E1D94B4-2D8B-4129-A331-A56AC0BEB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3DC43DED-8591-4A7A-86DB-8608320BE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D31828B3-ACA0-4382-8C6C-AD1E91063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B9B63C7B-01B9-468A-B530-51D691E1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87ECAF45-E2E5-46EA-9130-8816541F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6C2EA804-A8C9-4339-94A3-3D529F94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7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4E67CFE-8FE8-4E5D-A400-C3F5B80A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C2F34A3A-0222-4499-95C9-4F4CF182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6F7679C9-4A0E-4981-A7D0-C2D604B0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4DDAD2BB-0492-4A6D-A82F-22A15941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8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D002C4A4-A204-4207-B532-C0D22753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146FCE14-8029-492B-A8FE-1803E54F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AA4FB6A1-B8B8-4E9E-89B1-4F5ACA98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65A27B5-3D3B-4C4A-AE90-9AC75A80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7BDB559B-5B2B-4556-B937-8F7EB8B33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ABABB4DC-57F2-477A-8BDF-898D6BA11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332148FD-7028-4AA2-B29E-F512477C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B376A895-6BC0-4EDA-912E-A68DEAE5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1F081822-C884-4A7D-9D03-7EF265FB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29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A0C0322-120A-46F1-BA37-0782E000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B6221811-8090-43C9-B6B6-2C1168325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3460E52E-1864-458E-A7A9-A4D4C3A70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38DD0FC0-669D-4EFB-A44F-A08DE3CC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47072355-88C0-48FD-AB42-11E10EC2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31AF6579-30A1-46B4-B4D5-179F67F8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7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29CE2EB-0685-4715-9528-F1194DB5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C4DEEABE-D708-427B-9977-FC460355D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570E28D-B154-49A8-B168-5E4D452E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697CFC7-3A68-4628-A990-575A48AE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2987BA4-5063-4BAF-9A80-1B103A6D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8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734AE6B9-7A95-4E09-A98A-11EBD255D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9A8B1FE9-437D-4C0F-9571-98A5E9E11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1C80406D-4992-43E1-BA0A-8D558CFC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325673A-E351-415B-82D0-080EF092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ED20A0E-64B5-4344-B413-CDC4FBBA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63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/>
        </p:blipFill>
        <p:spPr bwMode="auto">
          <a:xfrm>
            <a:off x="57859" y="3251532"/>
            <a:ext cx="513155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46245" y="1269243"/>
            <a:ext cx="10545755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46245" y="2227425"/>
            <a:ext cx="10545755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646245" y="2875085"/>
            <a:ext cx="10557363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>
          <a:xfrm>
            <a:off x="1080795" y="6451887"/>
            <a:ext cx="219074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8021" y="-4831"/>
            <a:ext cx="2723979" cy="8216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-4831"/>
            <a:ext cx="2451100" cy="1085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07600" y="5827096"/>
            <a:ext cx="21844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82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87680" y="2009550"/>
            <a:ext cx="11101917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1"/>
            <a:ext cx="12192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3390" y="6067494"/>
            <a:ext cx="1678609" cy="7978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-4831"/>
            <a:ext cx="1416875" cy="6276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9483" y="56598"/>
            <a:ext cx="18161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72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2C3B07AA-5BE6-4737-A6FD-258C4692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741B93C2-1ED1-42F9-8E80-EEECF64DF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1D771D9F-CED8-4056-8006-966DE642F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E25AB-C2EB-4B21-82A0-F3D3899E1241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4901A64-84B2-43C5-ABC0-72B1D5031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E8B5967D-CFA4-4EEA-991F-AD40B5F24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B6BB0-DAA7-4B37-A273-FE2571BF2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5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png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  <a:cs typeface="Aharoni" panose="02010803020104030203" pitchFamily="2" charset="-79"/>
              </a:rPr>
              <a:t>STRUKTUR DATA</a:t>
            </a:r>
          </a:p>
        </p:txBody>
      </p:sp>
      <p:sp>
        <p:nvSpPr>
          <p:cNvPr id="8" name="Title 9"/>
          <p:cNvSpPr txBox="1">
            <a:spLocks/>
          </p:cNvSpPr>
          <p:nvPr/>
        </p:nvSpPr>
        <p:spPr bwMode="auto">
          <a:xfrm>
            <a:off x="5310188" y="3450468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GRAF </a:t>
            </a:r>
            <a:r>
              <a:rPr lang="en-US" sz="6000" b="0" i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(GRAPH)</a:t>
            </a:r>
          </a:p>
          <a:p>
            <a:pPr algn="r"/>
            <a:r>
              <a:rPr lang="en-US" sz="4000" b="0" i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TOPOLOGICAL SORT</a:t>
            </a:r>
          </a:p>
        </p:txBody>
      </p:sp>
    </p:spTree>
    <p:extLst>
      <p:ext uri="{BB962C8B-B14F-4D97-AF65-F5344CB8AC3E}">
        <p14:creationId xmlns:p14="http://schemas.microsoft.com/office/powerpoint/2010/main" val="199815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349552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Topological</a:t>
            </a:r>
            <a:r>
              <a:rPr lang="en-US" dirty="0"/>
              <a:t> Sort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005313"/>
            <a:ext cx="8326438" cy="524623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4000"/>
              </a:lnSpc>
            </a:pPr>
            <a:r>
              <a:rPr lang="id-ID" dirty="0"/>
              <a:t>Toposort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topological ordering,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linier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yang </a:t>
            </a:r>
            <a:r>
              <a:rPr lang="en-US" dirty="0" err="1"/>
              <a:t>asiklik</a:t>
            </a:r>
            <a:r>
              <a:rPr lang="en-US" dirty="0"/>
              <a:t>.</a:t>
            </a:r>
          </a:p>
          <a:p>
            <a:pPr>
              <a:lnSpc>
                <a:spcPct val="114000"/>
              </a:lnSpc>
            </a:pPr>
            <a:r>
              <a:rPr lang="en-US" dirty="0"/>
              <a:t>Graf </a:t>
            </a:r>
            <a:r>
              <a:rPr lang="en-US" dirty="0" err="1"/>
              <a:t>asiklik</a:t>
            </a:r>
            <a:r>
              <a:rPr lang="en-US" dirty="0"/>
              <a:t>: </a:t>
            </a:r>
            <a:r>
              <a:rPr lang="en-US" dirty="0" err="1"/>
              <a:t>graf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sirkuit</a:t>
            </a:r>
            <a:r>
              <a:rPr lang="en-US" dirty="0"/>
              <a:t> </a:t>
            </a:r>
            <a:r>
              <a:rPr lang="en-US" dirty="0" err="1"/>
              <a:t>berarah</a:t>
            </a:r>
            <a:endParaRPr lang="en-US" dirty="0"/>
          </a:p>
          <a:p>
            <a:pPr>
              <a:lnSpc>
                <a:spcPct val="114000"/>
              </a:lnSpc>
            </a:pPr>
            <a:endParaRPr lang="en-US" dirty="0"/>
          </a:p>
          <a:p>
            <a:pPr marL="0" indent="0">
              <a:lnSpc>
                <a:spcPct val="114000"/>
              </a:lnSpc>
              <a:buNone/>
            </a:pPr>
            <a:endParaRPr lang="en-US" dirty="0"/>
          </a:p>
          <a:p>
            <a:pPr>
              <a:lnSpc>
                <a:spcPct val="114000"/>
              </a:lnSpc>
            </a:pPr>
            <a:endParaRPr lang="en-US" dirty="0"/>
          </a:p>
          <a:p>
            <a:pPr marL="0" indent="0">
              <a:lnSpc>
                <a:spcPct val="114000"/>
              </a:lnSpc>
              <a:buNone/>
            </a:pPr>
            <a:endParaRPr lang="en-US" dirty="0"/>
          </a:p>
          <a:p>
            <a:pPr>
              <a:lnSpc>
                <a:spcPct val="114000"/>
              </a:lnSpc>
            </a:pPr>
            <a:endParaRPr lang="en-US" dirty="0"/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:</a:t>
            </a:r>
          </a:p>
          <a:p>
            <a:pPr marL="631825" lvl="1" indent="0">
              <a:lnSpc>
                <a:spcPct val="114000"/>
              </a:lnSpc>
              <a:buNone/>
            </a:pP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dikerjakan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konstrain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dikerjakan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tugas-tugas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direpresentasikan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.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04403" y="-11836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446449" y="2630211"/>
          <a:ext cx="2009010" cy="1319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itmap Image" r:id="rId4" imgW="1609524" imgH="1057423" progId="Paint.Picture">
                  <p:embed/>
                </p:oleObj>
              </mc:Choice>
              <mc:Fallback>
                <p:oleObj name="Bitmap Image" r:id="rId4" imgW="1609524" imgH="1057423" progId="Paint.Picture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449" y="2630211"/>
                        <a:ext cx="2009010" cy="13195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890295" y="2620357"/>
            <a:ext cx="19175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Graf </a:t>
            </a:r>
            <a:r>
              <a:rPr lang="en-US" dirty="0" err="1">
                <a:solidFill>
                  <a:srgbClr val="FF0000"/>
                </a:solidFill>
              </a:rPr>
              <a:t>asiklik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      (</a:t>
            </a:r>
            <a:r>
              <a:rPr lang="en-US" i="1" dirty="0">
                <a:solidFill>
                  <a:srgbClr val="FF0000"/>
                </a:solidFill>
              </a:rPr>
              <a:t>acyclic graph)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367" y="2471738"/>
            <a:ext cx="2905125" cy="19145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72893" y="3678819"/>
            <a:ext cx="25135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Graf </a:t>
            </a:r>
            <a:r>
              <a:rPr lang="en-US" dirty="0" err="1">
                <a:solidFill>
                  <a:srgbClr val="FF0000"/>
                </a:solidFill>
              </a:rPr>
              <a:t>siklik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i="1" dirty="0">
                <a:solidFill>
                  <a:srgbClr val="FF0000"/>
                </a:solidFill>
              </a:rPr>
              <a:t>cyclic graph)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BCED </a:t>
            </a:r>
            <a:r>
              <a:rPr lang="en-US" dirty="0" err="1">
                <a:solidFill>
                  <a:srgbClr val="FF0000"/>
                </a:solidFill>
              </a:rPr>
              <a:t>membentuk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sirkuit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60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889125" y="1152155"/>
            <a:ext cx="8326438" cy="402549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topological sort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:</a:t>
            </a:r>
          </a:p>
          <a:p>
            <a:pPr marL="712788" indent="-349250">
              <a:buNone/>
            </a:pPr>
            <a:r>
              <a:rPr lang="en-US" dirty="0"/>
              <a:t>1. </a:t>
            </a: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in-degree</a:t>
            </a:r>
            <a:r>
              <a:rPr lang="en-US" dirty="0">
                <a:solidFill>
                  <a:srgbClr val="FF0000"/>
                </a:solidFill>
              </a:rPr>
              <a:t> = 0</a:t>
            </a:r>
            <a:r>
              <a:rPr lang="en-US" dirty="0"/>
              <a:t>.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, yang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A </a:t>
            </a:r>
            <a:r>
              <a:rPr lang="en-US" dirty="0" err="1"/>
              <a:t>atau</a:t>
            </a:r>
            <a:r>
              <a:rPr lang="en-US" dirty="0"/>
              <a:t> G.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A.</a:t>
            </a:r>
          </a:p>
          <a:p>
            <a:pPr marL="712788" indent="-349250">
              <a:buNone/>
            </a:pPr>
            <a:r>
              <a:rPr lang="en-US" dirty="0"/>
              <a:t>2.	</a:t>
            </a:r>
            <a:r>
              <a:rPr lang="en-US" dirty="0" err="1"/>
              <a:t>Hapus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busur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A.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menyebabkan</a:t>
            </a:r>
            <a:r>
              <a:rPr lang="en-US" dirty="0"/>
              <a:t> in-degree </a:t>
            </a:r>
            <a:r>
              <a:rPr lang="en-US" dirty="0" err="1"/>
              <a:t>simpul-simpul</a:t>
            </a:r>
            <a:r>
              <a:rPr lang="en-US" dirty="0"/>
              <a:t> </a:t>
            </a:r>
            <a:r>
              <a:rPr lang="en-US" dirty="0" err="1"/>
              <a:t>tersisa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0.</a:t>
            </a:r>
          </a:p>
          <a:p>
            <a:pPr marL="712788" indent="-349250">
              <a:buNone/>
            </a:pPr>
            <a:r>
              <a:rPr lang="en-US" dirty="0"/>
              <a:t>3.	</a:t>
            </a:r>
            <a:r>
              <a:rPr lang="en-US" dirty="0" err="1"/>
              <a:t>Ulangi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1 </a:t>
            </a:r>
            <a:r>
              <a:rPr lang="en-US" dirty="0" err="1"/>
              <a:t>dan</a:t>
            </a:r>
            <a:r>
              <a:rPr lang="en-US" dirty="0"/>
              <a:t> 2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Eksekusi</a:t>
            </a:r>
            <a:r>
              <a:rPr lang="en-US" dirty="0"/>
              <a:t> Topological Sort (1)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2048" y="1793395"/>
            <a:ext cx="2531539" cy="140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8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895644" y="1515479"/>
            <a:ext cx="8326438" cy="402549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4" y="417170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Eksekusi</a:t>
            </a:r>
            <a:r>
              <a:rPr lang="en-US" dirty="0"/>
              <a:t> Topological Sort (2)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643" y="1253921"/>
            <a:ext cx="2189551" cy="1278055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 flipV="1">
            <a:off x="5195047" y="1734228"/>
            <a:ext cx="124508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931809" y="1215142"/>
          <a:ext cx="2012625" cy="1321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Bitmap Image" r:id="rId4" imgW="1609524" imgH="1057423" progId="Paint.Picture">
                  <p:embed/>
                </p:oleObj>
              </mc:Choice>
              <mc:Fallback>
                <p:oleObj name="Bitmap Image" r:id="rId4" imgW="1609524" imgH="1057423" progId="Paint.Picture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1809" y="1215142"/>
                        <a:ext cx="2012625" cy="13219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 flipV="1">
            <a:off x="7882597" y="1999950"/>
            <a:ext cx="114838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245194" y="1288428"/>
          <a:ext cx="1771590" cy="132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Bitmap Image" r:id="rId6" imgW="1400000" imgH="1047619" progId="Paint.Picture">
                  <p:embed/>
                </p:oleObj>
              </mc:Choice>
              <mc:Fallback>
                <p:oleObj name="Bitmap Image" r:id="rId6" imgW="1400000" imgH="1047619" progId="Paint.Picture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5194" y="1288428"/>
                        <a:ext cx="1771590" cy="13256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889126" y="440140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8626830" y="1290145"/>
          <a:ext cx="1291871" cy="1303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Bitmap Image" r:id="rId8" imgW="1028844" imgH="1038370" progId="Paint.Picture">
                  <p:embed/>
                </p:oleObj>
              </mc:Choice>
              <mc:Fallback>
                <p:oleObj name="Bitmap Image" r:id="rId8" imgW="1028844" imgH="1038370" progId="Paint.Picture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6830" y="1290145"/>
                        <a:ext cx="1291871" cy="13038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606019" y="449526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064389" y="3664718"/>
          <a:ext cx="1441670" cy="974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Bitmap Image" r:id="rId10" imgW="1057423" imgH="714286" progId="Paint.Picture">
                  <p:embed/>
                </p:oleObj>
              </mc:Choice>
              <mc:Fallback>
                <p:oleObj name="Bitmap Image" r:id="rId10" imgW="1057423" imgH="714286" progId="Paint.Picture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389" y="3664718"/>
                        <a:ext cx="1441670" cy="9741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9013811" y="462389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8145722" y="4155560"/>
          <a:ext cx="711656" cy="631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Bitmap Image" r:id="rId12" imgW="504762" imgH="447856" progId="Paint.Picture">
                  <p:embed/>
                </p:oleObj>
              </mc:Choice>
              <mc:Fallback>
                <p:oleObj name="Bitmap Image" r:id="rId12" imgW="504762" imgH="447856" progId="Paint.Picture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5722" y="4155560"/>
                        <a:ext cx="711656" cy="6310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6919680" y="449028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856426" y="3777342"/>
          <a:ext cx="644866" cy="967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Bitmap Image" r:id="rId14" imgW="457143" imgH="685714" progId="Paint.Picture">
                  <p:embed/>
                </p:oleObj>
              </mc:Choice>
              <mc:Fallback>
                <p:oleObj name="Bitmap Image" r:id="rId14" imgW="457143" imgH="685714" progId="Paint.Picture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426" y="3777342"/>
                        <a:ext cx="644866" cy="9672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4119796" y="2552595"/>
            <a:ext cx="2122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Antrian</a:t>
            </a:r>
            <a:r>
              <a:rPr lang="en-US" dirty="0"/>
              <a:t>: {G,B}</a:t>
            </a:r>
          </a:p>
          <a:p>
            <a:r>
              <a:rPr lang="en-US" dirty="0"/>
              <a:t>Visited: {A}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22042" y="2593978"/>
            <a:ext cx="2430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Antrian</a:t>
            </a:r>
            <a:r>
              <a:rPr lang="en-US" dirty="0"/>
              <a:t>: {C,D}</a:t>
            </a:r>
          </a:p>
          <a:p>
            <a:r>
              <a:rPr lang="en-US" dirty="0"/>
              <a:t>Visited: {A,G,B}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8857" y="2619081"/>
            <a:ext cx="2122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Antrian</a:t>
            </a:r>
            <a:r>
              <a:rPr lang="en-US" dirty="0"/>
              <a:t>: {B}</a:t>
            </a:r>
          </a:p>
          <a:p>
            <a:r>
              <a:rPr lang="en-US" dirty="0"/>
              <a:t>Visited: {A,G}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24025" y="2657631"/>
            <a:ext cx="2122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Antrian</a:t>
            </a:r>
            <a:r>
              <a:rPr lang="en-US" dirty="0"/>
              <a:t>: {A,G}</a:t>
            </a:r>
          </a:p>
          <a:p>
            <a:r>
              <a:rPr lang="en-US" dirty="0"/>
              <a:t>Visited: {}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89243" y="4804370"/>
            <a:ext cx="2430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Antrian</a:t>
            </a:r>
            <a:r>
              <a:rPr lang="en-US" dirty="0"/>
              <a:t>: {D}</a:t>
            </a:r>
          </a:p>
          <a:p>
            <a:r>
              <a:rPr lang="en-US" dirty="0"/>
              <a:t>Visited: {A,G,B,C}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6369" y="4786651"/>
            <a:ext cx="2847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Antrian</a:t>
            </a:r>
            <a:r>
              <a:rPr lang="en-US" dirty="0"/>
              <a:t>: {E}</a:t>
            </a:r>
          </a:p>
          <a:p>
            <a:r>
              <a:rPr lang="en-US" dirty="0"/>
              <a:t>Visited: {A,G,B,C,D}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5986" y="4756575"/>
            <a:ext cx="2847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Antrian</a:t>
            </a:r>
            <a:r>
              <a:rPr lang="en-US" dirty="0"/>
              <a:t>: {F}</a:t>
            </a:r>
          </a:p>
          <a:p>
            <a:r>
              <a:rPr lang="en-US" dirty="0"/>
              <a:t>Visited: {A,G,B,C,D,E}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35874" y="6074913"/>
            <a:ext cx="6558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Status </a:t>
            </a:r>
            <a:r>
              <a:rPr lang="en-US" dirty="0" err="1">
                <a:solidFill>
                  <a:srgbClr val="0070C0"/>
                </a:solidFill>
              </a:rPr>
              <a:t>akhir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Antrian</a:t>
            </a:r>
            <a:r>
              <a:rPr lang="en-US" dirty="0">
                <a:solidFill>
                  <a:srgbClr val="0070C0"/>
                </a:solidFill>
              </a:rPr>
              <a:t>:{},Visited: {A,G,B,C,D,E,F}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8970" y="3156035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51" y="3055511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29368" y="3128873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3447" y="3181307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59749" y="5339254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67357" y="5303555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26829" y="5300896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35949" y="6058805"/>
            <a:ext cx="596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itka Heading" panose="02000505000000020004" pitchFamily="2" charset="0"/>
              </a:rPr>
              <a:t>(8)</a:t>
            </a:r>
          </a:p>
        </p:txBody>
      </p:sp>
    </p:spTree>
    <p:extLst>
      <p:ext uri="{BB962C8B-B14F-4D97-AF65-F5344CB8AC3E}">
        <p14:creationId xmlns:p14="http://schemas.microsoft.com/office/powerpoint/2010/main" val="384743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  <a:cs typeface="Aharoni" panose="02010803020104030203" pitchFamily="2" charset="-79"/>
              </a:rPr>
              <a:t>STRUKTUR DATA</a:t>
            </a:r>
          </a:p>
        </p:txBody>
      </p:sp>
      <p:sp>
        <p:nvSpPr>
          <p:cNvPr id="8" name="Title 9"/>
          <p:cNvSpPr txBox="1">
            <a:spLocks/>
          </p:cNvSpPr>
          <p:nvPr/>
        </p:nvSpPr>
        <p:spPr bwMode="auto">
          <a:xfrm>
            <a:off x="4316628" y="3450468"/>
            <a:ext cx="575129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GRAF </a:t>
            </a:r>
            <a:r>
              <a:rPr lang="en-US" sz="6000" b="0" i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(GRAPH)</a:t>
            </a:r>
          </a:p>
          <a:p>
            <a:pPr algn="r"/>
            <a:r>
              <a:rPr lang="en-US" sz="4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Bread First Search (DFS)</a:t>
            </a:r>
          </a:p>
        </p:txBody>
      </p:sp>
    </p:spTree>
    <p:extLst>
      <p:ext uri="{BB962C8B-B14F-4D97-AF65-F5344CB8AC3E}">
        <p14:creationId xmlns:p14="http://schemas.microsoft.com/office/powerpoint/2010/main" val="695228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47637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Problem 1: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,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dari</a:t>
            </a:r>
            <a:r>
              <a:rPr lang="en-US" dirty="0">
                <a:solidFill>
                  <a:srgbClr val="0070C0"/>
                </a:solidFill>
              </a:rPr>
              <a:t> 4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BFS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4  1  2  5  10  9  6  3  8  7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/>
              <a:t>Problem 2: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simpul</a:t>
            </a:r>
            <a:r>
              <a:rPr lang="en-US" dirty="0">
                <a:solidFill>
                  <a:srgbClr val="0070C0"/>
                </a:solidFill>
              </a:rPr>
              <a:t> 6</a:t>
            </a:r>
            <a:r>
              <a:rPr lang="en-US" dirty="0"/>
              <a:t>,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dari</a:t>
            </a:r>
            <a:r>
              <a:rPr lang="en-US" dirty="0">
                <a:solidFill>
                  <a:srgbClr val="0070C0"/>
                </a:solidFill>
              </a:rPr>
              <a:t> 3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BFS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mengunjungi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3  5  8  10  1  4  6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Pengantar</a:t>
            </a:r>
            <a:r>
              <a:rPr lang="en-US" dirty="0"/>
              <a:t> BFS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44" y="1866901"/>
            <a:ext cx="2443956" cy="2159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573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2042984" y="1260390"/>
            <a:ext cx="8031893" cy="4621426"/>
          </a:xfrm>
        </p:spPr>
        <p:txBody>
          <a:bodyPr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/>
              <a:t>BFS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algoritma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70C0"/>
                </a:solidFill>
              </a:rPr>
              <a:t>melintasi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seluruh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simpul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70C0"/>
                </a:solidFill>
              </a:rPr>
              <a:t>mencari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simpul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tertentu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70C0"/>
                </a:solidFill>
              </a:rPr>
              <a:t>graf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i="1" dirty="0">
                <a:solidFill>
                  <a:srgbClr val="0070C0"/>
                </a:solidFill>
              </a:rPr>
              <a:t>tree</a:t>
            </a:r>
            <a:r>
              <a:rPr lang="en-US" sz="1800" dirty="0"/>
              <a:t>, </a:t>
            </a:r>
            <a:r>
              <a:rPr lang="en-US" sz="1800" dirty="0" err="1"/>
              <a:t>dimulai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tertentu</a:t>
            </a:r>
            <a:r>
              <a:rPr lang="en-US" sz="1800" dirty="0"/>
              <a:t> (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akar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i="1" dirty="0"/>
              <a:t>tree</a:t>
            </a:r>
            <a:r>
              <a:rPr lang="en-US" sz="1800" dirty="0"/>
              <a:t>). BFS </a:t>
            </a:r>
            <a:r>
              <a:rPr lang="en-US" sz="1800" dirty="0" err="1"/>
              <a:t>memprioritaskan</a:t>
            </a:r>
            <a:r>
              <a:rPr lang="en-US" sz="1800" dirty="0"/>
              <a:t> </a:t>
            </a:r>
            <a:r>
              <a:rPr lang="en-US" sz="1800" dirty="0" err="1"/>
              <a:t>simpul-simpul</a:t>
            </a:r>
            <a:r>
              <a:rPr lang="en-US" sz="1800" dirty="0"/>
              <a:t> </a:t>
            </a:r>
            <a:r>
              <a:rPr lang="en-US" sz="1800" dirty="0" err="1"/>
              <a:t>tetangga</a:t>
            </a:r>
            <a:r>
              <a:rPr lang="en-US" sz="1800" dirty="0"/>
              <a:t> (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simpul-simpul</a:t>
            </a:r>
            <a:r>
              <a:rPr lang="en-US" sz="1800" dirty="0"/>
              <a:t> </a:t>
            </a:r>
            <a:r>
              <a:rPr lang="en-US" sz="1800" dirty="0" err="1"/>
              <a:t>anak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i="1" dirty="0"/>
              <a:t>tree</a:t>
            </a:r>
            <a:r>
              <a:rPr lang="en-US" sz="1800" dirty="0"/>
              <a:t>)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dieksplor</a:t>
            </a:r>
            <a:r>
              <a:rPr lang="en-US" sz="1800" dirty="0"/>
              <a:t> </a:t>
            </a:r>
            <a:r>
              <a:rPr lang="en-US" sz="1800" dirty="0" err="1"/>
              <a:t>sebelum</a:t>
            </a:r>
            <a:r>
              <a:rPr lang="en-US" sz="1800" dirty="0"/>
              <a:t> </a:t>
            </a:r>
            <a:r>
              <a:rPr lang="en-US" sz="1800" dirty="0" err="1"/>
              <a:t>simpul-simpul</a:t>
            </a:r>
            <a:r>
              <a:rPr lang="en-US" sz="1800" dirty="0"/>
              <a:t> </a:t>
            </a:r>
            <a:r>
              <a:rPr lang="en-US" sz="1800" dirty="0" err="1"/>
              <a:t>lainnya</a:t>
            </a:r>
            <a:r>
              <a:rPr lang="en-US" sz="1800" dirty="0"/>
              <a:t>.</a:t>
            </a:r>
            <a:endParaRPr lang="en-US" sz="1800" i="1" dirty="0"/>
          </a:p>
          <a:p>
            <a:pPr marL="0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800" dirty="0"/>
              <a:t>BFS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70C0"/>
                </a:solidFill>
              </a:rPr>
              <a:t>antrian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menyimpan</a:t>
            </a:r>
            <a:r>
              <a:rPr lang="en-US" sz="1800" dirty="0"/>
              <a:t> </a:t>
            </a:r>
            <a:r>
              <a:rPr lang="en-US" sz="1800" dirty="0" err="1"/>
              <a:t>simpul-simpul</a:t>
            </a:r>
            <a:r>
              <a:rPr lang="en-US" sz="1800" dirty="0"/>
              <a:t> </a:t>
            </a:r>
            <a:r>
              <a:rPr lang="en-US" sz="1800" dirty="0" err="1"/>
              <a:t>tetangga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yang </a:t>
            </a:r>
            <a:r>
              <a:rPr lang="en-US" sz="1800" dirty="0" err="1"/>
              <a:t>sedang</a:t>
            </a:r>
            <a:r>
              <a:rPr lang="en-US" sz="1800" dirty="0"/>
              <a:t> </a:t>
            </a:r>
            <a:r>
              <a:rPr lang="en-US" sz="1800" dirty="0" err="1"/>
              <a:t>diproses</a:t>
            </a:r>
            <a:r>
              <a:rPr lang="en-US" sz="1800" dirty="0"/>
              <a:t>.</a:t>
            </a:r>
            <a:endParaRPr lang="en-US" sz="1800" i="1" dirty="0"/>
          </a:p>
          <a:p>
            <a:pPr marL="0" indent="0">
              <a:lnSpc>
                <a:spcPct val="114000"/>
              </a:lnSpc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42984" y="388401"/>
            <a:ext cx="8172579" cy="641239"/>
          </a:xfrm>
        </p:spPr>
        <p:txBody>
          <a:bodyPr>
            <a:normAutofit fontScale="90000"/>
          </a:bodyPr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BFS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6" name="Content Placeholder 1"/>
          <p:cNvSpPr txBox="1">
            <a:spLocks/>
          </p:cNvSpPr>
          <p:nvPr/>
        </p:nvSpPr>
        <p:spPr bwMode="auto">
          <a:xfrm>
            <a:off x="5359784" y="4003628"/>
            <a:ext cx="4560612" cy="250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lnSpc>
                <a:spcPct val="114000"/>
              </a:lnSpc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sz="1800" dirty="0" err="1"/>
              <a:t>Contohnya</a:t>
            </a:r>
            <a:r>
              <a:rPr lang="en-US" sz="1800" dirty="0"/>
              <a:t>,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4 </a:t>
            </a:r>
            <a:r>
              <a:rPr lang="en-US" sz="1800" dirty="0" err="1"/>
              <a:t>sedang</a:t>
            </a:r>
            <a:r>
              <a:rPr lang="en-US" sz="1800" dirty="0"/>
              <a:t> </a:t>
            </a:r>
            <a:r>
              <a:rPr lang="en-US" sz="1800" dirty="0" err="1"/>
              <a:t>diproses</a:t>
            </a:r>
            <a:r>
              <a:rPr lang="en-US" sz="1800" dirty="0"/>
              <a:t>,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1, 2, 5, 10 </a:t>
            </a:r>
            <a:r>
              <a:rPr lang="en-US" sz="1800" dirty="0" err="1"/>
              <a:t>masuk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antrian</a:t>
            </a:r>
            <a:r>
              <a:rPr lang="en-US" sz="1800" dirty="0"/>
              <a:t>.</a:t>
            </a:r>
          </a:p>
          <a:p>
            <a:pPr marL="0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800" dirty="0"/>
              <a:t>BFS </a:t>
            </a:r>
            <a:r>
              <a:rPr lang="en-US" sz="1800" dirty="0" err="1"/>
              <a:t>selesai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status </a:t>
            </a:r>
            <a:r>
              <a:rPr lang="en-US" sz="1800" dirty="0" err="1"/>
              <a:t>semua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‘visited’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yang </a:t>
            </a:r>
            <a:r>
              <a:rPr lang="en-US" sz="1800" dirty="0" err="1"/>
              <a:t>dicari</a:t>
            </a:r>
            <a:r>
              <a:rPr lang="en-US" sz="1800" dirty="0"/>
              <a:t> </a:t>
            </a:r>
            <a:r>
              <a:rPr lang="en-US" sz="1800" dirty="0" err="1"/>
              <a:t>sudah</a:t>
            </a:r>
            <a:r>
              <a:rPr lang="en-US" sz="1800" dirty="0"/>
              <a:t> </a:t>
            </a:r>
            <a:r>
              <a:rPr lang="en-US" sz="1800" dirty="0" err="1"/>
              <a:t>ditemukan</a:t>
            </a:r>
            <a:r>
              <a:rPr lang="en-US" sz="1800" dirty="0"/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452" y="3880979"/>
            <a:ext cx="2879510" cy="25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5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760" y="507372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BFS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422526" y="1977656"/>
            <a:ext cx="7569835" cy="36684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 u="sng" dirty="0"/>
              <a:t>Procedure</a:t>
            </a:r>
            <a:r>
              <a:rPr lang="en-US" sz="1800" dirty="0"/>
              <a:t> BFS ( G : graph, v : vertex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Kamus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Q : Queue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x, w : vertex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Algoritma</a:t>
            </a:r>
            <a:r>
              <a:rPr lang="en-US" sz="18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enqueue</a:t>
            </a:r>
            <a:r>
              <a:rPr lang="en-US" sz="1800" dirty="0"/>
              <a:t>( Q, v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u="sng" dirty="0"/>
              <a:t>while</a:t>
            </a:r>
            <a:r>
              <a:rPr lang="en-US" sz="1800" dirty="0"/>
              <a:t> ( not </a:t>
            </a:r>
            <a:r>
              <a:rPr lang="en-US" sz="1800" dirty="0" err="1"/>
              <a:t>isEmpty</a:t>
            </a:r>
            <a:r>
              <a:rPr lang="en-US" sz="1800" dirty="0"/>
              <a:t>( Q ) ) </a:t>
            </a:r>
            <a:r>
              <a:rPr lang="en-US" sz="1800" u="sng" dirty="0"/>
              <a:t>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	x </a:t>
            </a:r>
            <a:r>
              <a:rPr lang="en-US" sz="1800" dirty="0">
                <a:sym typeface="Wingdings" panose="05000000000000000000" pitchFamily="2" charset="2"/>
              </a:rPr>
              <a:t> </a:t>
            </a:r>
            <a:r>
              <a:rPr lang="en-US" sz="1800" dirty="0" err="1">
                <a:sym typeface="Wingdings" panose="05000000000000000000" pitchFamily="2" charset="2"/>
              </a:rPr>
              <a:t>dequeue</a:t>
            </a:r>
            <a:r>
              <a:rPr lang="en-US" sz="1800" dirty="0">
                <a:sym typeface="Wingdings" panose="05000000000000000000" pitchFamily="2" charset="2"/>
              </a:rPr>
              <a:t>(Q)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if( not </a:t>
            </a:r>
            <a:r>
              <a:rPr lang="en-US" sz="1800" dirty="0" err="1">
                <a:sym typeface="Wingdings" panose="05000000000000000000" pitchFamily="2" charset="2"/>
              </a:rPr>
              <a:t>isVisited</a:t>
            </a:r>
            <a:r>
              <a:rPr lang="en-US" sz="1800" dirty="0">
                <a:sym typeface="Wingdings" panose="05000000000000000000" pitchFamily="2" charset="2"/>
              </a:rPr>
              <a:t>( x ) ) </a:t>
            </a:r>
            <a:r>
              <a:rPr lang="en-US" sz="1800" u="sng" dirty="0">
                <a:sym typeface="Wingdings" panose="05000000000000000000" pitchFamily="2" charset="2"/>
              </a:rPr>
              <a:t>then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	visit( x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	</a:t>
            </a:r>
            <a:r>
              <a:rPr lang="en-US" sz="1800" u="sng" dirty="0">
                <a:sym typeface="Wingdings" panose="05000000000000000000" pitchFamily="2" charset="2"/>
              </a:rPr>
              <a:t>for</a:t>
            </a:r>
            <a:r>
              <a:rPr lang="en-US" sz="1800" dirty="0">
                <a:sym typeface="Wingdings" panose="05000000000000000000" pitchFamily="2" charset="2"/>
              </a:rPr>
              <a:t> all neighbors w of x 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		</a:t>
            </a:r>
            <a:r>
              <a:rPr lang="en-US" sz="1800" u="sng" dirty="0">
                <a:sym typeface="Wingdings" panose="05000000000000000000" pitchFamily="2" charset="2"/>
              </a:rPr>
              <a:t>if</a:t>
            </a:r>
            <a:r>
              <a:rPr lang="en-US" sz="1800" dirty="0">
                <a:sym typeface="Wingdings" panose="05000000000000000000" pitchFamily="2" charset="2"/>
              </a:rPr>
              <a:t>( not </a:t>
            </a:r>
            <a:r>
              <a:rPr lang="en-US" sz="1800" dirty="0" err="1">
                <a:sym typeface="Wingdings" panose="05000000000000000000" pitchFamily="2" charset="2"/>
              </a:rPr>
              <a:t>isVisited</a:t>
            </a:r>
            <a:r>
              <a:rPr lang="en-US" sz="1800" dirty="0">
                <a:sym typeface="Wingdings" panose="05000000000000000000" pitchFamily="2" charset="2"/>
              </a:rPr>
              <a:t>( w ) </a:t>
            </a:r>
            <a:r>
              <a:rPr lang="en-US" sz="1800" u="sng" dirty="0">
                <a:sym typeface="Wingdings" panose="05000000000000000000" pitchFamily="2" charset="2"/>
              </a:rPr>
              <a:t>then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                           </a:t>
            </a:r>
            <a:r>
              <a:rPr lang="en-US" sz="1800" dirty="0" err="1">
                <a:sym typeface="Wingdings" panose="05000000000000000000" pitchFamily="2" charset="2"/>
              </a:rPr>
              <a:t>enqueue</a:t>
            </a:r>
            <a:r>
              <a:rPr lang="en-US" sz="1800" dirty="0">
                <a:sym typeface="Wingdings" panose="05000000000000000000" pitchFamily="2" charset="2"/>
              </a:rPr>
              <a:t>( Q, w )</a:t>
            </a: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11823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2042983" y="1383958"/>
            <a:ext cx="8216236" cy="1729946"/>
          </a:xfrm>
        </p:spPr>
        <p:txBody>
          <a:bodyPr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/>
              <a:t>Di </a:t>
            </a:r>
            <a:r>
              <a:rPr lang="en-US" sz="1800" dirty="0" err="1"/>
              <a:t>bawah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ilustrasi</a:t>
            </a:r>
            <a:r>
              <a:rPr lang="en-US" sz="1800" dirty="0"/>
              <a:t> </a:t>
            </a:r>
            <a:r>
              <a:rPr lang="en-US" sz="1800" dirty="0" err="1"/>
              <a:t>penelusuran</a:t>
            </a:r>
            <a:r>
              <a:rPr lang="en-US" sz="1800" dirty="0"/>
              <a:t> </a:t>
            </a:r>
            <a:r>
              <a:rPr lang="en-US" sz="1800" dirty="0" err="1"/>
              <a:t>graf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BFS. </a:t>
            </a:r>
            <a:r>
              <a:rPr lang="en-US" sz="1800" dirty="0" err="1"/>
              <a:t>Penelusuran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DFS </a:t>
            </a:r>
            <a:r>
              <a:rPr lang="en-US" sz="1800" dirty="0" err="1"/>
              <a:t>dimulai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4.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42984" y="449527"/>
            <a:ext cx="8172579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Melintasi</a:t>
            </a:r>
            <a:r>
              <a:rPr lang="en-US" dirty="0"/>
              <a:t> Graf </a:t>
            </a:r>
            <a:r>
              <a:rPr lang="en-US" dirty="0" err="1"/>
              <a:t>dengan</a:t>
            </a:r>
            <a:r>
              <a:rPr lang="en-US" dirty="0"/>
              <a:t> BFS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5862773" y="2790394"/>
            <a:ext cx="4224460" cy="172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lnSpc>
                <a:spcPct val="114000"/>
              </a:lnSpc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800" dirty="0" err="1">
                <a:solidFill>
                  <a:srgbClr val="FF0000"/>
                </a:solidFill>
              </a:rPr>
              <a:t>Penelusuran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akan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berakhir</a:t>
            </a:r>
            <a:r>
              <a:rPr lang="en-US" sz="1800" dirty="0">
                <a:solidFill>
                  <a:srgbClr val="FF0000"/>
                </a:solidFill>
              </a:rPr>
              <a:t> di </a:t>
            </a:r>
            <a:r>
              <a:rPr lang="en-US" sz="1800" dirty="0" err="1">
                <a:solidFill>
                  <a:srgbClr val="FF0000"/>
                </a:solidFill>
              </a:rPr>
              <a:t>simpul</a:t>
            </a:r>
            <a:r>
              <a:rPr lang="en-US" sz="1800" dirty="0">
                <a:solidFill>
                  <a:srgbClr val="FF0000"/>
                </a:solidFill>
              </a:rPr>
              <a:t> 7.</a:t>
            </a:r>
            <a:endParaRPr lang="en-US" sz="1800" i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853" y="2353575"/>
            <a:ext cx="3162050" cy="356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74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2042983" y="1383958"/>
            <a:ext cx="8216236" cy="1729946"/>
          </a:xfrm>
        </p:spPr>
        <p:txBody>
          <a:bodyPr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/>
              <a:t>Di </a:t>
            </a:r>
            <a:r>
              <a:rPr lang="en-US" sz="1800" dirty="0" err="1"/>
              <a:t>bawah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ilustrasi</a:t>
            </a:r>
            <a:r>
              <a:rPr lang="en-US" sz="1800" dirty="0"/>
              <a:t> </a:t>
            </a:r>
            <a:r>
              <a:rPr lang="en-US" sz="1800" dirty="0" err="1"/>
              <a:t>pencarian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F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awal</a:t>
            </a:r>
            <a:r>
              <a:rPr lang="en-US" sz="1800" dirty="0"/>
              <a:t> D.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42984" y="449527"/>
            <a:ext cx="8172579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Pencarian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BFS</a:t>
            </a:r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27190" y="4910383"/>
            <a:ext cx="7414053" cy="390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dirty="0" err="1"/>
              <a:t>Simpul</a:t>
            </a:r>
            <a:r>
              <a:rPr lang="en-US" dirty="0"/>
              <a:t> yang </a:t>
            </a:r>
            <a:r>
              <a:rPr lang="en-US" dirty="0" err="1"/>
              <a:t>dikunjungi</a:t>
            </a:r>
            <a:r>
              <a:rPr lang="en-US" dirty="0"/>
              <a:t>: D B G E H C F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5" y="2109788"/>
            <a:ext cx="36004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7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  <a:cs typeface="Aharoni" panose="02010803020104030203" pitchFamily="2" charset="-79"/>
              </a:rPr>
              <a:t>STRUKTUR DATA</a:t>
            </a:r>
          </a:p>
        </p:txBody>
      </p:sp>
      <p:sp>
        <p:nvSpPr>
          <p:cNvPr id="8" name="Title 9"/>
          <p:cNvSpPr txBox="1">
            <a:spLocks/>
          </p:cNvSpPr>
          <p:nvPr/>
        </p:nvSpPr>
        <p:spPr bwMode="auto">
          <a:xfrm>
            <a:off x="5310188" y="3450468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GRAF </a:t>
            </a:r>
            <a:r>
              <a:rPr lang="en-US" sz="6000" b="0" i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(GRAPH)</a:t>
            </a:r>
          </a:p>
          <a:p>
            <a:pPr algn="r"/>
            <a:r>
              <a:rPr lang="en-US" sz="4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Depth First Search (DFS)</a:t>
            </a:r>
          </a:p>
        </p:txBody>
      </p:sp>
    </p:spTree>
    <p:extLst>
      <p:ext uri="{BB962C8B-B14F-4D97-AF65-F5344CB8AC3E}">
        <p14:creationId xmlns:p14="http://schemas.microsoft.com/office/powerpoint/2010/main" val="3666400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1932781" y="1230670"/>
            <a:ext cx="8326438" cy="47637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Problem 1: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,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dari</a:t>
            </a:r>
            <a:r>
              <a:rPr lang="en-US" dirty="0">
                <a:solidFill>
                  <a:srgbClr val="0070C0"/>
                </a:solidFill>
              </a:rPr>
              <a:t> 4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DFS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4  1  5  3  8  6  2  9  7  10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Problem 2: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6,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dari</a:t>
            </a:r>
            <a:r>
              <a:rPr lang="en-US" dirty="0">
                <a:solidFill>
                  <a:srgbClr val="0070C0"/>
                </a:solidFill>
              </a:rPr>
              <a:t> 3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DFS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mengunjungi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3  5  1  4  2  6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125" y="449527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Pengantar</a:t>
            </a:r>
            <a:r>
              <a:rPr lang="en-US" dirty="0"/>
              <a:t> DFS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44" y="1866901"/>
            <a:ext cx="2443956" cy="2159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3127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2042984" y="1260390"/>
            <a:ext cx="8031893" cy="4621426"/>
          </a:xfrm>
        </p:spPr>
        <p:txBody>
          <a:bodyPr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/>
              <a:t>DFS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algoritma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70C0"/>
                </a:solidFill>
              </a:rPr>
              <a:t>melintasi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seluruh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simpul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70C0"/>
                </a:solidFill>
              </a:rPr>
              <a:t>mencari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simpul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tertentu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70C0"/>
                </a:solidFill>
              </a:rPr>
              <a:t>graf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i="1" dirty="0">
                <a:solidFill>
                  <a:srgbClr val="0070C0"/>
                </a:solidFill>
              </a:rPr>
              <a:t>tree</a:t>
            </a:r>
            <a:r>
              <a:rPr lang="en-US" sz="1800" dirty="0"/>
              <a:t>, </a:t>
            </a:r>
            <a:r>
              <a:rPr lang="en-US" sz="1800" dirty="0" err="1"/>
              <a:t>dimulai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tertentu</a:t>
            </a:r>
            <a:r>
              <a:rPr lang="en-US" sz="1800" dirty="0"/>
              <a:t> (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akar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i="1" dirty="0"/>
              <a:t>tree</a:t>
            </a:r>
            <a:r>
              <a:rPr lang="en-US" sz="1800" dirty="0"/>
              <a:t>). DFS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mengeksplor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tetangga</a:t>
            </a:r>
            <a:r>
              <a:rPr lang="en-US" sz="1800" dirty="0"/>
              <a:t> (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cabang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i="1" dirty="0"/>
              <a:t>tree</a:t>
            </a:r>
            <a:r>
              <a:rPr lang="en-US" sz="1800" dirty="0"/>
              <a:t>) </a:t>
            </a:r>
            <a:r>
              <a:rPr lang="en-US" sz="1800" dirty="0" err="1"/>
              <a:t>sejauh</a:t>
            </a:r>
            <a:r>
              <a:rPr lang="en-US" sz="1800" dirty="0"/>
              <a:t> </a:t>
            </a:r>
            <a:r>
              <a:rPr lang="en-US" sz="1800" dirty="0" err="1"/>
              <a:t>mungkin</a:t>
            </a:r>
            <a:r>
              <a:rPr lang="en-US" sz="1800" dirty="0"/>
              <a:t> </a:t>
            </a:r>
            <a:r>
              <a:rPr lang="en-US" sz="1800" dirty="0" err="1"/>
              <a:t>sebelum</a:t>
            </a:r>
            <a:r>
              <a:rPr lang="en-US" sz="1800" dirty="0"/>
              <a:t> </a:t>
            </a:r>
            <a:r>
              <a:rPr lang="en-US" sz="1800" i="1" dirty="0">
                <a:solidFill>
                  <a:srgbClr val="0070C0"/>
                </a:solidFill>
              </a:rPr>
              <a:t>backtracking</a:t>
            </a:r>
            <a:r>
              <a:rPr lang="en-US" sz="1800" i="1" dirty="0"/>
              <a:t>. </a:t>
            </a:r>
          </a:p>
          <a:p>
            <a:pPr marL="0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800" dirty="0"/>
              <a:t>DFS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stack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menyimpan</a:t>
            </a:r>
            <a:r>
              <a:rPr lang="en-US" sz="1800" dirty="0"/>
              <a:t> </a:t>
            </a:r>
            <a:r>
              <a:rPr lang="en-US" sz="1800" dirty="0" err="1"/>
              <a:t>simpul-simpul</a:t>
            </a:r>
            <a:r>
              <a:rPr lang="en-US" sz="1800" dirty="0"/>
              <a:t> </a:t>
            </a:r>
            <a:r>
              <a:rPr lang="en-US" sz="1800" dirty="0" err="1"/>
              <a:t>tetangga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yang </a:t>
            </a:r>
            <a:r>
              <a:rPr lang="en-US" sz="1800" dirty="0" err="1"/>
              <a:t>sedang</a:t>
            </a:r>
            <a:r>
              <a:rPr lang="en-US" sz="1800" dirty="0"/>
              <a:t> </a:t>
            </a:r>
            <a:r>
              <a:rPr lang="en-US" sz="1800" dirty="0" err="1"/>
              <a:t>diproses</a:t>
            </a:r>
            <a:r>
              <a:rPr lang="en-US" sz="1800" dirty="0"/>
              <a:t>.</a:t>
            </a:r>
            <a:endParaRPr lang="en-US" sz="1800" i="1" dirty="0"/>
          </a:p>
          <a:p>
            <a:pPr marL="0" indent="0">
              <a:lnSpc>
                <a:spcPct val="114000"/>
              </a:lnSpc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42984" y="388401"/>
            <a:ext cx="8172579" cy="641239"/>
          </a:xfrm>
        </p:spPr>
        <p:txBody>
          <a:bodyPr>
            <a:normAutofit fontScale="90000"/>
          </a:bodyPr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DFS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6" name="Content Placeholder 1"/>
          <p:cNvSpPr txBox="1">
            <a:spLocks/>
          </p:cNvSpPr>
          <p:nvPr/>
        </p:nvSpPr>
        <p:spPr bwMode="auto">
          <a:xfrm>
            <a:off x="5359784" y="4003628"/>
            <a:ext cx="4560612" cy="2508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lnSpc>
                <a:spcPct val="114000"/>
              </a:lnSpc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</a:pPr>
            <a:r>
              <a:rPr lang="en-US" sz="1800" dirty="0" err="1"/>
              <a:t>Contohnya</a:t>
            </a:r>
            <a:r>
              <a:rPr lang="en-US" sz="1800" dirty="0"/>
              <a:t>,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4 </a:t>
            </a:r>
            <a:r>
              <a:rPr lang="en-US" sz="1800" dirty="0" err="1"/>
              <a:t>sedang</a:t>
            </a:r>
            <a:r>
              <a:rPr lang="en-US" sz="1800" dirty="0"/>
              <a:t> </a:t>
            </a:r>
            <a:r>
              <a:rPr lang="en-US" sz="1800" dirty="0" err="1"/>
              <a:t>diproses</a:t>
            </a:r>
            <a:r>
              <a:rPr lang="en-US" sz="1800" dirty="0"/>
              <a:t>,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1, 2, 5, 10 </a:t>
            </a:r>
            <a:r>
              <a:rPr lang="en-US" sz="1800" dirty="0" err="1"/>
              <a:t>masuk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stack.</a:t>
            </a:r>
          </a:p>
          <a:p>
            <a:pPr marL="0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800" dirty="0"/>
              <a:t>DFS </a:t>
            </a:r>
            <a:r>
              <a:rPr lang="en-US" sz="1800" dirty="0" err="1"/>
              <a:t>selesai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status </a:t>
            </a:r>
            <a:r>
              <a:rPr lang="en-US" sz="1800" dirty="0" err="1"/>
              <a:t>semua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‘visited’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yang </a:t>
            </a:r>
            <a:r>
              <a:rPr lang="en-US" sz="1800" dirty="0" err="1"/>
              <a:t>dicari</a:t>
            </a:r>
            <a:r>
              <a:rPr lang="en-US" sz="1800" dirty="0"/>
              <a:t> </a:t>
            </a:r>
            <a:r>
              <a:rPr lang="en-US" sz="1800" dirty="0" err="1"/>
              <a:t>sudah</a:t>
            </a:r>
            <a:r>
              <a:rPr lang="en-US" sz="1800" dirty="0"/>
              <a:t> </a:t>
            </a:r>
            <a:r>
              <a:rPr lang="en-US" sz="1800" dirty="0" err="1"/>
              <a:t>ditemukan</a:t>
            </a:r>
            <a:r>
              <a:rPr lang="en-US" sz="1800"/>
              <a:t>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452" y="3880979"/>
            <a:ext cx="2879510" cy="25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1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89760" y="507372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DFS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422526" y="1977656"/>
            <a:ext cx="7569835" cy="36684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 u="sng" dirty="0"/>
              <a:t>Procedure</a:t>
            </a:r>
            <a:r>
              <a:rPr lang="en-US" sz="1800" dirty="0"/>
              <a:t> DFS (G : graph, v : vertex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Kamus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S : Stack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x, w : vertex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/>
              <a:t>Algoritma</a:t>
            </a:r>
            <a:r>
              <a:rPr lang="en-US" sz="18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push( S, v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u="sng" dirty="0"/>
              <a:t>while</a:t>
            </a:r>
            <a:r>
              <a:rPr lang="en-US" sz="1800" dirty="0"/>
              <a:t> ( not </a:t>
            </a:r>
            <a:r>
              <a:rPr lang="en-US" sz="1800" dirty="0" err="1"/>
              <a:t>isEmpty</a:t>
            </a:r>
            <a:r>
              <a:rPr lang="en-US" sz="1800" dirty="0"/>
              <a:t>( S ) ) </a:t>
            </a:r>
            <a:r>
              <a:rPr lang="en-US" sz="1800" u="sng" dirty="0"/>
              <a:t>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	x </a:t>
            </a:r>
            <a:r>
              <a:rPr lang="en-US" sz="1800" dirty="0">
                <a:sym typeface="Wingdings" panose="05000000000000000000" pitchFamily="2" charset="2"/>
              </a:rPr>
              <a:t> pop(S)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if( not </a:t>
            </a:r>
            <a:r>
              <a:rPr lang="en-US" sz="1800" dirty="0" err="1">
                <a:sym typeface="Wingdings" panose="05000000000000000000" pitchFamily="2" charset="2"/>
              </a:rPr>
              <a:t>isVisited</a:t>
            </a:r>
            <a:r>
              <a:rPr lang="en-US" sz="1800" dirty="0">
                <a:sym typeface="Wingdings" panose="05000000000000000000" pitchFamily="2" charset="2"/>
              </a:rPr>
              <a:t>( x ) ) </a:t>
            </a:r>
            <a:r>
              <a:rPr lang="en-US" sz="1800" u="sng" dirty="0">
                <a:sym typeface="Wingdings" panose="05000000000000000000" pitchFamily="2" charset="2"/>
              </a:rPr>
              <a:t>then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	visit( x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	</a:t>
            </a:r>
            <a:r>
              <a:rPr lang="en-US" sz="1800" u="sng" dirty="0">
                <a:sym typeface="Wingdings" panose="05000000000000000000" pitchFamily="2" charset="2"/>
              </a:rPr>
              <a:t>for</a:t>
            </a:r>
            <a:r>
              <a:rPr lang="en-US" sz="1800" dirty="0">
                <a:sym typeface="Wingdings" panose="05000000000000000000" pitchFamily="2" charset="2"/>
              </a:rPr>
              <a:t> all neighbors w of x 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ym typeface="Wingdings" panose="05000000000000000000" pitchFamily="2" charset="2"/>
              </a:rPr>
              <a:t>				</a:t>
            </a:r>
            <a:r>
              <a:rPr lang="en-US" sz="1800" u="sng" dirty="0">
                <a:sym typeface="Wingdings" panose="05000000000000000000" pitchFamily="2" charset="2"/>
              </a:rPr>
              <a:t>if</a:t>
            </a:r>
            <a:r>
              <a:rPr lang="en-US" sz="1800" dirty="0">
                <a:sym typeface="Wingdings" panose="05000000000000000000" pitchFamily="2" charset="2"/>
              </a:rPr>
              <a:t>( not </a:t>
            </a:r>
            <a:r>
              <a:rPr lang="en-US" sz="1800" dirty="0" err="1">
                <a:sym typeface="Wingdings" panose="05000000000000000000" pitchFamily="2" charset="2"/>
              </a:rPr>
              <a:t>isVisited</a:t>
            </a:r>
            <a:r>
              <a:rPr lang="en-US" sz="1800" dirty="0">
                <a:sym typeface="Wingdings" panose="05000000000000000000" pitchFamily="2" charset="2"/>
              </a:rPr>
              <a:t>( w ) </a:t>
            </a:r>
            <a:r>
              <a:rPr lang="en-US" sz="1800" u="sng">
                <a:sym typeface="Wingdings" panose="05000000000000000000" pitchFamily="2" charset="2"/>
              </a:rPr>
              <a:t>then</a:t>
            </a:r>
            <a:r>
              <a:rPr lang="en-US" sz="1800">
                <a:sym typeface="Wingdings" panose="05000000000000000000" pitchFamily="2" charset="2"/>
              </a:rPr>
              <a:t> </a:t>
            </a:r>
          </a:p>
          <a:p>
            <a:pPr marL="2149475" indent="0">
              <a:spcBef>
                <a:spcPts val="0"/>
              </a:spcBef>
              <a:buNone/>
            </a:pPr>
            <a:r>
              <a:rPr lang="en-US" sz="1800">
                <a:sym typeface="Wingdings" panose="05000000000000000000" pitchFamily="2" charset="2"/>
              </a:rPr>
              <a:t>push</a:t>
            </a:r>
            <a:r>
              <a:rPr lang="en-US" sz="1800" dirty="0">
                <a:sym typeface="Wingdings" panose="05000000000000000000" pitchFamily="2" charset="2"/>
              </a:rPr>
              <a:t>( S, w )</a:t>
            </a: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301839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2042983" y="1383958"/>
            <a:ext cx="8216236" cy="1729946"/>
          </a:xfrm>
        </p:spPr>
        <p:txBody>
          <a:bodyPr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/>
              <a:t>Di </a:t>
            </a:r>
            <a:r>
              <a:rPr lang="en-US" sz="1800" dirty="0" err="1"/>
              <a:t>bawah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ilustrasi</a:t>
            </a:r>
            <a:r>
              <a:rPr lang="en-US" sz="1800" dirty="0"/>
              <a:t> </a:t>
            </a:r>
            <a:r>
              <a:rPr lang="en-US" sz="1800" dirty="0" err="1"/>
              <a:t>penelusuran</a:t>
            </a:r>
            <a:r>
              <a:rPr lang="en-US" sz="1800" dirty="0"/>
              <a:t> </a:t>
            </a:r>
            <a:r>
              <a:rPr lang="en-US" sz="1800" dirty="0" err="1"/>
              <a:t>graf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DFS. </a:t>
            </a:r>
            <a:r>
              <a:rPr lang="en-US" sz="1800" dirty="0" err="1"/>
              <a:t>Penelusuran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DFS </a:t>
            </a:r>
            <a:r>
              <a:rPr lang="en-US" sz="1800" dirty="0" err="1"/>
              <a:t>dimulai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4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berakhir</a:t>
            </a:r>
            <a:r>
              <a:rPr lang="en-US" sz="1800" dirty="0"/>
              <a:t> di </a:t>
            </a:r>
            <a:r>
              <a:rPr lang="en-US" sz="1800" dirty="0" err="1"/>
              <a:t>simpul</a:t>
            </a:r>
            <a:r>
              <a:rPr lang="en-US" sz="1800" dirty="0"/>
              <a:t> 10.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42984" y="449527"/>
            <a:ext cx="8172579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Melintasi</a:t>
            </a:r>
            <a:r>
              <a:rPr lang="en-US" dirty="0"/>
              <a:t> Graf </a:t>
            </a:r>
            <a:r>
              <a:rPr lang="en-US" dirty="0" err="1"/>
              <a:t>dengan</a:t>
            </a:r>
            <a:r>
              <a:rPr lang="en-US" dirty="0"/>
              <a:t> DFS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Content Placeholder 1"/>
          <p:cNvSpPr txBox="1">
            <a:spLocks/>
          </p:cNvSpPr>
          <p:nvPr/>
        </p:nvSpPr>
        <p:spPr bwMode="auto">
          <a:xfrm>
            <a:off x="5862773" y="2790394"/>
            <a:ext cx="4224460" cy="172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6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lnSpc>
                <a:spcPct val="114000"/>
              </a:lnSpc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800" dirty="0" err="1">
                <a:solidFill>
                  <a:srgbClr val="FF0000"/>
                </a:solidFill>
              </a:rPr>
              <a:t>Panah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berwarna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merah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adalah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i="1" dirty="0">
                <a:solidFill>
                  <a:srgbClr val="FF0000"/>
                </a:solidFill>
              </a:rPr>
              <a:t>backtracking.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982" y="2641597"/>
            <a:ext cx="3204663" cy="354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47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2042983" y="1383958"/>
            <a:ext cx="8216236" cy="1729946"/>
          </a:xfrm>
        </p:spPr>
        <p:txBody>
          <a:bodyPr/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dirty="0"/>
              <a:t>Di </a:t>
            </a:r>
            <a:r>
              <a:rPr lang="en-US" sz="1800" dirty="0" err="1"/>
              <a:t>bawah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ilustrasi</a:t>
            </a:r>
            <a:r>
              <a:rPr lang="en-US" sz="1800" dirty="0"/>
              <a:t> </a:t>
            </a:r>
            <a:r>
              <a:rPr lang="en-US" sz="1800" dirty="0" err="1"/>
              <a:t>pencarian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F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simpul</a:t>
            </a:r>
            <a:r>
              <a:rPr lang="en-US" sz="1800" dirty="0"/>
              <a:t> </a:t>
            </a:r>
            <a:r>
              <a:rPr lang="en-US" sz="1800" dirty="0" err="1"/>
              <a:t>awal</a:t>
            </a:r>
            <a:r>
              <a:rPr lang="en-US" sz="1800" dirty="0"/>
              <a:t> D.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42984" y="449527"/>
            <a:ext cx="8172579" cy="64123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Pencarian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DFS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27190" y="4910383"/>
            <a:ext cx="7414053" cy="390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dirty="0" err="1"/>
              <a:t>Simpul</a:t>
            </a:r>
            <a:r>
              <a:rPr lang="en-US" dirty="0"/>
              <a:t> yang </a:t>
            </a:r>
            <a:r>
              <a:rPr lang="en-US" dirty="0" err="1"/>
              <a:t>dikunjungi</a:t>
            </a:r>
            <a:r>
              <a:rPr lang="en-US" dirty="0"/>
              <a:t>: D B E H G C F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963" y="2076450"/>
            <a:ext cx="36480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58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/>
          <p:cNvSpPr txBox="1">
            <a:spLocks/>
          </p:cNvSpPr>
          <p:nvPr/>
        </p:nvSpPr>
        <p:spPr bwMode="auto">
          <a:xfrm>
            <a:off x="5310188" y="2288933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en-US" sz="6000" b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TERIMA KASIH</a:t>
            </a:r>
            <a:endParaRPr lang="en-US" sz="4000" b="0" dirty="0">
              <a:ln w="0"/>
              <a:effectLst>
                <a:reflection blurRad="6350" stA="53000" endA="300" endPos="35500" dir="5400000" sy="-90000" algn="bl" rotWithShape="0"/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9257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CDF8CB628B97449CBF1C9C2DF0522A" ma:contentTypeVersion="12" ma:contentTypeDescription="Create a new document." ma:contentTypeScope="" ma:versionID="44eec28978b503e2efcb9212db538b87">
  <xsd:schema xmlns:xsd="http://www.w3.org/2001/XMLSchema" xmlns:xs="http://www.w3.org/2001/XMLSchema" xmlns:p="http://schemas.microsoft.com/office/2006/metadata/properties" xmlns:ns2="f710a105-9328-4c52-b86a-700c7d87a9d8" xmlns:ns3="da944019-e0c0-4cbe-b9e1-79848028e4af" targetNamespace="http://schemas.microsoft.com/office/2006/metadata/properties" ma:root="true" ma:fieldsID="50f9520c83d250bbff81f5ae34a02831" ns2:_="" ns3:_="">
    <xsd:import namespace="f710a105-9328-4c52-b86a-700c7d87a9d8"/>
    <xsd:import namespace="da944019-e0c0-4cbe-b9e1-79848028e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0a105-9328-4c52-b86a-700c7d87a9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36bd76-decb-4dd1-ad12-0d0eb5e8b8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44019-e0c0-4cbe-b9e1-79848028e4a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28c0b8-7eb1-4269-9651-4b2cb19e42d2}" ma:internalName="TaxCatchAll" ma:showField="CatchAllData" ma:web="da944019-e0c0-4cbe-b9e1-79848028e4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44019-e0c0-4cbe-b9e1-79848028e4af" xsi:nil="true"/>
    <lcf76f155ced4ddcb4097134ff3c332f xmlns="f710a105-9328-4c52-b86a-700c7d87a9d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848A998-2A1E-4E80-9430-AA9495A8F4D4}"/>
</file>

<file path=customXml/itemProps2.xml><?xml version="1.0" encoding="utf-8"?>
<ds:datastoreItem xmlns:ds="http://schemas.openxmlformats.org/officeDocument/2006/customXml" ds:itemID="{AFAB9691-2FCB-4AB9-8002-EF01F0B5D39E}"/>
</file>

<file path=customXml/itemProps3.xml><?xml version="1.0" encoding="utf-8"?>
<ds:datastoreItem xmlns:ds="http://schemas.openxmlformats.org/officeDocument/2006/customXml" ds:itemID="{96DDD4B8-A06B-441B-AB1C-0D75BAD8C0AA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985</Words>
  <Application>Microsoft Office PowerPoint</Application>
  <PresentationFormat>Layar Lebar</PresentationFormat>
  <Paragraphs>134</Paragraphs>
  <Slides>17</Slides>
  <Notes>2</Notes>
  <HiddenSlides>0</HiddenSlides>
  <MMClips>0</MMClips>
  <ScaleCrop>false</ScaleCrop>
  <HeadingPairs>
    <vt:vector size="8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Tertanam</vt:lpstr>
      </vt:variant>
      <vt:variant>
        <vt:i4>1</vt:i4>
      </vt:variant>
      <vt:variant>
        <vt:lpstr>Judul Slide</vt:lpstr>
      </vt:variant>
      <vt:variant>
        <vt:i4>17</vt:i4>
      </vt:variant>
    </vt:vector>
  </HeadingPairs>
  <TitlesOfParts>
    <vt:vector size="27" baseType="lpstr">
      <vt:lpstr>Aharoni</vt:lpstr>
      <vt:lpstr>Arial</vt:lpstr>
      <vt:lpstr>Berlin Sans FB Demi</vt:lpstr>
      <vt:lpstr>Calibri</vt:lpstr>
      <vt:lpstr>Calibri Light</vt:lpstr>
      <vt:lpstr>Sitka Heading</vt:lpstr>
      <vt:lpstr>Verdana</vt:lpstr>
      <vt:lpstr>Wingdings</vt:lpstr>
      <vt:lpstr>Tema Office</vt:lpstr>
      <vt:lpstr>Bitmap Image</vt:lpstr>
      <vt:lpstr>STRUKTUR DATA</vt:lpstr>
      <vt:lpstr>Topological Sort</vt:lpstr>
      <vt:lpstr>Eksekusi Topological Sort (1)</vt:lpstr>
      <vt:lpstr>Eksekusi Topological Sort (2)</vt:lpstr>
      <vt:lpstr>STRUKTUR DATA</vt:lpstr>
      <vt:lpstr>Pengantar BFS</vt:lpstr>
      <vt:lpstr>Cara Kerja BFS</vt:lpstr>
      <vt:lpstr>Algoritma BFS</vt:lpstr>
      <vt:lpstr>Melintasi Graf dengan BFS</vt:lpstr>
      <vt:lpstr>Pencarian dengan Algoritma BFS</vt:lpstr>
      <vt:lpstr>STRUKTUR DATA</vt:lpstr>
      <vt:lpstr>Pengantar DFS</vt:lpstr>
      <vt:lpstr>Cara Kerja DFS</vt:lpstr>
      <vt:lpstr>Algoritma DFS</vt:lpstr>
      <vt:lpstr>Melintasi Graf dengan DFS</vt:lpstr>
      <vt:lpstr>Pencarian dengan Algoritma DFS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STRUKTUR DATA</dc:title>
  <dc:creator>HANI</dc:creator>
  <cp:lastModifiedBy>HANI</cp:lastModifiedBy>
  <cp:revision>1</cp:revision>
  <dcterms:created xsi:type="dcterms:W3CDTF">2021-12-05T09:34:23Z</dcterms:created>
  <dcterms:modified xsi:type="dcterms:W3CDTF">2021-12-05T09:48:45Z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0x010100C1CDF8CB628B97449CBF1C9C2DF0522A</vt:lpwstr>
  </property>
</Properties>
</file>